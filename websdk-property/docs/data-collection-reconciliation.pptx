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00" r:id="rId4"/>
    <p:sldId id="301" r:id="rId5"/>
    <p:sldId id="293" r:id="rId31"/>
    <p:sldId id="260" r:id="rId8"/>
    <p:sldId id="295" r:id="rId32"/>
    <p:sldId id="296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72280-2287-44CF-BC4A-1BC94D499960}" v="4" dt="2026-07-28T17:19:31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5706" autoAdjust="0"/>
  </p:normalViewPr>
  <p:slideViewPr>
    <p:cSldViewPr snapToGrid="0" snapToObjects="1">
      <p:cViewPr varScale="1">
        <p:scale>
          <a:sx n="49" d="100"/>
          <a:sy n="49" d="100"/>
        </p:scale>
        <p:origin x="96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8" Type="http://schemas.openxmlformats.org/officeDocument/2006/relationships/slide" Target="slides/slide5.xml"/><Relationship Id="rId31" Type="http://schemas.openxmlformats.org/officeDocument/2006/relationships/slide" Target="slides/slide4.xml"/><Relationship Id="rId32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Tavares" userId="64fa4b0e-5e10-4d25-bb9b-ad35997687ce" providerId="ADAL" clId="{3007A28F-8D06-469F-987C-A5228DD578DA}"/>
    <pc:docChg chg="undo custSel modSld">
      <pc:chgData name="Scott Tavares" userId="64fa4b0e-5e10-4d25-bb9b-ad35997687ce" providerId="ADAL" clId="{3007A28F-8D06-469F-987C-A5228DD578DA}" dt="2026-07-28T17:19:55.364" v="322" actId="20577"/>
      <pc:docMkLst>
        <pc:docMk/>
      </pc:docMkLst>
      <pc:sldChg chg="modNotesTx">
        <pc:chgData name="Scott Tavares" userId="64fa4b0e-5e10-4d25-bb9b-ad35997687ce" providerId="ADAL" clId="{3007A28F-8D06-469F-987C-A5228DD578DA}" dt="2026-07-28T17:19:55.364" v="322" actId="20577"/>
        <pc:sldMkLst>
          <pc:docMk/>
          <pc:sldMk cId="0" sldId="257"/>
        </pc:sldMkLst>
      </pc:sldChg>
      <pc:sldChg chg="modSp mod">
        <pc:chgData name="Scott Tavares" userId="64fa4b0e-5e10-4d25-bb9b-ad35997687ce" providerId="ADAL" clId="{3007A28F-8D06-469F-987C-A5228DD578DA}" dt="2026-07-20T18:56:21.484" v="71" actId="20577"/>
        <pc:sldMkLst>
          <pc:docMk/>
          <pc:sldMk cId="0" sldId="258"/>
        </pc:sldMkLst>
        <pc:spChg chg="mod">
          <ac:chgData name="Scott Tavares" userId="64fa4b0e-5e10-4d25-bb9b-ad35997687ce" providerId="ADAL" clId="{3007A28F-8D06-469F-987C-A5228DD578DA}" dt="2026-07-20T18:56:21.484" v="71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38:30.694" v="0" actId="20577"/>
        <pc:sldMkLst>
          <pc:docMk/>
          <pc:sldMk cId="0" sldId="263"/>
        </pc:sldMkLst>
      </pc:sldChg>
      <pc:sldChg chg="modSp mod modNotesTx">
        <pc:chgData name="Scott Tavares" userId="64fa4b0e-5e10-4d25-bb9b-ad35997687ce" providerId="ADAL" clId="{3007A28F-8D06-469F-987C-A5228DD578DA}" dt="2026-07-20T18:58:11.603" v="96" actId="20577"/>
        <pc:sldMkLst>
          <pc:docMk/>
          <pc:sldMk cId="0" sldId="264"/>
        </pc:sldMkLst>
        <pc:spChg chg="mod">
          <ac:chgData name="Scott Tavares" userId="64fa4b0e-5e10-4d25-bb9b-ad35997687ce" providerId="ADAL" clId="{3007A28F-8D06-469F-987C-A5228DD578DA}" dt="2026-07-20T18:58:11.603" v="96" actId="20577"/>
          <ac:spMkLst>
            <pc:docMk/>
            <pc:sldMk cId="0" sldId="264"/>
            <ac:spMk id="14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38:35.353" v="2" actId="20577"/>
        <pc:sldMkLst>
          <pc:docMk/>
          <pc:sldMk cId="0" sldId="265"/>
        </pc:sldMkLst>
      </pc:sldChg>
      <pc:sldChg chg="modSp mod modNotesTx">
        <pc:chgData name="Scott Tavares" userId="64fa4b0e-5e10-4d25-bb9b-ad35997687ce" providerId="ADAL" clId="{3007A28F-8D06-469F-987C-A5228DD578DA}" dt="2026-07-20T19:03:32.216" v="109" actId="20577"/>
        <pc:sldMkLst>
          <pc:docMk/>
          <pc:sldMk cId="0" sldId="266"/>
        </pc:sldMkLst>
        <pc:spChg chg="mod">
          <ac:chgData name="Scott Tavares" userId="64fa4b0e-5e10-4d25-bb9b-ad35997687ce" providerId="ADAL" clId="{3007A28F-8D06-469F-987C-A5228DD578DA}" dt="2026-07-20T19:03:32.216" v="109" actId="20577"/>
          <ac:spMkLst>
            <pc:docMk/>
            <pc:sldMk cId="0" sldId="266"/>
            <ac:spMk id="35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2:58.892" v="106" actId="20577"/>
          <ac:spMkLst>
            <pc:docMk/>
            <pc:sldMk cId="0" sldId="266"/>
            <ac:spMk id="38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38:41.572" v="4" actId="20577"/>
        <pc:sldMkLst>
          <pc:docMk/>
          <pc:sldMk cId="0" sldId="267"/>
        </pc:sldMkLst>
      </pc:sldChg>
      <pc:sldChg chg="modSp mod modNotesTx">
        <pc:chgData name="Scott Tavares" userId="64fa4b0e-5e10-4d25-bb9b-ad35997687ce" providerId="ADAL" clId="{3007A28F-8D06-469F-987C-A5228DD578DA}" dt="2026-07-20T19:04:31.670" v="111" actId="14100"/>
        <pc:sldMkLst>
          <pc:docMk/>
          <pc:sldMk cId="0" sldId="268"/>
        </pc:sldMkLst>
        <pc:spChg chg="mod">
          <ac:chgData name="Scott Tavares" userId="64fa4b0e-5e10-4d25-bb9b-ad35997687ce" providerId="ADAL" clId="{3007A28F-8D06-469F-987C-A5228DD578DA}" dt="2026-07-20T19:04:31.670" v="111" actId="14100"/>
          <ac:spMkLst>
            <pc:docMk/>
            <pc:sldMk cId="0" sldId="268"/>
            <ac:spMk id="29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05:02.972" v="114" actId="20577"/>
        <pc:sldMkLst>
          <pc:docMk/>
          <pc:sldMk cId="0" sldId="269"/>
        </pc:sldMkLst>
        <pc:spChg chg="mod">
          <ac:chgData name="Scott Tavares" userId="64fa4b0e-5e10-4d25-bb9b-ad35997687ce" providerId="ADAL" clId="{3007A28F-8D06-469F-987C-A5228DD578DA}" dt="2026-07-20T19:05:02.972" v="114" actId="20577"/>
          <ac:spMkLst>
            <pc:docMk/>
            <pc:sldMk cId="0" sldId="269"/>
            <ac:spMk id="10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05:40.342" v="131" actId="20577"/>
        <pc:sldMkLst>
          <pc:docMk/>
          <pc:sldMk cId="0" sldId="270"/>
        </pc:sldMkLst>
        <pc:spChg chg="mod">
          <ac:chgData name="Scott Tavares" userId="64fa4b0e-5e10-4d25-bb9b-ad35997687ce" providerId="ADAL" clId="{3007A28F-8D06-469F-987C-A5228DD578DA}" dt="2026-07-20T19:05:40.342" v="131" actId="20577"/>
          <ac:spMkLst>
            <pc:docMk/>
            <pc:sldMk cId="0" sldId="270"/>
            <ac:spMk id="21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06:30.400" v="157" actId="20577"/>
        <pc:sldMkLst>
          <pc:docMk/>
          <pc:sldMk cId="0" sldId="271"/>
        </pc:sldMkLst>
        <pc:spChg chg="mod">
          <ac:chgData name="Scott Tavares" userId="64fa4b0e-5e10-4d25-bb9b-ad35997687ce" providerId="ADAL" clId="{3007A28F-8D06-469F-987C-A5228DD578DA}" dt="2026-07-20T19:06:30.400" v="157" actId="20577"/>
          <ac:spMkLst>
            <pc:docMk/>
            <pc:sldMk cId="0" sldId="271"/>
            <ac:spMk id="26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40:58.869" v="10" actId="20577"/>
        <pc:sldMkLst>
          <pc:docMk/>
          <pc:sldMk cId="0" sldId="272"/>
        </pc:sldMkLst>
      </pc:sldChg>
      <pc:sldChg chg="modNotesTx">
        <pc:chgData name="Scott Tavares" userId="64fa4b0e-5e10-4d25-bb9b-ad35997687ce" providerId="ADAL" clId="{3007A28F-8D06-469F-987C-A5228DD578DA}" dt="2026-07-20T18:42:14.634" v="17" actId="20577"/>
        <pc:sldMkLst>
          <pc:docMk/>
          <pc:sldMk cId="0" sldId="274"/>
        </pc:sldMkLst>
      </pc:sldChg>
      <pc:sldChg chg="modSp mod modNotesTx">
        <pc:chgData name="Scott Tavares" userId="64fa4b0e-5e10-4d25-bb9b-ad35997687ce" providerId="ADAL" clId="{3007A28F-8D06-469F-987C-A5228DD578DA}" dt="2026-07-20T19:08:06.641" v="207" actId="1035"/>
        <pc:sldMkLst>
          <pc:docMk/>
          <pc:sldMk cId="0" sldId="275"/>
        </pc:sldMkLst>
        <pc:spChg chg="mod">
          <ac:chgData name="Scott Tavares" userId="64fa4b0e-5e10-4d25-bb9b-ad35997687ce" providerId="ADAL" clId="{3007A28F-8D06-469F-987C-A5228DD578DA}" dt="2026-07-20T19:07:12.566" v="159" actId="14100"/>
          <ac:spMkLst>
            <pc:docMk/>
            <pc:sldMk cId="0" sldId="275"/>
            <ac:spMk id="17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7:56.689" v="187" actId="20577"/>
          <ac:spMkLst>
            <pc:docMk/>
            <pc:sldMk cId="0" sldId="275"/>
            <ac:spMk id="19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8:06.641" v="207" actId="1035"/>
          <ac:spMkLst>
            <pc:docMk/>
            <pc:sldMk cId="0" sldId="275"/>
            <ac:spMk id="20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45:14.874" v="50" actId="20577"/>
        <pc:sldMkLst>
          <pc:docMk/>
          <pc:sldMk cId="0" sldId="277"/>
        </pc:sldMkLst>
      </pc:sldChg>
      <pc:sldChg chg="modNotesTx">
        <pc:chgData name="Scott Tavares" userId="64fa4b0e-5e10-4d25-bb9b-ad35997687ce" providerId="ADAL" clId="{3007A28F-8D06-469F-987C-A5228DD578DA}" dt="2026-07-20T18:45:22.367" v="51" actId="20577"/>
        <pc:sldMkLst>
          <pc:docMk/>
          <pc:sldMk cId="0" sldId="280"/>
        </pc:sldMkLst>
      </pc:sldChg>
      <pc:sldChg chg="modNotesTx">
        <pc:chgData name="Scott Tavares" userId="64fa4b0e-5e10-4d25-bb9b-ad35997687ce" providerId="ADAL" clId="{3007A28F-8D06-469F-987C-A5228DD578DA}" dt="2026-07-20T18:45:51.767" v="52" actId="20577"/>
        <pc:sldMkLst>
          <pc:docMk/>
          <pc:sldMk cId="0" sldId="281"/>
        </pc:sldMkLst>
      </pc:sldChg>
      <pc:sldChg chg="modNotesTx">
        <pc:chgData name="Scott Tavares" userId="64fa4b0e-5e10-4d25-bb9b-ad35997687ce" providerId="ADAL" clId="{3007A28F-8D06-469F-987C-A5228DD578DA}" dt="2026-07-20T18:48:54.229" v="62" actId="20577"/>
        <pc:sldMkLst>
          <pc:docMk/>
          <pc:sldMk cId="0" sldId="287"/>
        </pc:sldMkLst>
      </pc:sldChg>
      <pc:sldChg chg="addSp modSp mod modNotesTx">
        <pc:chgData name="Scott Tavares" userId="64fa4b0e-5e10-4d25-bb9b-ad35997687ce" providerId="ADAL" clId="{3007A28F-8D06-469F-987C-A5228DD578DA}" dt="2026-07-20T19:09:56.185" v="248" actId="164"/>
        <pc:sldMkLst>
          <pc:docMk/>
          <pc:sldMk cId="0" sldId="288"/>
        </pc:sldMkLst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5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6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8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9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0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1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2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4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5" creationId="{00000000-0000-0000-0000-000000000000}"/>
          </ac:spMkLst>
        </pc:spChg>
        <pc:spChg chg="mod">
          <ac:chgData name="Scott Tavares" userId="64fa4b0e-5e10-4d25-bb9b-ad35997687ce" providerId="ADAL" clId="{3007A28F-8D06-469F-987C-A5228DD578DA}" dt="2026-07-20T19:09:56.185" v="248" actId="164"/>
          <ac:spMkLst>
            <pc:docMk/>
            <pc:sldMk cId="0" sldId="288"/>
            <ac:spMk id="16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10:44.453" v="255" actId="20577"/>
        <pc:sldMkLst>
          <pc:docMk/>
          <pc:sldMk cId="0" sldId="290"/>
        </pc:sldMkLst>
        <pc:spChg chg="mod">
          <ac:chgData name="Scott Tavares" userId="64fa4b0e-5e10-4d25-bb9b-ad35997687ce" providerId="ADAL" clId="{3007A28F-8D06-469F-987C-A5228DD578DA}" dt="2026-07-20T19:10:44.453" v="255" actId="20577"/>
          <ac:spMkLst>
            <pc:docMk/>
            <pc:sldMk cId="0" sldId="290"/>
            <ac:spMk id="402" creationId="{00000000-0000-0000-0000-000000000000}"/>
          </ac:spMkLst>
        </pc:spChg>
      </pc:sldChg>
      <pc:sldChg chg="modSp mod modNotesTx">
        <pc:chgData name="Scott Tavares" userId="64fa4b0e-5e10-4d25-bb9b-ad35997687ce" providerId="ADAL" clId="{3007A28F-8D06-469F-987C-A5228DD578DA}" dt="2026-07-20T19:11:19.142" v="265" actId="1035"/>
        <pc:sldMkLst>
          <pc:docMk/>
          <pc:sldMk cId="0" sldId="292"/>
        </pc:sldMkLst>
        <pc:spChg chg="mod">
          <ac:chgData name="Scott Tavares" userId="64fa4b0e-5e10-4d25-bb9b-ad35997687ce" providerId="ADAL" clId="{3007A28F-8D06-469F-987C-A5228DD578DA}" dt="2026-07-20T19:11:19.142" v="265" actId="1035"/>
          <ac:spMkLst>
            <pc:docMk/>
            <pc:sldMk cId="0" sldId="292"/>
            <ac:spMk id="10" creationId="{00000000-0000-0000-0000-000000000000}"/>
          </ac:spMkLst>
        </pc:spChg>
      </pc:sldChg>
      <pc:sldChg chg="modNotesTx">
        <pc:chgData name="Scott Tavares" userId="64fa4b0e-5e10-4d25-bb9b-ad35997687ce" providerId="ADAL" clId="{3007A28F-8D06-469F-987C-A5228DD578DA}" dt="2026-07-20T18:51:25.583" v="69" actId="20577"/>
        <pc:sldMkLst>
          <pc:docMk/>
          <pc:sldMk cId="0" sldId="29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48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Title. The reconciliation deck — the sequel to the A4T configuration audit for AboutAmazon-US. The audit found the problems; the reconciliation decides what to do about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 both ways. Slalom: reusable IP, quality floor, consistency, sharper story. Client: clarity, proven parity, risk surfaced, an actionable path. Proof: the AboutAmazon-US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analytical heart. Six fixed statuses in two families — collecting/wired (property side) vs. defined-not-populated (report-suite side). Non-green rows are decisions, not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41732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DATA COLLECTION  ·  SLALOM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40080" y="283464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Data Collection Reconciliation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4008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E0F5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What's collecting, what's not wired, and what to decide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40080" y="42976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sequel to the A4T configuration audit — every report-suite variable reconciled against what the property actually populates.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93B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Prepared by Scott Tavares  •  Slalom Client Delivery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0"/>
            <a:ext cx="137160" cy="1371600"/>
          </a:xfrm>
          <a:prstGeom prst="rect">
            <a:avLst/>
          </a:prstGeom>
          <a:solidFill>
            <a:srgbClr val="DEFF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0" y="1371600"/>
            <a:ext cx="137160" cy="137160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0" y="4114800"/>
            <a:ext cx="137160" cy="137160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0" y="5486400"/>
            <a:ext cx="137160" cy="137160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WHY WE RECONCILE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Gap the Audit Leaves Open</a:t>
            </a:r>
            <a:endParaRPr lang="en-US" sz="2500" dirty="0"/>
          </a:p>
        </p:txBody>
      </p:sp>
      <p:sp>
        <p:nvSpPr>
          <p:cNvPr id="100" name="Card"/>
          <p:cNvSpPr/>
          <p:nvPr/>
        </p:nvSpPr>
        <p:spPr>
          <a:xfrm>
            <a:off x="548640" y="1200000"/>
            <a:ext cx="11064240" cy="15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Caption"/>
          <p:cNvSpPr/>
          <p:nvPr/>
        </p:nvSpPr>
        <p:spPr>
          <a:xfrm>
            <a:off x="777240" y="138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FF4D5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QUESTION AN AUDIT DOESN'T CLOSE</a:t>
            </a:r>
            <a:endParaRPr lang="en-US" sz="1200" dirty="0"/>
          </a:p>
        </p:txBody>
      </p:sp>
      <p:sp>
        <p:nvSpPr>
          <p:cNvPr id="102" name="Body"/>
          <p:cNvSpPr/>
          <p:nvPr/>
        </p:nvSpPr>
        <p:spPr>
          <a:xfrm>
            <a:off x="777240" y="1702920"/>
            <a:ext cx="10607040" cy="9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audit tells you what's configured and what's wrong with it. It stops at the question the client actually asks: of everything the report suite is set up to collect, what is truly collecting — and what do we do about the rest?</a:t>
            </a:r>
            <a:endParaRPr lang="en-US" sz="1150" dirty="0"/>
          </a:p>
        </p:txBody>
      </p:sp>
      <p:sp>
        <p:nvSpPr>
          <p:cNvPr id="110" name="Card"/>
          <p:cNvSpPr/>
          <p:nvPr/>
        </p:nvSpPr>
        <p:spPr>
          <a:xfrm>
            <a:off x="548640" y="2850000"/>
            <a:ext cx="11064240" cy="15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Caption"/>
          <p:cNvSpPr/>
          <p:nvPr/>
        </p:nvSpPr>
        <p:spPr>
          <a:xfrm>
            <a:off x="777240" y="303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C62F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WHY IT MATTERS — DEFINED ≠ POPULATED</a:t>
            </a:r>
            <a:endParaRPr lang="en-US" sz="1200" dirty="0"/>
          </a:p>
        </p:txBody>
      </p:sp>
      <p:sp>
        <p:nvSpPr>
          <p:cNvPr id="112" name="Body"/>
          <p:cNvSpPr/>
          <p:nvPr/>
        </p:nvSpPr>
        <p:spPr>
          <a:xfrm>
            <a:off x="777240" y="3352920"/>
            <a:ext cx="10607040" cy="9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report suite is almost always a superset of what any one property sends — variables get provisioned for planned features, other sources, or future use. Unreconciled, 'defined' reads as 'collected,' and empty variables masquerade as real data.</a:t>
            </a:r>
            <a:endParaRPr lang="en-US" sz="1150" dirty="0"/>
          </a:p>
        </p:txBody>
      </p:sp>
      <p:sp>
        <p:nvSpPr>
          <p:cNvPr id="120" name="Card"/>
          <p:cNvSpPr/>
          <p:nvPr/>
        </p:nvSpPr>
        <p:spPr>
          <a:xfrm>
            <a:off x="548640" y="4500000"/>
            <a:ext cx="11064240" cy="18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Caption"/>
          <p:cNvSpPr/>
          <p:nvPr/>
        </p:nvSpPr>
        <p:spPr>
          <a:xfrm>
            <a:off x="777240" y="468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WHAT THE RECONCILIATION DELIVERS</a:t>
            </a:r>
            <a:endParaRPr lang="en-US" sz="1200" dirty="0"/>
          </a:p>
        </p:txBody>
      </p:sp>
      <p:sp>
        <p:nvSpPr>
          <p:cNvPr id="122" name="Body"/>
          <p:cNvSpPr/>
          <p:nvPr/>
        </p:nvSpPr>
        <p:spPr>
          <a:xfrm>
            <a:off x="777240" y="5002920"/>
            <a:ext cx="10607040" cy="12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Every report-suite variable mapped to the data element and rule that feeds it, each classified into one honest status, the data issues surfaced, and the client decisions teed up — as a status-coded workbook and a ready-to-send decisions email.</a:t>
            </a:r>
            <a:endParaRPr lang="en-US" sz="1150" dirty="0"/>
          </a:p>
        </p:txBody>
      </p:sp>
      <p:sp>
        <p:nvSpPr>
          <p:cNvPr id="200" name="Shape Bar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Bar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Bar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Bar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Bar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 Copyrigh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© Slalom. All Rights Reserved. Proprietary and Confidential.</a:t>
            </a:r>
          </a:p>
        </p:txBody>
      </p:sp>
      <p:sp>
        <p:nvSpPr>
          <p:cNvPr id="206" name="Text PageNum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TWO SKILLS, ONE WORKFLOW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How the Reconciliation Completes the Audit</a:t>
            </a:r>
            <a:endParaRPr lang="en-US" sz="2500" dirty="0"/>
          </a:p>
        </p:txBody>
      </p:sp>
      <p:sp>
        <p:nvSpPr>
          <p:cNvPr id="100" name="Card"/>
          <p:cNvSpPr/>
          <p:nvPr/>
        </p:nvSpPr>
        <p:spPr>
          <a:xfrm>
            <a:off x="548640" y="1200000"/>
            <a:ext cx="11064240" cy="17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Caption"/>
          <p:cNvSpPr/>
          <p:nvPr/>
        </p:nvSpPr>
        <p:spPr>
          <a:xfrm>
            <a:off x="777240" y="138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C62F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SKILL 1 — adobe-tags-audit-builder</a:t>
            </a:r>
            <a:endParaRPr lang="en-US" sz="1200" dirty="0"/>
          </a:p>
        </p:txBody>
      </p:sp>
      <p:sp>
        <p:nvSpPr>
          <p:cNvPr id="102" name="Body"/>
          <p:cNvSpPr/>
          <p:nvPr/>
        </p:nvSpPr>
        <p:spPr>
          <a:xfrm>
            <a:off x="777240" y="1702920"/>
            <a:ext cx="10607040" cy="10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0">
              <a:lnSpc>
                <a:spcPct val="112000"/>
              </a:lnSpc>
              <a:spcBef>
                <a:spcPts val="550"/>
              </a:spcBef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Audits the property's configuration — extensions, rules, data elements — and flags issues like double-counting, dormant tools, consent gaps and PII. It produces the audit workbook and a findings deck: what's configured, and what's wrong with it.</a:t>
            </a:r>
          </a:p>
        </p:txBody>
      </p:sp>
      <p:sp>
        <p:nvSpPr>
          <p:cNvPr id="110" name="Card"/>
          <p:cNvSpPr/>
          <p:nvPr/>
        </p:nvSpPr>
        <p:spPr>
          <a:xfrm>
            <a:off x="548640" y="3050000"/>
            <a:ext cx="11064240" cy="16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Caption"/>
          <p:cNvSpPr/>
          <p:nvPr/>
        </p:nvSpPr>
        <p:spPr>
          <a:xfrm>
            <a:off x="777240" y="323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FF4D5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HANDOFF — TWO INPUTS MEET</a:t>
            </a:r>
            <a:endParaRPr lang="en-US" sz="1200" dirty="0"/>
          </a:p>
        </p:txBody>
      </p:sp>
      <p:sp>
        <p:nvSpPr>
          <p:cNvPr id="112" name="Body"/>
          <p:cNvSpPr/>
          <p:nvPr/>
        </p:nvSpPr>
        <p:spPr>
          <a:xfrm>
            <a:off x="777240" y="3552920"/>
            <a:ext cx="10607040" cy="10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0">
              <a:lnSpc>
                <a:spcPct val="112000"/>
              </a:lnSpc>
              <a:spcBef>
                <a:spcPts val="550"/>
              </a:spcBef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audit workbook (the property's data elements and rule actions) plus the client's Report Suite Manager map — every eVar, prop, event and list the suite defines. One side is what's populated; the other is what's defined.</a:t>
            </a:r>
          </a:p>
        </p:txBody>
      </p:sp>
      <p:sp>
        <p:nvSpPr>
          <p:cNvPr id="120" name="Card"/>
          <p:cNvSpPr/>
          <p:nvPr/>
        </p:nvSpPr>
        <p:spPr>
          <a:xfrm>
            <a:off x="548640" y="4800000"/>
            <a:ext cx="11064240" cy="1550000"/>
          </a:xfrm>
          <a:prstGeom prst="roundRect">
            <a:avLst>
              <a:gd name="adj" fmla="val 436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Caption"/>
          <p:cNvSpPr/>
          <p:nvPr/>
        </p:nvSpPr>
        <p:spPr>
          <a:xfrm>
            <a:off x="777240" y="498288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SKILL 2 — adobe-tags-data-reconciliation</a:t>
            </a:r>
            <a:endParaRPr lang="en-US" sz="1200" dirty="0"/>
          </a:p>
        </p:txBody>
      </p:sp>
      <p:sp>
        <p:nvSpPr>
          <p:cNvPr id="122" name="Body"/>
          <p:cNvSpPr/>
          <p:nvPr/>
        </p:nvSpPr>
        <p:spPr>
          <a:xfrm>
            <a:off x="777240" y="5302920"/>
            <a:ext cx="10607040" cy="9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0">
              <a:lnSpc>
                <a:spcPct val="112000"/>
              </a:lnSpc>
              <a:spcBef>
                <a:spcPts val="550"/>
              </a:spcBef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Maps every variable to the data element and rule that feeds it, classifies each into one honest status, and surfaces the decisions. It produces the reconciliation workbook and a client decisions email: what's collecting, and what to do about the rest.</a:t>
            </a:r>
          </a:p>
        </p:txBody>
      </p:sp>
      <p:sp>
        <p:nvSpPr>
          <p:cNvPr id="200" name="Shape Bar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Bar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Bar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Bar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Bar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Text Copyrigh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© Slalom. All Rights Reserved. Proprietary and Confidential.</a:t>
            </a:r>
          </a:p>
        </p:txBody>
      </p:sp>
      <p:sp>
        <p:nvSpPr>
          <p:cNvPr id="206" name="Text PageNum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657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E8F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8FA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ANALYTICAL HEART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4173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One Vocabulary — One Status per Variable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548640" y="11887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Every report-suite variable and every data element lands in exactly one status. The vocabulary is fixed, not invented per engagement — which is what makes the output comparable across consultants and clients.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187452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187452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0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31520" y="1874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COLLECTING &amp; WIRED  ·  property side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63347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097280" y="24231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Collected — the element feeds it and a rule sends it. Real data.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3152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97280" y="308152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No-op — wired but returns nothing; the variable never populates.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1520" y="39502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97280" y="37398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Orphan — the element exists but is sent to no variable at all.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187452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63640" y="187452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0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46520" y="1874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DEFINED, NOT POPULATED  ·  report-suite side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46520" y="263347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12280" y="2423160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Never-sent — defined, but never populated. On a migration: parity.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44652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812280" y="3081528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Not-built — implemented nowhere; net-new scope (e.g. audio).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46520" y="39502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812280" y="37398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Excluded — intentional; ECID (the SDK manages identity).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43000" y="48737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02FA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Every variable, one status: </a:t>
            </a: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green (collecting), yellow/orange (wired but empty), or grey/peach (defined, not sent) — nothing left ambiguous.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4243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43000" y="57424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2FA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non-green rows aren't failures: </a:t>
            </a:r>
            <a:r>
              <a:rPr lang="en-US" sz="10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they're client decisions, migration-parity leftovers, or correct-by-design (ECID). That distinction is the whole point.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© Slalom. All Rights Reserved. Proprietary and Confidential.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657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30352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4D5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4173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Value for Slalom and the Client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548640" y="11887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reconciliation turns a technical audit into decisions — and turns a one-off analysis into a repeatable Slalom asset.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178308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1783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PAYOFF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2860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48640" y="228600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31520" y="2286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FOR SLALOM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29672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97280" y="2834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Reusable IP — a one-off manual pass becomes a repeatable asset.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31520" y="34701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097280" y="3337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quality floor — the machine transcribes; consultants judge.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31520" y="39730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97280" y="3840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Consistency — same vocabulary, same deliverable, every time.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31520" y="44759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C6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097280" y="43434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sharper story — audit-to-decision, not audit alone.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63640" y="2286000"/>
            <a:ext cx="5349240" cy="2651760"/>
          </a:xfrm>
          <a:prstGeom prst="roundRect">
            <a:avLst>
              <a:gd name="adj" fmla="val 310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263640" y="2286000"/>
            <a:ext cx="5349240" cy="457200"/>
          </a:xfrm>
          <a:prstGeom prst="roundRect">
            <a:avLst>
              <a:gd name="adj" fmla="val 18000"/>
            </a:avLst>
          </a:prstGeom>
          <a:solidFill>
            <a:srgbClr val="0E8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446520" y="22860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FOR THE CLIENT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446520" y="29672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812280" y="2834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Clarity — real data vs. an empty shell, made explicit.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446520" y="347014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812280" y="3337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Parity proven — nothing collected today is lost.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46520" y="39730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812280" y="38404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Risk surfaced — no-ops, orphans, duplicate labels, PII.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446520" y="44759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E8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812280" y="43434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path to act — P1 / P2 / P3 and a short decisions email.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82412"/>
            <a:ext cx="320040" cy="32004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88720" y="5285232"/>
            <a:ext cx="1028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02FA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Proof — AboutAmazon-US: </a:t>
            </a:r>
            <a:r>
              <a:rPr lang="en-US" sz="10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53 eVars · 20 props · 38 events · 3 lists reconciled at full parity; 71 data elements classified (60 collecting · 2 no-op · 9 orphan).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</a:rPr>
              <a:t>© Slalom. All Rights Reserved. Proprietary and Confidential.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pic>
        <p:nvPicPr>
          <p:cNvPr id="100" name="Checkmark 10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2996100"/>
            <a:ext cx="180000" cy="180000"/>
          </a:xfrm>
          <a:prstGeom prst="rect">
            <a:avLst/>
          </a:prstGeom>
        </p:spPr>
      </p:pic>
      <p:pic>
        <p:nvPicPr>
          <p:cNvPr id="101" name="Checkmark 10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3499020"/>
            <a:ext cx="180000" cy="180000"/>
          </a:xfrm>
          <a:prstGeom prst="rect">
            <a:avLst/>
          </a:prstGeom>
        </p:spPr>
      </p:pic>
      <p:pic>
        <p:nvPicPr>
          <p:cNvPr id="102" name="Checkmark 10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4001940"/>
            <a:ext cx="180000" cy="180000"/>
          </a:xfrm>
          <a:prstGeom prst="rect">
            <a:avLst/>
          </a:prstGeom>
        </p:spPr>
      </p:pic>
      <p:pic>
        <p:nvPicPr>
          <p:cNvPr id="103" name="Checkmark 10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392" y="4504860"/>
            <a:ext cx="180000" cy="180000"/>
          </a:xfrm>
          <a:prstGeom prst="rect">
            <a:avLst/>
          </a:prstGeom>
        </p:spPr>
      </p:pic>
      <p:pic>
        <p:nvPicPr>
          <p:cNvPr id="104" name="Checkmark 10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2996100"/>
            <a:ext cx="180000" cy="180000"/>
          </a:xfrm>
          <a:prstGeom prst="rect">
            <a:avLst/>
          </a:prstGeom>
        </p:spPr>
      </p:pic>
      <p:pic>
        <p:nvPicPr>
          <p:cNvPr id="105" name="Checkmark 10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3499020"/>
            <a:ext cx="180000" cy="180000"/>
          </a:xfrm>
          <a:prstGeom prst="rect">
            <a:avLst/>
          </a:prstGeom>
        </p:spPr>
      </p:pic>
      <p:pic>
        <p:nvPicPr>
          <p:cNvPr id="106" name="Checkmark 10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4001940"/>
            <a:ext cx="180000" cy="180000"/>
          </a:xfrm>
          <a:prstGeom prst="rect">
            <a:avLst/>
          </a:prstGeom>
        </p:spPr>
      </p:pic>
      <p:pic>
        <p:nvPicPr>
          <p:cNvPr id="107" name="Checkmark 10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92" y="4504860"/>
            <a:ext cx="180000" cy="180000"/>
          </a:xfrm>
          <a:prstGeom prst="rect">
            <a:avLst/>
          </a:prstGeom>
        </p:spPr>
      </p:pic>
      <p:sp>
        <p:nvSpPr>
          <p:cNvPr id="700" name="Badge Shape"/>
          <p:cNvSpPr/>
          <p:nvPr/>
        </p:nvSpPr>
        <p:spPr>
          <a:xfrm>
            <a:off x="3200400" y="1783080"/>
            <a:ext cx="1500000" cy="329184"/>
          </a:xfrm>
          <a:prstGeom prst="roundRect">
            <a:avLst>
              <a:gd name="adj" fmla="val 50000"/>
            </a:avLst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1" name="Badge Text"/>
          <p:cNvSpPr/>
          <p:nvPr/>
        </p:nvSpPr>
        <p:spPr>
          <a:xfrm>
            <a:off x="3200400" y="1783080"/>
            <a:ext cx="15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BOTH SIDES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657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64" y="519684"/>
            <a:ext cx="377952" cy="3779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C62F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HOW WE RUN IT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4173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Four Phases — No Shortcut to the Answer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548640" y="118872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724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A reconciliation with a guessed mapping is fiction. The value is in the honest status of each variable — which means actually reading how the property populates it.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17830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1783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22860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100" dirty="0">
                <a:solidFill>
                  <a:srgbClr val="0C62FB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FROM INPUTS TO DECISIONS</a:t>
            </a:r>
            <a:endParaRPr lang="en-US" sz="1100" dirty="0"/>
          </a:p>
        </p:txBody>
      </p:sp>
      <p:sp>
        <p:nvSpPr>
          <p:cNvPr id="101" name="Shape Box"/>
          <p:cNvSpPr/>
          <p:nvPr/>
        </p:nvSpPr>
        <p:spPr>
          <a:xfrm>
            <a:off x="612512" y="2713872"/>
            <a:ext cx="110000" cy="110000"/>
          </a:xfrm>
          <a:prstGeom prst="ellips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Reason"/>
          <p:cNvSpPr/>
          <p:nvPr/>
        </p:nvSpPr>
        <p:spPr>
          <a:xfrm>
            <a:off x="914400" y="2550000"/>
            <a:ext cx="10698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Intake — gather both inputs: the audit workbook and the client's Report Suite Manager variable map.</a:t>
            </a:r>
            <a:endParaRPr lang="en-US" sz="1100" dirty="0"/>
          </a:p>
        </p:txBody>
      </p:sp>
      <p:sp>
        <p:nvSpPr>
          <p:cNvPr id="104" name="Shape Box"/>
          <p:cNvSpPr/>
          <p:nvPr/>
        </p:nvSpPr>
        <p:spPr>
          <a:xfrm>
            <a:off x="612512" y="3263872"/>
            <a:ext cx="110000" cy="110000"/>
          </a:xfrm>
          <a:prstGeom prst="ellips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Reason"/>
          <p:cNvSpPr/>
          <p:nvPr/>
        </p:nvSpPr>
        <p:spPr>
          <a:xfrm>
            <a:off x="914400" y="3100000"/>
            <a:ext cx="10698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Map — auto-draft the variable→element mapping from the audit workbook; classic and Web SDK alike, then review.</a:t>
            </a:r>
            <a:endParaRPr lang="en-US" sz="1100" dirty="0"/>
          </a:p>
        </p:txBody>
      </p:sp>
      <p:sp>
        <p:nvSpPr>
          <p:cNvPr id="107" name="Shape Box"/>
          <p:cNvSpPr/>
          <p:nvPr/>
        </p:nvSpPr>
        <p:spPr>
          <a:xfrm>
            <a:off x="612512" y="3813872"/>
            <a:ext cx="110000" cy="110000"/>
          </a:xfrm>
          <a:prstGeom prst="ellips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Reason"/>
          <p:cNvSpPr/>
          <p:nvPr/>
        </p:nvSpPr>
        <p:spPr>
          <a:xfrm>
            <a:off x="914400" y="3650000"/>
            <a:ext cx="10698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Reconcile — classify every variable into one status and sweep for data issues; tier the findings P1 / P2 / P3.</a:t>
            </a:r>
            <a:endParaRPr lang="en-US" sz="1100" dirty="0"/>
          </a:p>
        </p:txBody>
      </p:sp>
      <p:sp>
        <p:nvSpPr>
          <p:cNvPr id="110" name="Shape Box"/>
          <p:cNvSpPr/>
          <p:nvPr/>
        </p:nvSpPr>
        <p:spPr>
          <a:xfrm>
            <a:off x="612512" y="4363872"/>
            <a:ext cx="110000" cy="110000"/>
          </a:xfrm>
          <a:prstGeom prst="ellipse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Reason"/>
          <p:cNvSpPr/>
          <p:nvPr/>
        </p:nvSpPr>
        <p:spPr>
          <a:xfrm>
            <a:off x="914400" y="4200000"/>
            <a:ext cx="10698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Build — render the status-coded workbook and draft the client decisions email; verify the counts reconcile.</a:t>
            </a:r>
            <a:endParaRPr lang="en-US" sz="1100" dirty="0"/>
          </a:p>
        </p:txBody>
      </p:sp>
      <p:sp>
        <p:nvSpPr>
          <p:cNvPr id="200" name="Shape Callout"/>
          <p:cNvSpPr/>
          <p:nvPr/>
        </p:nvSpPr>
        <p:spPr>
          <a:xfrm>
            <a:off x="548640" y="48500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6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Text Callout"/>
          <p:cNvSpPr/>
          <p:nvPr/>
        </p:nvSpPr>
        <p:spPr>
          <a:xfrm>
            <a:off x="777240" y="4850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02FA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Bottom line: </a:t>
            </a:r>
            <a:r>
              <a:rPr lang="en-US" sz="1150" dirty="0">
                <a:solidFill>
                  <a:srgbClr val="000000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one vocabulary applied the same way every time — comparable across consultants, and honest about what's a decision vs. a gap.</a:t>
            </a:r>
            <a:endParaRPr lang="en-US" sz="1150" dirty="0"/>
          </a:p>
        </p:txBody>
      </p:sp>
      <p:sp>
        <p:nvSpPr>
          <p:cNvPr id="210" name="Shape Bar1"/>
          <p:cNvSpPr/>
          <p:nvPr/>
        </p:nvSpPr>
        <p:spPr>
          <a:xfrm>
            <a:off x="0" y="0"/>
            <a:ext cx="2432304" cy="137160"/>
          </a:xfrm>
          <a:prstGeom prst="rect">
            <a:avLst/>
          </a:prstGeom>
          <a:solidFill>
            <a:srgbClr val="002F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Shape Bar2"/>
          <p:cNvSpPr/>
          <p:nvPr/>
        </p:nvSpPr>
        <p:spPr>
          <a:xfrm>
            <a:off x="2432304" y="0"/>
            <a:ext cx="2432304" cy="137160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Shape Bar3"/>
          <p:cNvSpPr/>
          <p:nvPr/>
        </p:nvSpPr>
        <p:spPr>
          <a:xfrm>
            <a:off x="4864608" y="0"/>
            <a:ext cx="2432304" cy="137160"/>
          </a:xfrm>
          <a:prstGeom prst="rect">
            <a:avLst/>
          </a:prstGeom>
          <a:solidFill>
            <a:srgbClr val="1BE1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Shape Bar4"/>
          <p:cNvSpPr/>
          <p:nvPr/>
        </p:nvSpPr>
        <p:spPr>
          <a:xfrm>
            <a:off x="7296912" y="0"/>
            <a:ext cx="2432304" cy="137160"/>
          </a:xfrm>
          <a:prstGeom prst="rect">
            <a:avLst/>
          </a:prstGeom>
          <a:solidFill>
            <a:srgbClr val="FF4D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Shape Bar5"/>
          <p:cNvSpPr/>
          <p:nvPr/>
        </p:nvSpPr>
        <p:spPr>
          <a:xfrm>
            <a:off x="9729216" y="0"/>
            <a:ext cx="2432304" cy="137160"/>
          </a:xfrm>
          <a:prstGeom prst="rect">
            <a:avLst/>
          </a:prstGeom>
          <a:solidFill>
            <a:srgbClr val="C7B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Text Copyright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© Slalom. All Rights Reserved. Proprietary and Confidential.</a:t>
            </a:r>
          </a:p>
        </p:txBody>
      </p:sp>
      <p:sp>
        <p:nvSpPr>
          <p:cNvPr id="216" name="Text PageNum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2F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0" y="-1828800"/>
            <a:ext cx="5486400" cy="5486400"/>
          </a:xfrm>
          <a:prstGeom prst="ellipse">
            <a:avLst/>
          </a:prstGeom>
          <a:solidFill>
            <a:srgbClr val="0C62F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4400" y="228600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E0F5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The audit found it. The reconciliation decides it. Let's talk.</a:t>
            </a:r>
            <a:endParaRPr lang="en-US" sz="1600" dirty="0"/>
          </a:p>
        </p:txBody>
      </p:sp>
      <p:sp>
        <p:nvSpPr>
          <p:cNvPr id="6" name="Shape Divider"/>
          <p:cNvSpPr/>
          <p:nvPr/>
        </p:nvSpPr>
        <p:spPr>
          <a:xfrm>
            <a:off x="914400" y="3840480"/>
            <a:ext cx="1828800" cy="18288"/>
          </a:xfrm>
          <a:prstGeom prst="rect">
            <a:avLst/>
          </a:prstGeom>
          <a:solidFill>
            <a:srgbClr val="0C6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Name"/>
          <p:cNvSpPr/>
          <p:nvPr/>
        </p:nvSpPr>
        <p:spPr>
          <a:xfrm>
            <a:off x="914400" y="411480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Scott Tavares</a:t>
            </a:r>
            <a:endParaRPr lang="en-US" sz="2000" dirty="0"/>
          </a:p>
        </p:txBody>
      </p:sp>
      <p:sp>
        <p:nvSpPr>
          <p:cNvPr id="8" name="Text Title"/>
          <p:cNvSpPr/>
          <p:nvPr/>
        </p:nvSpPr>
        <p:spPr>
          <a:xfrm>
            <a:off x="914400" y="4480560"/>
            <a:ext cx="1036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Senior Principal, Adobe Multi-Solution Architect</a:t>
            </a:r>
            <a:endParaRPr lang="en-US" sz="1300" dirty="0"/>
          </a:p>
        </p:txBody>
      </p:sp>
      <p:sp>
        <p:nvSpPr>
          <p:cNvPr id="9" name="Text Company"/>
          <p:cNvSpPr/>
          <p:nvPr/>
        </p:nvSpPr>
        <p:spPr>
          <a:xfrm>
            <a:off x="914400" y="4791075"/>
            <a:ext cx="1036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6E8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Slalom</a:t>
            </a:r>
            <a:endParaRPr lang="en-US" sz="1300" dirty="0"/>
          </a:p>
        </p:txBody>
      </p:sp>
      <p:sp>
        <p:nvSpPr>
          <p:cNvPr id="10" name="Text Email"/>
          <p:cNvSpPr/>
          <p:nvPr/>
        </p:nvSpPr>
        <p:spPr>
          <a:xfrm>
            <a:off x="914400" y="5257800"/>
            <a:ext cx="1036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venir Next LT Pro" pitchFamily="34" charset="0"/>
                <a:ea typeface="Avenir Next LT Pro" pitchFamily="34" charset="-122"/>
                <a:cs typeface="Avenir Next LT Pro" pitchFamily="34" charset="-120"/>
              </a:rPr>
              <a:t>scott.tavares@slalom.com</a:t>
            </a:r>
            <a:endParaRPr lang="en-US" sz="1300" dirty="0"/>
          </a:p>
        </p:txBody>
      </p:sp>
      <p:sp>
        <p:nvSpPr>
          <p:cNvPr id="21" name="Text Copyright"/>
          <p:cNvSpPr/>
          <p:nvPr/>
        </p:nvSpPr>
        <p:spPr>
          <a:xfrm>
            <a:off x="9144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93B8"/>
                </a:solidFill>
              </a:rPr>
              <a:t>© Slalom. All Rights Reserved. Proprietary and Confidential.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ca75128-a244-4596-877b-f24828e476e2}" enabled="0" method="" siteId="{9ca75128-a244-4596-877b-f24828e476e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7438</TotalTime>
  <Words>8988</Words>
  <Application>Microsoft Office PowerPoint</Application>
  <PresentationFormat>Widescreen</PresentationFormat>
  <Paragraphs>713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Avenir Next LT Pro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 Tags Configuration Audit - Amazon News</dc:title>
  <dc:subject>PptxGenJS Presentation</dc:subject>
  <dc:creator>Scott Tavares</dc:creator>
  <cp:lastModifiedBy>Scott Tavares</cp:lastModifiedBy>
  <cp:revision>3</cp:revision>
  <dcterms:created xsi:type="dcterms:W3CDTF">2026-07-13T22:20:24Z</dcterms:created>
  <dcterms:modified xsi:type="dcterms:W3CDTF">2026-07-28T17:19:58Z</dcterms:modified>
</cp:coreProperties>
</file>