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672280-2287-44CF-BC4A-1BC94D499960}" v="4" dt="2026-07-28T17:19:31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Relationship Id="rId4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23444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58368" y="1298448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5836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25296" y="12435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225296" y="14904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Inspects the live site and reports the current martech — tag manager, AppMeasurement vs. Web SDK, Target, ECID, data layer, consent, and the IDs already present.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698480" y="12344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179679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" y="1860804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8368" y="1860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25296" y="18059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Setup-Plan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225296" y="205282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Turns a short interview into a governed implementation plan — property strategy, naming, environments, consent, approval gates, phased rollout, and compliance.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698480" y="1796796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PLAN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8640" y="235915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58368" y="2423160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8368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25296" y="23682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Data-Collection-Builder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225296" y="26151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Scrapes the site and builds the data-collection spec — the SDR and Web SDK XDM schema, plus a universal set of data elements and rules (page, forms, video, campaigns, links, IDs).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0698480" y="235915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48640" y="292150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58368" y="2985516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8368" y="2985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225296" y="29306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Property-Creator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225296" y="31775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Provisions the Adobe Launch property end-to-end via the Reactor API — extensions, data elements, rules, libraries, and the dev → staging → prod publish pipeline with approval gates and rollback.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10698480" y="292150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PUBLISH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58368" y="3547872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8368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225296" y="34930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1225296" y="3739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Audits the live configuration for the issues that matter — double-counting, environment separation, identity, consent, PII — and produces a findings deck and an audit workbook, every claim sourced.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698480" y="348386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48640" y="404622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58368" y="4110228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58368" y="4110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225296" y="405536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Data-Reconciliation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1225296" y="43022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Reconciles the report suite's variables against what the property actually collects, classifies each into one honest status, and produces the reconciliation workbook and a client decisions email.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698480" y="404622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777240" y="13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PROBLEM WITH MANUAL DELIVERY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777240" y="170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Adobe implementations are built by hand — clicking through Launch, hand-writing SDRs, eyeballing configs. It's slow, inconsistent between consultants, hard to QA, and rarely documented well enough to defend or repeat.</a:t>
            </a:r>
            <a:endParaRPr lang="en-US" sz="1150" dirty="0"/>
          </a:p>
        </p:txBody>
      </p:sp>
      <p:sp>
        <p:nvSpPr>
          <p:cNvPr id="110" name="Card"/>
          <p:cNvSpPr/>
          <p:nvPr/>
        </p:nvSpPr>
        <p:spPr>
          <a:xfrm>
            <a:off x="548640" y="285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777240" y="303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THAT COSTS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777240" y="335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Weeks of senior time on repetitive setup; errors that surface late — double-counting, broken identity, missed variables; and deliverables whose quality depends on who happened to build them.</a:t>
            </a:r>
            <a:endParaRPr lang="en-US" sz="1150" dirty="0"/>
          </a:p>
        </p:txBody>
      </p:sp>
      <p:sp>
        <p:nvSpPr>
          <p:cNvPr id="120" name="Card"/>
          <p:cNvSpPr/>
          <p:nvPr/>
        </p:nvSpPr>
        <p:spPr>
          <a:xfrm>
            <a:off x="548640" y="4500000"/>
            <a:ext cx="11064240" cy="18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777240" y="46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CHANGE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777240" y="5002920"/>
            <a:ext cx="10607040" cy="12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repetitive, error-prone work is automated and standardized. Every stage produces a client-ready artifact from live data, the same way every time — so consultants spend their hours on judgment and client decisions.</a:t>
            </a:r>
            <a:endParaRPr lang="en-US" sz="115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7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777240" y="13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REUSABLE IP &amp; SPEED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777240" y="1702920"/>
            <a:ext cx="1060704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one-off engagement becomes a repeatable asset. What took weeks of manual setup runs in hours; the next client reuses the same accelerators instead of starting over.</a:t>
            </a:r>
          </a:p>
        </p:txBody>
      </p:sp>
      <p:sp>
        <p:nvSpPr>
          <p:cNvPr id="110" name="Card"/>
          <p:cNvSpPr/>
          <p:nvPr/>
        </p:nvSpPr>
        <p:spPr>
          <a:xfrm>
            <a:off x="548640" y="3050000"/>
            <a:ext cx="11064240" cy="16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777240" y="323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CONSISTENCY &amp; GOVERNANCE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777240" y="3552920"/>
            <a:ext cx="1060704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same standards, naming, and quality bar on every engagement — with approval gates, rollback, and human sign-off built into the build and publish stages, not bolted on after.</a:t>
            </a:r>
          </a:p>
        </p:txBody>
      </p:sp>
      <p:sp>
        <p:nvSpPr>
          <p:cNvPr id="120" name="Card"/>
          <p:cNvSpPr/>
          <p:nvPr/>
        </p:nvSpPr>
        <p:spPr>
          <a:xfrm>
            <a:off x="548640" y="48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777240" y="49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QUALITY FLOOR &amp; EVIDENCE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777240" y="530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Junior consultants ship senior-quality output. Every finding and recommendation is sourced from live configuration — capturable, repeatable, and defensible to a skeptical client.</a:t>
            </a:r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36576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30352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4173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1417320" y="6400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7" name="Shape 3"/>
          <p:cNvSpPr/>
          <p:nvPr/>
        </p:nvSpPr>
        <p:spPr>
          <a:xfrm>
            <a:off x="548640" y="118872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72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48640" y="1783080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48640" y="17830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≈ 3–5× FASTER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48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731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MANUAL WAY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31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1097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Current-state audit — 2–3 days clicking through Launch + captures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31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1097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authored by hand — 1–2 weeks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31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1097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 provisioning in the UI — 3–5 days, error-prone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31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1097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by hand — a full day of cross-referencing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263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263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446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WITH THE SKILLS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446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812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+ audit — under half a day, sourced from live config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6446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12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generated — about a day, universal patterns built in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446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6812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Provisioning via Reactor API — minutes, idempotent, with rollback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6446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6812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— 1–2 hours, a reviewed draft, not a hand-build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582412"/>
            <a:ext cx="320040" cy="32004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1188720" y="5285232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2FA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Net effect: </a:t>
            </a: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multi-week manual engagement compressed to a handful of days — and the time that's left goes to judgment and client decisions, not repetitive setup.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pic>
        <p:nvPicPr>
          <p:cNvPr id="100" name="Checkmark 10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2996100"/>
            <a:ext cx="180000" cy="180000"/>
          </a:xfrm>
          <a:prstGeom prst="rect">
            <a:avLst/>
          </a:prstGeom>
        </p:spPr>
      </p:pic>
      <p:pic>
        <p:nvPicPr>
          <p:cNvPr id="101" name="Checkmark 10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3499020"/>
            <a:ext cx="180000" cy="180000"/>
          </a:xfrm>
          <a:prstGeom prst="rect">
            <a:avLst/>
          </a:prstGeom>
        </p:spPr>
      </p:pic>
      <p:pic>
        <p:nvPicPr>
          <p:cNvPr id="102" name="Checkmark 10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001940"/>
            <a:ext cx="180000" cy="180000"/>
          </a:xfrm>
          <a:prstGeom prst="rect">
            <a:avLst/>
          </a:prstGeom>
        </p:spPr>
      </p:pic>
      <p:pic>
        <p:nvPicPr>
          <p:cNvPr id="103" name="Checkmark 10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504860"/>
            <a:ext cx="180000" cy="180000"/>
          </a:xfrm>
          <a:prstGeom prst="rect">
            <a:avLst/>
          </a:prstGeom>
        </p:spPr>
      </p:pic>
      <p:pic>
        <p:nvPicPr>
          <p:cNvPr id="104" name="Checkmark 10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2996100"/>
            <a:ext cx="180000" cy="180000"/>
          </a:xfrm>
          <a:prstGeom prst="rect">
            <a:avLst/>
          </a:prstGeom>
        </p:spPr>
      </p:pic>
      <p:pic>
        <p:nvPicPr>
          <p:cNvPr id="105" name="Checkmark 10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3499020"/>
            <a:ext cx="180000" cy="180000"/>
          </a:xfrm>
          <a:prstGeom prst="rect">
            <a:avLst/>
          </a:prstGeom>
        </p:spPr>
      </p:pic>
      <p:pic>
        <p:nvPicPr>
          <p:cNvPr id="106" name="Checkmark 10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001940"/>
            <a:ext cx="180000" cy="180000"/>
          </a:xfrm>
          <a:prstGeom prst="rect">
            <a:avLst/>
          </a:prstGeom>
        </p:spPr>
      </p:pic>
      <p:pic>
        <p:nvPicPr>
          <p:cNvPr id="107" name="Checkmark 10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504860"/>
            <a:ext cx="180000" cy="180000"/>
          </a:xfrm>
          <a:prstGeom prst="rect">
            <a:avLst/>
          </a:prstGeom>
        </p:spPr>
      </p:pic>
      <p:sp>
        <p:nvSpPr>
          <p:cNvPr id="700" name="Badge Shape"/>
          <p:cNvSpPr/>
          <p:nvPr/>
        </p:nvSpPr>
        <p:spPr>
          <a:xfrm>
            <a:off x="3200400" y="1783080"/>
            <a:ext cx="150000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1" name="Badge Text"/>
          <p:cNvSpPr/>
          <p:nvPr/>
        </p:nvSpPr>
        <p:spPr>
          <a:xfrm>
            <a:off x="3200400" y="1783080"/>
            <a:ext cx="1500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ESTIMATE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0" name="Box"/>
          <p:cNvSpPr/>
          <p:nvPr/>
        </p:nvSpPr>
        <p:spPr>
          <a:xfrm>
            <a:off x="4696000" y="1450000"/>
            <a:ext cx="2800000" cy="65000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Text"/>
          <p:cNvSpPr/>
          <p:nvPr/>
        </p:nvSpPr>
        <p:spPr>
          <a:xfrm>
            <a:off x="4769152" y="1450000"/>
            <a:ext cx="2653696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CLIENT'S LIVE SITE</a:t>
            </a:r>
          </a:p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source, inspected directly</a:t>
            </a:r>
          </a:p>
        </p:txBody>
      </p:sp>
      <p:sp>
        <p:nvSpPr>
          <p:cNvPr id="110" name="Line"/>
          <p:cNvSpPr/>
          <p:nvPr/>
        </p:nvSpPr>
        <p:spPr>
          <a:xfrm>
            <a:off x="6096000" y="2100000"/>
            <a:ext cx="0" cy="25000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Dot"/>
          <p:cNvSpPr/>
          <p:nvPr/>
        </p:nvSpPr>
        <p:spPr>
          <a:xfrm>
            <a:off x="6032000" y="2286000"/>
            <a:ext cx="128016" cy="128016"/>
          </a:xfrm>
          <a:prstGeom prst="ellipse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" name="Line"/>
          <p:cNvSpPr/>
          <p:nvPr/>
        </p:nvSpPr>
        <p:spPr>
          <a:xfrm>
            <a:off x="2400000" y="2350000"/>
            <a:ext cx="7300000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Line"/>
          <p:cNvSpPr/>
          <p:nvPr/>
        </p:nvSpPr>
        <p:spPr>
          <a:xfrm>
            <a:off x="2400000" y="2350000"/>
            <a:ext cx="0" cy="32000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Line"/>
          <p:cNvSpPr/>
          <p:nvPr/>
        </p:nvSpPr>
        <p:spPr>
          <a:xfrm>
            <a:off x="9700000" y="2350000"/>
            <a:ext cx="0" cy="32000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Label"/>
          <p:cNvSpPr/>
          <p:nvPr/>
        </p:nvSpPr>
        <p:spPr>
          <a:xfrm>
            <a:off x="548640" y="2670000"/>
            <a:ext cx="3700000" cy="320040"/>
          </a:xfrm>
          <a:prstGeom prst="roundRect">
            <a:avLst>
              <a:gd name="adj" fmla="val 30000"/>
            </a:avLst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LabelText"/>
          <p:cNvSpPr/>
          <p:nvPr/>
        </p:nvSpPr>
        <p:spPr>
          <a:xfrm>
            <a:off x="548640" y="2670000"/>
            <a:ext cx="37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— STAND UP THE IMPLEMENTATION</a:t>
            </a:r>
          </a:p>
        </p:txBody>
      </p:sp>
      <p:sp>
        <p:nvSpPr>
          <p:cNvPr id="130" name="Box"/>
          <p:cNvSpPr/>
          <p:nvPr/>
        </p:nvSpPr>
        <p:spPr>
          <a:xfrm>
            <a:off x="548640" y="3050000"/>
            <a:ext cx="2200000" cy="75000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BoxText"/>
          <p:cNvSpPr/>
          <p:nvPr/>
        </p:nvSpPr>
        <p:spPr>
          <a:xfrm>
            <a:off x="621792" y="3050000"/>
            <a:ext cx="2053696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+ Plan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 · setup-plan</a:t>
            </a:r>
          </a:p>
        </p:txBody>
      </p:sp>
      <p:sp>
        <p:nvSpPr>
          <p:cNvPr id="140" name="Arrow"/>
          <p:cNvSpPr/>
          <p:nvPr/>
        </p:nvSpPr>
        <p:spPr>
          <a:xfrm>
            <a:off x="2823000" y="3050000"/>
            <a:ext cx="27432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  <p:sp>
        <p:nvSpPr>
          <p:cNvPr id="150" name="Box"/>
          <p:cNvSpPr/>
          <p:nvPr/>
        </p:nvSpPr>
        <p:spPr>
          <a:xfrm>
            <a:off x="3097320" y="3050000"/>
            <a:ext cx="2450000" cy="75000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BoxText"/>
          <p:cNvSpPr/>
          <p:nvPr/>
        </p:nvSpPr>
        <p:spPr>
          <a:xfrm>
            <a:off x="3170472" y="3050000"/>
            <a:ext cx="2303696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+ Publish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data-collection-builder · property-creator</a:t>
            </a:r>
          </a:p>
        </p:txBody>
      </p:sp>
      <p:sp>
        <p:nvSpPr>
          <p:cNvPr id="160" name="Caption"/>
          <p:cNvSpPr/>
          <p:nvPr/>
        </p:nvSpPr>
        <p:spPr>
          <a:xfrm>
            <a:off x="548640" y="3860000"/>
            <a:ext cx="3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Delivers: SDR · XDM · data elements · rules · a live, published Launch property</a:t>
            </a:r>
          </a:p>
        </p:txBody>
      </p:sp>
      <p:sp>
        <p:nvSpPr>
          <p:cNvPr id="170" name="Label"/>
          <p:cNvSpPr/>
          <p:nvPr/>
        </p:nvSpPr>
        <p:spPr>
          <a:xfrm>
            <a:off x="6800000" y="2670000"/>
            <a:ext cx="3300000" cy="320040"/>
          </a:xfrm>
          <a:prstGeom prst="roundRect">
            <a:avLst>
              <a:gd name="adj" fmla="val 300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" name="LabelText"/>
          <p:cNvSpPr/>
          <p:nvPr/>
        </p:nvSpPr>
        <p:spPr>
          <a:xfrm>
            <a:off x="6800000" y="2670000"/>
            <a:ext cx="33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— PROVE IT &amp; DECIDE</a:t>
            </a:r>
          </a:p>
        </p:txBody>
      </p:sp>
      <p:sp>
        <p:nvSpPr>
          <p:cNvPr id="180" name="Box"/>
          <p:cNvSpPr/>
          <p:nvPr/>
        </p:nvSpPr>
        <p:spPr>
          <a:xfrm>
            <a:off x="6800000" y="3050000"/>
            <a:ext cx="2200000" cy="75000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BoxText"/>
          <p:cNvSpPr/>
          <p:nvPr/>
        </p:nvSpPr>
        <p:spPr>
          <a:xfrm>
            <a:off x="6873152" y="3050000"/>
            <a:ext cx="2053696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</a:p>
        </p:txBody>
      </p:sp>
      <p:sp>
        <p:nvSpPr>
          <p:cNvPr id="190" name="Arrow"/>
          <p:cNvSpPr/>
          <p:nvPr/>
        </p:nvSpPr>
        <p:spPr>
          <a:xfrm>
            <a:off x="9074000" y="3050000"/>
            <a:ext cx="27432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62FB"/>
                </a:solidFill>
              </a:rPr>
              <a:t>→</a:t>
            </a:r>
          </a:p>
        </p:txBody>
      </p:sp>
      <p:sp>
        <p:nvSpPr>
          <p:cNvPr id="200" name="Box"/>
          <p:cNvSpPr/>
          <p:nvPr/>
        </p:nvSpPr>
        <p:spPr>
          <a:xfrm>
            <a:off x="9348320" y="3050000"/>
            <a:ext cx="2764240" cy="75000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BoxText"/>
          <p:cNvSpPr/>
          <p:nvPr/>
        </p:nvSpPr>
        <p:spPr>
          <a:xfrm>
            <a:off x="9421472" y="3050000"/>
            <a:ext cx="2617936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</a:p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data-reconciliation</a:t>
            </a:r>
          </a:p>
        </p:txBody>
      </p:sp>
      <p:sp>
        <p:nvSpPr>
          <p:cNvPr id="210" name="Line"/>
          <p:cNvSpPr/>
          <p:nvPr/>
        </p:nvSpPr>
        <p:spPr>
          <a:xfrm>
            <a:off x="4322320" y="3800000"/>
            <a:ext cx="0" cy="350000"/>
          </a:xfrm>
          <a:prstGeom prst="line">
            <a:avLst/>
          </a:prstGeom>
          <a:noFill/>
          <a:ln w="12700">
            <a:solidFill>
              <a:srgbClr val="FF4D5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12" name="Line"/>
          <p:cNvSpPr/>
          <p:nvPr/>
        </p:nvSpPr>
        <p:spPr>
          <a:xfrm>
            <a:off x="10730440" y="3800000"/>
            <a:ext cx="0" cy="350000"/>
          </a:xfrm>
          <a:prstGeom prst="line">
            <a:avLst/>
          </a:prstGeom>
          <a:noFill/>
          <a:ln w="12700">
            <a:solidFill>
              <a:srgbClr val="FF4D5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220" name="X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2320" y="4260000"/>
            <a:ext cx="280000" cy="280000"/>
          </a:xfrm>
          <a:prstGeom prst="rect">
            <a:avLst/>
          </a:prstGeom>
        </p:spPr>
      </p:pic>
      <p:sp>
        <p:nvSpPr>
          <p:cNvPr id="222" name="Banner"/>
          <p:cNvSpPr/>
          <p:nvPr/>
        </p:nvSpPr>
        <p:spPr>
          <a:xfrm>
            <a:off x="4322320" y="4150000"/>
            <a:ext cx="6408120" cy="550000"/>
          </a:xfrm>
          <a:prstGeom prst="roundRect">
            <a:avLst>
              <a:gd name="adj" fmla="val 12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4" name="BannerText"/>
          <p:cNvSpPr/>
          <p:nvPr/>
        </p:nvSpPr>
        <p:spPr>
          <a:xfrm>
            <a:off x="4822320" y="4150000"/>
            <a:ext cx="585812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GOVERNED PIPELINE — EVERY OUTPUT FEEDS THE NEXT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informs the plan; the plan drives the build; the build is audited; the audit is reconciled into decisions.</a:t>
            </a:r>
          </a:p>
        </p:txBody>
      </p:sp>
      <p:sp>
        <p:nvSpPr>
          <p:cNvPr id="230" name="Callout"/>
          <p:cNvSpPr/>
          <p:nvPr/>
        </p:nvSpPr>
        <p:spPr>
          <a:xfrm>
            <a:off x="548640" y="4950000"/>
            <a:ext cx="11064240" cy="100000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2" name="CalloutText"/>
          <p:cNvSpPr/>
          <p:nvPr/>
        </p:nvSpPr>
        <p:spPr>
          <a:xfrm>
            <a:off x="777240" y="4950000"/>
            <a:ext cx="1060704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02FA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client gets: </a:t>
            </a: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documented, governed Adobe implementation — plus the evidence (audit deck + workbook) and the decisions (reconciliation workbook + email) to trust it and act.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809827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3253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63640" y="37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0" name="Shape BodyHiding"/>
          <p:cNvSpPr/>
          <p:nvPr/>
        </p:nvSpPr>
        <p:spPr>
          <a:xfrm>
            <a:off x="6263640" y="42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48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