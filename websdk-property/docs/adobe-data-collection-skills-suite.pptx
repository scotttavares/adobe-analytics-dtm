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672280-2287-44CF-BC4A-1BC94D499960}" v="4" dt="2026-07-28T17:19:31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Relationship Id="rId4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23444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58368" y="1298448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5836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25296" y="12435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Tech-Detector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225296" y="14904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Inspects the live site and reports the current martech — tag manager, AppMeasurement vs. Web SDK, Target, ECID, data layer, consent, and the IDs already present.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698480" y="12344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179679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8368" y="1860804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8368" y="1860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25296" y="18059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Setup-Plan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225296" y="205282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Turns a short interview into a governed implementation plan — property strategy, naming, environments, consent, approval gates, phased rollout, and compliance.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698480" y="1796796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PLAN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8640" y="235915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58368" y="2423160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58368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25296" y="23682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Data-Collection-Builder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225296" y="26151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Scrapes the site and builds the data-collection spec — the SDR and Web SDK XDM schema, plus a universal set of data elements and rules (page, forms, video, campaigns, links, IDs).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0698480" y="235915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48640" y="292150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58368" y="2985516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8368" y="2985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225296" y="29306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Property-Creator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225296" y="31775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Provisions the Adobe Launch property end-to-end via the Reactor API — extensions, data elements, rules, libraries, and the dev → staging → prod publish pipeline with approval gates and rollback.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10698480" y="292150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PUBLISH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48640" y="34838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658368" y="3547872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8368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225296" y="34930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Audit-Builder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1225296" y="3739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Audits the live configuration for the issues that matter — double-counting, environment separation, identity, consent, PII — and produces a findings deck and an audit workbook, every claim sourced.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698480" y="348386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48640" y="404622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58368" y="4110228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58368" y="41102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1225296" y="405536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Data-Reconciliation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1225296" y="43022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Reconciles the report suite's variables against what the property actually collects, classifies each into one honest status, and produces the reconciliation workbook and a client decisions email.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0698480" y="404622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777240" y="13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PROBLEM WITH MANUAL DELIVERY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777240" y="170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Adobe implementations are built by hand — clicking through Launch, hand-writing SDRs, eyeballing configs. It's slow, inconsistent between consultants, hard to QA, and rarely documented well enough to defend or repeat.</a:t>
            </a:r>
            <a:endParaRPr lang="en-US" sz="1150" dirty="0"/>
          </a:p>
        </p:txBody>
      </p:sp>
      <p:sp>
        <p:nvSpPr>
          <p:cNvPr id="110" name="Card"/>
          <p:cNvSpPr/>
          <p:nvPr/>
        </p:nvSpPr>
        <p:spPr>
          <a:xfrm>
            <a:off x="548640" y="285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777240" y="303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THAT COSTS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777240" y="335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Weeks of senior time on repetitive setup; errors that surface late — double-counting, broken identity, missed variables; and deliverables whose quality depends on who happened to build them.</a:t>
            </a:r>
            <a:endParaRPr lang="en-US" sz="1150" dirty="0"/>
          </a:p>
        </p:txBody>
      </p:sp>
      <p:sp>
        <p:nvSpPr>
          <p:cNvPr id="120" name="Card"/>
          <p:cNvSpPr/>
          <p:nvPr/>
        </p:nvSpPr>
        <p:spPr>
          <a:xfrm>
            <a:off x="548640" y="4500000"/>
            <a:ext cx="11064240" cy="18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777240" y="46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CHANGE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777240" y="5002920"/>
            <a:ext cx="10607040" cy="12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repetitive, error-prone work is automated and standardized. Every stage produces a client-ready artifact from live data, the same way every time — so consultants spend their hours on judgment and client decisions.</a:t>
            </a:r>
            <a:endParaRPr lang="en-US" sz="115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7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1783080" y="13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REUSABLE IP &amp; SPEED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1783080" y="170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one-off engagement becomes a repeatable asset. What took weeks of manual setup runs in hours; the next client reuses the same accelerators instead of starting over.</a:t>
            </a:r>
          </a:p>
        </p:txBody>
      </p:sp>
      <p:sp>
        <p:nvSpPr>
          <p:cNvPr id="110" name="Card"/>
          <p:cNvSpPr/>
          <p:nvPr/>
        </p:nvSpPr>
        <p:spPr>
          <a:xfrm>
            <a:off x="548640" y="3050000"/>
            <a:ext cx="11064240" cy="16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1783080" y="323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CONSISTENCY &amp; GOVERNANCE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1783080" y="355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same standards, naming, and quality bar on every engagement — with approval gates, rollback, and human sign-off built into the build and publish stages, not bolted on after.</a:t>
            </a:r>
          </a:p>
        </p:txBody>
      </p:sp>
      <p:sp>
        <p:nvSpPr>
          <p:cNvPr id="120" name="Card"/>
          <p:cNvSpPr/>
          <p:nvPr/>
        </p:nvSpPr>
        <p:spPr>
          <a:xfrm>
            <a:off x="548640" y="48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1783080" y="49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QUALITY FLOOR &amp; EVIDENCE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1783080" y="5302920"/>
            <a:ext cx="653796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Junior consultants ship senior-quality output. Every finding and recommendation is sourced from live configuration — capturable, repeatable, and defensible to a skeptical client.</a:t>
            </a:r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77240" y="1682496"/>
            <a:ext cx="777240" cy="777240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" name="Picture 207" descr="icon_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19" y="1857375"/>
            <a:ext cx="427482" cy="427482"/>
          </a:xfrm>
          <a:prstGeom prst="rect">
            <a:avLst/>
          </a:prstGeom>
        </p:spPr>
      </p:pic>
      <p:sp>
        <p:nvSpPr>
          <p:cNvPr id="209" name="Rounded Rectangle 208"/>
          <p:cNvSpPr/>
          <p:nvPr/>
        </p:nvSpPr>
        <p:spPr>
          <a:xfrm>
            <a:off x="8686800" y="165963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Faster delivery</a:t>
            </a:r>
          </a:p>
        </p:txBody>
      </p:sp>
      <p:sp>
        <p:nvSpPr>
          <p:cNvPr id="210" name="Oval 209"/>
          <p:cNvSpPr/>
          <p:nvPr/>
        </p:nvSpPr>
        <p:spPr>
          <a:xfrm>
            <a:off x="777240" y="3488436"/>
            <a:ext cx="777240" cy="777240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1" name="Picture 210" descr="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119" y="3663314"/>
            <a:ext cx="427482" cy="427482"/>
          </a:xfrm>
          <a:prstGeom prst="rect">
            <a:avLst/>
          </a:prstGeom>
        </p:spPr>
      </p:pic>
      <p:sp>
        <p:nvSpPr>
          <p:cNvPr id="212" name="Rounded Rectangle 211"/>
          <p:cNvSpPr/>
          <p:nvPr/>
        </p:nvSpPr>
        <p:spPr>
          <a:xfrm>
            <a:off x="8686800" y="346557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Consistent &amp; governed</a:t>
            </a:r>
          </a:p>
        </p:txBody>
      </p:sp>
      <p:sp>
        <p:nvSpPr>
          <p:cNvPr id="213" name="Oval 212"/>
          <p:cNvSpPr/>
          <p:nvPr/>
        </p:nvSpPr>
        <p:spPr>
          <a:xfrm>
            <a:off x="777240" y="5189220"/>
            <a:ext cx="777240" cy="777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" name="Picture 213" descr="icon_aw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119" y="5364099"/>
            <a:ext cx="427482" cy="427482"/>
          </a:xfrm>
          <a:prstGeom prst="rect">
            <a:avLst/>
          </a:prstGeom>
        </p:spPr>
      </p:pic>
      <p:sp>
        <p:nvSpPr>
          <p:cNvPr id="215" name="Rounded Rectangle 214"/>
          <p:cNvSpPr/>
          <p:nvPr/>
        </p:nvSpPr>
        <p:spPr>
          <a:xfrm>
            <a:off x="8686800" y="5166360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Defensible &amp; repeatable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36576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30352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4173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1417320" y="6400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7" name="Shape 3"/>
          <p:cNvSpPr/>
          <p:nvPr/>
        </p:nvSpPr>
        <p:spPr>
          <a:xfrm>
            <a:off x="548640" y="118872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772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48640" y="1783080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548640" y="17830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≈ 3–5× FASTER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548640" y="228600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73152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MANUAL WAY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31520" y="29672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1097280" y="28346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Current-state audit — 2–3 days clicking through Launch + captures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31520" y="34701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1097280" y="333756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SDR + XDM authored by hand — 1–2 weeks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31520" y="39730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1097280" y="3840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 provisioning in the UI — 3–5 days, error-prone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31520" y="44759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1097280" y="43434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 by hand — a full day of cross-referencing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263640" y="228600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263640" y="22860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44652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WITH THE SKILLS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446520" y="29672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812280" y="28346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+ audit — under half a day, sourced from live config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6446520" y="34701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812280" y="333756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SDR + XDM generated — about a day, universal patterns built in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446520" y="39730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6812280" y="3840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Provisioning via Reactor API — minutes, idempotent, with rollback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6446520" y="44759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6812280" y="43434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 — 1–2 hours, a reviewed draft, not a hand-build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582412"/>
            <a:ext cx="320040" cy="32004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1188720" y="5285232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2FA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Net effect: </a:t>
            </a: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multi-week manual engagement compressed to a handful of days — and the time that's left goes to judgment and client decisions, not repetitive setup.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pic>
        <p:nvPicPr>
          <p:cNvPr id="100" name="Checkmark 10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2996100"/>
            <a:ext cx="180000" cy="180000"/>
          </a:xfrm>
          <a:prstGeom prst="rect">
            <a:avLst/>
          </a:prstGeom>
        </p:spPr>
      </p:pic>
      <p:pic>
        <p:nvPicPr>
          <p:cNvPr id="101" name="Checkmark 10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3499020"/>
            <a:ext cx="180000" cy="180000"/>
          </a:xfrm>
          <a:prstGeom prst="rect">
            <a:avLst/>
          </a:prstGeom>
        </p:spPr>
      </p:pic>
      <p:pic>
        <p:nvPicPr>
          <p:cNvPr id="102" name="Checkmark 10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4001940"/>
            <a:ext cx="180000" cy="180000"/>
          </a:xfrm>
          <a:prstGeom prst="rect">
            <a:avLst/>
          </a:prstGeom>
        </p:spPr>
      </p:pic>
      <p:pic>
        <p:nvPicPr>
          <p:cNvPr id="103" name="Checkmark 10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4504860"/>
            <a:ext cx="180000" cy="180000"/>
          </a:xfrm>
          <a:prstGeom prst="rect">
            <a:avLst/>
          </a:prstGeom>
        </p:spPr>
      </p:pic>
      <p:pic>
        <p:nvPicPr>
          <p:cNvPr id="104" name="Checkmark 10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2996100"/>
            <a:ext cx="180000" cy="180000"/>
          </a:xfrm>
          <a:prstGeom prst="rect">
            <a:avLst/>
          </a:prstGeom>
        </p:spPr>
      </p:pic>
      <p:pic>
        <p:nvPicPr>
          <p:cNvPr id="105" name="Checkmark 10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3499020"/>
            <a:ext cx="180000" cy="180000"/>
          </a:xfrm>
          <a:prstGeom prst="rect">
            <a:avLst/>
          </a:prstGeom>
        </p:spPr>
      </p:pic>
      <p:pic>
        <p:nvPicPr>
          <p:cNvPr id="106" name="Checkmark 10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4001940"/>
            <a:ext cx="180000" cy="180000"/>
          </a:xfrm>
          <a:prstGeom prst="rect">
            <a:avLst/>
          </a:prstGeom>
        </p:spPr>
      </p:pic>
      <p:pic>
        <p:nvPicPr>
          <p:cNvPr id="107" name="Checkmark 10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4504860"/>
            <a:ext cx="180000" cy="180000"/>
          </a:xfrm>
          <a:prstGeom prst="rect">
            <a:avLst/>
          </a:prstGeom>
        </p:spPr>
      </p:pic>
      <p:sp>
        <p:nvSpPr>
          <p:cNvPr id="700" name="Badge Shape"/>
          <p:cNvSpPr/>
          <p:nvPr/>
        </p:nvSpPr>
        <p:spPr>
          <a:xfrm>
            <a:off x="3200400" y="1783080"/>
            <a:ext cx="1500000" cy="329184"/>
          </a:xfrm>
          <a:prstGeom prst="roundRect">
            <a:avLst>
              <a:gd name="adj" fmla="val 50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1" name="Badge Text"/>
          <p:cNvSpPr/>
          <p:nvPr/>
        </p:nvSpPr>
        <p:spPr>
          <a:xfrm>
            <a:off x="3200400" y="1783080"/>
            <a:ext cx="1500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ESTIMATE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pic>
        <p:nvPicPr>
          <p:cNvPr id="50" name="Picture 49" descr="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600200"/>
            <a:ext cx="11521440" cy="41696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809827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3253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63640" y="37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0" name="Shape BodyHiding"/>
          <p:cNvSpPr/>
          <p:nvPr/>
        </p:nvSpPr>
        <p:spPr>
          <a:xfrm>
            <a:off x="6263640" y="42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48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