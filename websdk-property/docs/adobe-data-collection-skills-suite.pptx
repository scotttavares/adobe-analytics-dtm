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743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45920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505456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64992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224528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84064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43600"/>
            <a:ext cx="54864" cy="274319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51760" y="1280160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E9E5B"/>
                </a:solidFill>
                <a:latin typeface="Avenir Next LT Pro"/>
              </a:rPr>
              <a:t>DETECT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51760" y="1554480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8680" y="1783080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Inspects the live site; reports the current martech stack.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590288" y="129844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E9E5B"/>
                </a:solidFill>
                <a:latin typeface="Calibri"/>
              </a:rPr>
              <a:t>01</a:t>
            </a:r>
          </a:p>
        </p:txBody>
      </p:sp>
      <p:sp>
        <p:nvSpPr>
          <p:cNvPr id="76" name="Oval 75"/>
          <p:cNvSpPr/>
          <p:nvPr/>
        </p:nvSpPr>
        <p:spPr>
          <a:xfrm>
            <a:off x="5760720" y="1316736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90472"/>
            <a:ext cx="310896" cy="31089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35824" y="2139696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12A5A0"/>
                </a:solidFill>
                <a:latin typeface="Avenir Next LT Pro"/>
              </a:rPr>
              <a:t>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35824" y="2414016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35824" y="2642616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Turns a short interview into a governed implementation plan.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21424" y="2157984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12A5A0"/>
                </a:solidFill>
                <a:latin typeface="Calibri"/>
              </a:rPr>
              <a:t>02</a:t>
            </a:r>
          </a:p>
        </p:txBody>
      </p:sp>
      <p:sp>
        <p:nvSpPr>
          <p:cNvPr id="82" name="Oval 81"/>
          <p:cNvSpPr/>
          <p:nvPr/>
        </p:nvSpPr>
        <p:spPr>
          <a:xfrm>
            <a:off x="5760720" y="2176272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50008"/>
            <a:ext cx="310896" cy="310896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2651760" y="2999232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1391C4"/>
                </a:solidFill>
                <a:latin typeface="Avenir Next LT Pro"/>
              </a:rPr>
              <a:t>BUILD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651760" y="3273552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3502152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Builds the SDR + Web SDK XDM schema, data elements &amp; rules.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90288" y="3017520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1391C4"/>
                </a:solidFill>
                <a:latin typeface="Calibri"/>
              </a:rPr>
              <a:t>03</a:t>
            </a:r>
          </a:p>
        </p:txBody>
      </p:sp>
      <p:sp>
        <p:nvSpPr>
          <p:cNvPr id="88" name="Oval 87"/>
          <p:cNvSpPr/>
          <p:nvPr/>
        </p:nvSpPr>
        <p:spPr>
          <a:xfrm>
            <a:off x="5760720" y="3035808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209544"/>
            <a:ext cx="310896" cy="310896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735824" y="3858768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PUBLISH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35824" y="4133088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35824" y="4361688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Provisions the Launch property end-to-end via the Reactor API.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21424" y="3877056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C62FB"/>
                </a:solidFill>
                <a:latin typeface="Calibri"/>
              </a:rPr>
              <a:t>04</a:t>
            </a:r>
          </a:p>
        </p:txBody>
      </p:sp>
      <p:sp>
        <p:nvSpPr>
          <p:cNvPr id="94" name="Oval 93"/>
          <p:cNvSpPr/>
          <p:nvPr/>
        </p:nvSpPr>
        <p:spPr>
          <a:xfrm>
            <a:off x="5760720" y="3895344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69080"/>
            <a:ext cx="310896" cy="31089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2651760" y="4718303"/>
            <a:ext cx="182880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700" b="1">
                <a:solidFill>
                  <a:srgbClr val="2547C8"/>
                </a:solidFill>
                <a:latin typeface="Avenir Next LT Pro"/>
              </a:rPr>
              <a:t>AUDIT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651760" y="4992624"/>
            <a:ext cx="18288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68680" y="5221224"/>
            <a:ext cx="361188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r"/>
            <a:r>
              <a:rPr sz="1050" b="0">
                <a:solidFill>
                  <a:srgbClr val="3E4759"/>
                </a:solidFill>
                <a:latin typeface="Avenir Next LT Pro"/>
              </a:rPr>
              <a:t>Audits the live config for the issues that matter.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90288" y="4736592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3000" b="1">
                <a:solidFill>
                  <a:srgbClr val="2547C8"/>
                </a:solidFill>
                <a:latin typeface="Calibri"/>
              </a:rPr>
              <a:t>05</a:t>
            </a:r>
          </a:p>
        </p:txBody>
      </p:sp>
      <p:sp>
        <p:nvSpPr>
          <p:cNvPr id="100" name="Oval 99"/>
          <p:cNvSpPr/>
          <p:nvPr/>
        </p:nvSpPr>
        <p:spPr>
          <a:xfrm>
            <a:off x="5760720" y="4754879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928616"/>
            <a:ext cx="310896" cy="31089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735824" y="5577840"/>
            <a:ext cx="2194560" cy="292608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RECONCILE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735824" y="5852160"/>
            <a:ext cx="274320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35824" y="6080760"/>
            <a:ext cx="3657600" cy="384048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1050" b="0">
                <a:solidFill>
                  <a:srgbClr val="3E4759"/>
                </a:solidFill>
                <a:latin typeface="Avenir Next LT Pro"/>
              </a:rPr>
              <a:t>Reconciles report-suite variables vs. what the property collects.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21424" y="5596128"/>
            <a:ext cx="777240" cy="6949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3000" b="1">
                <a:solidFill>
                  <a:srgbClr val="002FAF"/>
                </a:solidFill>
                <a:latin typeface="Calibri"/>
              </a:rPr>
              <a:t>06</a:t>
            </a:r>
          </a:p>
        </p:txBody>
      </p:sp>
      <p:sp>
        <p:nvSpPr>
          <p:cNvPr id="106" name="Oval 105"/>
          <p:cNvSpPr/>
          <p:nvPr/>
        </p:nvSpPr>
        <p:spPr>
          <a:xfrm>
            <a:off x="5760720" y="5614416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8815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idempotent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interview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