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7"/>
    <p:sldId id="300" r:id="rId4"/>
    <p:sldId id="301" r:id="rId5"/>
    <p:sldId id="260" r:id="rId8"/>
    <p:sldId id="287" r:id="rId27"/>
    <p:sldId id="294" r:id="rId33"/>
    <p:sldId id="302" r:id="rId16"/>
    <p:sldId id="303" r:id="rId17"/>
    <p:sldId id="296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55706" autoAdjust="0"/>
  </p:normalViewPr>
  <p:slideViewPr>
    <p:cSldViewPr snapToGrid="0" snapToObjects="1">
      <p:cViewPr varScale="1">
        <p:scale>
          <a:sx n="49" d="100"/>
          <a:sy n="49" d="100"/>
        </p:scale>
        <p:origin x="96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27" Type="http://schemas.openxmlformats.org/officeDocument/2006/relationships/slide" Target="slides/slide6.xml"/><Relationship Id="rId33" Type="http://schemas.openxmlformats.org/officeDocument/2006/relationships/slide" Target="slides/slide7.xml"/><Relationship Id="rId35" Type="http://schemas.openxmlformats.org/officeDocument/2006/relationships/slide" Target="slides/slide10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Relationship Id="rId41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cott Tavares" userId="64fa4b0e-5e10-4d25-bb9b-ad35997687ce" providerId="ADAL" clId="{3007A28F-8D06-469F-987C-A5228DD578DA}"/>
    <pc:docChg chg="undo custSel modSld">
      <pc:chgData name="Scott Tavares" userId="64fa4b0e-5e10-4d25-bb9b-ad35997687ce" providerId="ADAL" clId="{3007A28F-8D06-469F-987C-A5228DD578DA}" dt="2026-07-28T17:19:55.364" v="322" actId="20577"/>
      <pc:docMkLst>
        <pc:docMk/>
      </pc:docMkLst>
      <pc:sldChg chg="modNotesTx">
        <pc:chgData name="Scott Tavares" userId="64fa4b0e-5e10-4d25-bb9b-ad35997687ce" providerId="ADAL" clId="{3007A28F-8D06-469F-987C-A5228DD578DA}" dt="2026-07-28T17:19:55.364" v="322" actId="20577"/>
        <pc:sldMkLst>
          <pc:docMk/>
          <pc:sldMk cId="0" sldId="257"/>
        </pc:sldMkLst>
      </pc:sldChg>
      <pc:sldChg chg="modSp mod">
        <pc:chgData name="Scott Tavares" userId="64fa4b0e-5e10-4d25-bb9b-ad35997687ce" providerId="ADAL" clId="{3007A28F-8D06-469F-987C-A5228DD578DA}" dt="2026-07-20T18:56:21.484" v="71" actId="20577"/>
        <pc:sldMkLst>
          <pc:docMk/>
          <pc:sldMk cId="0" sldId="258"/>
        </pc:sldMkLst>
        <pc:spChg chg="mod">
          <ac:chgData name="Scott Tavares" userId="64fa4b0e-5e10-4d25-bb9b-ad35997687ce" providerId="ADAL" clId="{3007A28F-8D06-469F-987C-A5228DD578DA}" dt="2026-07-20T18:56:21.484" v="71" actId="20577"/>
          <ac:spMkLst>
            <pc:docMk/>
            <pc:sldMk cId="0" sldId="258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0.694" v="0" actId="20577"/>
        <pc:sldMkLst>
          <pc:docMk/>
          <pc:sldMk cId="0" sldId="263"/>
        </pc:sldMkLst>
      </pc:sldChg>
      <pc:sldChg chg="modSp mod modNotesTx">
        <pc:chgData name="Scott Tavares" userId="64fa4b0e-5e10-4d25-bb9b-ad35997687ce" providerId="ADAL" clId="{3007A28F-8D06-469F-987C-A5228DD578DA}" dt="2026-07-20T18:58:11.603" v="96" actId="20577"/>
        <pc:sldMkLst>
          <pc:docMk/>
          <pc:sldMk cId="0" sldId="264"/>
        </pc:sldMkLst>
        <pc:spChg chg="mod">
          <ac:chgData name="Scott Tavares" userId="64fa4b0e-5e10-4d25-bb9b-ad35997687ce" providerId="ADAL" clId="{3007A28F-8D06-469F-987C-A5228DD578DA}" dt="2026-07-20T18:58:11.603" v="96" actId="20577"/>
          <ac:spMkLst>
            <pc:docMk/>
            <pc:sldMk cId="0" sldId="264"/>
            <ac:spMk id="14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35.353" v="2" actId="20577"/>
        <pc:sldMkLst>
          <pc:docMk/>
          <pc:sldMk cId="0" sldId="265"/>
        </pc:sldMkLst>
      </pc:sldChg>
      <pc:sldChg chg="modSp mod modNotesTx">
        <pc:chgData name="Scott Tavares" userId="64fa4b0e-5e10-4d25-bb9b-ad35997687ce" providerId="ADAL" clId="{3007A28F-8D06-469F-987C-A5228DD578DA}" dt="2026-07-20T19:03:32.216" v="109" actId="20577"/>
        <pc:sldMkLst>
          <pc:docMk/>
          <pc:sldMk cId="0" sldId="266"/>
        </pc:sldMkLst>
        <pc:spChg chg="mod">
          <ac:chgData name="Scott Tavares" userId="64fa4b0e-5e10-4d25-bb9b-ad35997687ce" providerId="ADAL" clId="{3007A28F-8D06-469F-987C-A5228DD578DA}" dt="2026-07-20T19:03:32.216" v="109" actId="20577"/>
          <ac:spMkLst>
            <pc:docMk/>
            <pc:sldMk cId="0" sldId="266"/>
            <ac:spMk id="3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2:58.892" v="106" actId="20577"/>
          <ac:spMkLst>
            <pc:docMk/>
            <pc:sldMk cId="0" sldId="266"/>
            <ac:spMk id="38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38:41.572" v="4" actId="20577"/>
        <pc:sldMkLst>
          <pc:docMk/>
          <pc:sldMk cId="0" sldId="267"/>
        </pc:sldMkLst>
      </pc:sldChg>
      <pc:sldChg chg="modSp mod modNotesTx">
        <pc:chgData name="Scott Tavares" userId="64fa4b0e-5e10-4d25-bb9b-ad35997687ce" providerId="ADAL" clId="{3007A28F-8D06-469F-987C-A5228DD578DA}" dt="2026-07-20T19:04:31.670" v="111" actId="14100"/>
        <pc:sldMkLst>
          <pc:docMk/>
          <pc:sldMk cId="0" sldId="268"/>
        </pc:sldMkLst>
        <pc:spChg chg="mod">
          <ac:chgData name="Scott Tavares" userId="64fa4b0e-5e10-4d25-bb9b-ad35997687ce" providerId="ADAL" clId="{3007A28F-8D06-469F-987C-A5228DD578DA}" dt="2026-07-20T19:04:31.670" v="111" actId="14100"/>
          <ac:spMkLst>
            <pc:docMk/>
            <pc:sldMk cId="0" sldId="268"/>
            <ac:spMk id="29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02.972" v="114" actId="20577"/>
        <pc:sldMkLst>
          <pc:docMk/>
          <pc:sldMk cId="0" sldId="269"/>
        </pc:sldMkLst>
        <pc:spChg chg="mod">
          <ac:chgData name="Scott Tavares" userId="64fa4b0e-5e10-4d25-bb9b-ad35997687ce" providerId="ADAL" clId="{3007A28F-8D06-469F-987C-A5228DD578DA}" dt="2026-07-20T19:05:02.972" v="114" actId="20577"/>
          <ac:spMkLst>
            <pc:docMk/>
            <pc:sldMk cId="0" sldId="269"/>
            <ac:spMk id="10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5:40.342" v="131" actId="20577"/>
        <pc:sldMkLst>
          <pc:docMk/>
          <pc:sldMk cId="0" sldId="270"/>
        </pc:sldMkLst>
        <pc:spChg chg="mod">
          <ac:chgData name="Scott Tavares" userId="64fa4b0e-5e10-4d25-bb9b-ad35997687ce" providerId="ADAL" clId="{3007A28F-8D06-469F-987C-A5228DD578DA}" dt="2026-07-20T19:05:40.342" v="131" actId="20577"/>
          <ac:spMkLst>
            <pc:docMk/>
            <pc:sldMk cId="0" sldId="270"/>
            <ac:spMk id="21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06:30.400" v="157" actId="20577"/>
        <pc:sldMkLst>
          <pc:docMk/>
          <pc:sldMk cId="0" sldId="271"/>
        </pc:sldMkLst>
        <pc:spChg chg="mod">
          <ac:chgData name="Scott Tavares" userId="64fa4b0e-5e10-4d25-bb9b-ad35997687ce" providerId="ADAL" clId="{3007A28F-8D06-469F-987C-A5228DD578DA}" dt="2026-07-20T19:06:30.400" v="157" actId="20577"/>
          <ac:spMkLst>
            <pc:docMk/>
            <pc:sldMk cId="0" sldId="271"/>
            <ac:spMk id="26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0:58.869" v="10" actId="20577"/>
        <pc:sldMkLst>
          <pc:docMk/>
          <pc:sldMk cId="0" sldId="272"/>
        </pc:sldMkLst>
      </pc:sldChg>
      <pc:sldChg chg="modNotesTx">
        <pc:chgData name="Scott Tavares" userId="64fa4b0e-5e10-4d25-bb9b-ad35997687ce" providerId="ADAL" clId="{3007A28F-8D06-469F-987C-A5228DD578DA}" dt="2026-07-20T18:42:14.634" v="17" actId="20577"/>
        <pc:sldMkLst>
          <pc:docMk/>
          <pc:sldMk cId="0" sldId="274"/>
        </pc:sldMkLst>
      </pc:sldChg>
      <pc:sldChg chg="modSp mod modNotesTx">
        <pc:chgData name="Scott Tavares" userId="64fa4b0e-5e10-4d25-bb9b-ad35997687ce" providerId="ADAL" clId="{3007A28F-8D06-469F-987C-A5228DD578DA}" dt="2026-07-20T19:08:06.641" v="207" actId="1035"/>
        <pc:sldMkLst>
          <pc:docMk/>
          <pc:sldMk cId="0" sldId="275"/>
        </pc:sldMkLst>
        <pc:spChg chg="mod">
          <ac:chgData name="Scott Tavares" userId="64fa4b0e-5e10-4d25-bb9b-ad35997687ce" providerId="ADAL" clId="{3007A28F-8D06-469F-987C-A5228DD578DA}" dt="2026-07-20T19:07:12.566" v="159" actId="14100"/>
          <ac:spMkLst>
            <pc:docMk/>
            <pc:sldMk cId="0" sldId="275"/>
            <ac:spMk id="17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7:56.689" v="187" actId="20577"/>
          <ac:spMkLst>
            <pc:docMk/>
            <pc:sldMk cId="0" sldId="275"/>
            <ac:spMk id="1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8:06.641" v="207" actId="1035"/>
          <ac:spMkLst>
            <pc:docMk/>
            <pc:sldMk cId="0" sldId="275"/>
            <ac:spMk id="2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45:14.874" v="50" actId="20577"/>
        <pc:sldMkLst>
          <pc:docMk/>
          <pc:sldMk cId="0" sldId="277"/>
        </pc:sldMkLst>
      </pc:sldChg>
      <pc:sldChg chg="modNotesTx">
        <pc:chgData name="Scott Tavares" userId="64fa4b0e-5e10-4d25-bb9b-ad35997687ce" providerId="ADAL" clId="{3007A28F-8D06-469F-987C-A5228DD578DA}" dt="2026-07-20T18:45:22.367" v="51" actId="20577"/>
        <pc:sldMkLst>
          <pc:docMk/>
          <pc:sldMk cId="0" sldId="280"/>
        </pc:sldMkLst>
      </pc:sldChg>
      <pc:sldChg chg="modNotesTx">
        <pc:chgData name="Scott Tavares" userId="64fa4b0e-5e10-4d25-bb9b-ad35997687ce" providerId="ADAL" clId="{3007A28F-8D06-469F-987C-A5228DD578DA}" dt="2026-07-20T18:45:51.767" v="52" actId="20577"/>
        <pc:sldMkLst>
          <pc:docMk/>
          <pc:sldMk cId="0" sldId="281"/>
        </pc:sldMkLst>
      </pc:sldChg>
      <pc:sldChg chg="modNotesTx">
        <pc:chgData name="Scott Tavares" userId="64fa4b0e-5e10-4d25-bb9b-ad35997687ce" providerId="ADAL" clId="{3007A28F-8D06-469F-987C-A5228DD578DA}" dt="2026-07-20T18:48:54.229" v="62" actId="20577"/>
        <pc:sldMkLst>
          <pc:docMk/>
          <pc:sldMk cId="0" sldId="287"/>
        </pc:sldMkLst>
      </pc:sldChg>
      <pc:sldChg chg="addSp modSp mod modNotesTx">
        <pc:chgData name="Scott Tavares" userId="64fa4b0e-5e10-4d25-bb9b-ad35997687ce" providerId="ADAL" clId="{3007A28F-8D06-469F-987C-A5228DD578DA}" dt="2026-07-20T19:09:56.185" v="248" actId="164"/>
        <pc:sldMkLst>
          <pc:docMk/>
          <pc:sldMk cId="0" sldId="288"/>
        </pc:sldMkLst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6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8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9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0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1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2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4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5" creationId="{00000000-0000-0000-0000-000000000000}"/>
          </ac:spMkLst>
        </pc:spChg>
        <pc:spChg chg="mod">
          <ac:chgData name="Scott Tavares" userId="64fa4b0e-5e10-4d25-bb9b-ad35997687ce" providerId="ADAL" clId="{3007A28F-8D06-469F-987C-A5228DD578DA}" dt="2026-07-20T19:09:56.185" v="248" actId="164"/>
          <ac:spMkLst>
            <pc:docMk/>
            <pc:sldMk cId="0" sldId="288"/>
            <ac:spMk id="16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0:44.453" v="255" actId="20577"/>
        <pc:sldMkLst>
          <pc:docMk/>
          <pc:sldMk cId="0" sldId="290"/>
        </pc:sldMkLst>
        <pc:spChg chg="mod">
          <ac:chgData name="Scott Tavares" userId="64fa4b0e-5e10-4d25-bb9b-ad35997687ce" providerId="ADAL" clId="{3007A28F-8D06-469F-987C-A5228DD578DA}" dt="2026-07-20T19:10:44.453" v="255" actId="20577"/>
          <ac:spMkLst>
            <pc:docMk/>
            <pc:sldMk cId="0" sldId="290"/>
            <ac:spMk id="402" creationId="{00000000-0000-0000-0000-000000000000}"/>
          </ac:spMkLst>
        </pc:spChg>
      </pc:sldChg>
      <pc:sldChg chg="modSp mod modNotesTx">
        <pc:chgData name="Scott Tavares" userId="64fa4b0e-5e10-4d25-bb9b-ad35997687ce" providerId="ADAL" clId="{3007A28F-8D06-469F-987C-A5228DD578DA}" dt="2026-07-20T19:11:19.142" v="265" actId="1035"/>
        <pc:sldMkLst>
          <pc:docMk/>
          <pc:sldMk cId="0" sldId="292"/>
        </pc:sldMkLst>
        <pc:spChg chg="mod">
          <ac:chgData name="Scott Tavares" userId="64fa4b0e-5e10-4d25-bb9b-ad35997687ce" providerId="ADAL" clId="{3007A28F-8D06-469F-987C-A5228DD578DA}" dt="2026-07-20T19:11:19.142" v="265" actId="1035"/>
          <ac:spMkLst>
            <pc:docMk/>
            <pc:sldMk cId="0" sldId="292"/>
            <ac:spMk id="10" creationId="{00000000-0000-0000-0000-000000000000}"/>
          </ac:spMkLst>
        </pc:spChg>
      </pc:sldChg>
      <pc:sldChg chg="modNotesTx">
        <pc:chgData name="Scott Tavares" userId="64fa4b0e-5e10-4d25-bb9b-ad35997687ce" providerId="ADAL" clId="{3007A28F-8D06-469F-987C-A5228DD578DA}" dt="2026-07-20T18:51:25.583" v="69" actId="20577"/>
        <pc:sldMkLst>
          <pc:docMk/>
          <pc:sldMk cId="0" sldId="29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94870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Cover. The Adobe Data Collection Delivery Suite — six Claude Code skills that take a site from detection to a governed, measured Adobe implementation.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are. Six skills in one pipeline: Tech-Detector, Setup-Plan, Data-Collection-Builder, Property-Creator, Audit-Builder, Data-Reconciliation.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Time savings. Illustrative estimates: a multi-week manual engagement compressed to days. Labeled as estimates, not measured precision.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diagram. One pipeline in two phases — Build (detect/plan/build/publish) and Assure (audit/reconcile). Every output feeds the next.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they deliver. Build artifacts (SDR, XDM, live property) plus Assure artifacts (audit deck + workbook, reconciliation workbook + decisions email).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6.png"/><Relationship Id="rId8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.png"/><Relationship Id="rId4" Type="http://schemas.openxmlformats.org/officeDocument/2006/relationships/image" Target="../media/image18.png"/><Relationship Id="rId5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6.png"/><Relationship Id="rId7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1552" y="502920"/>
            <a:ext cx="1417320" cy="3657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  ·  ADOBE DELIVERY ACCELERATORS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640080" y="2834640"/>
            <a:ext cx="10789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Adobe Data Collection Delivery Suite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64008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Claude Code skills — from detecting a site's tags to a governed, measured Adobe implementation</a:t>
            </a:r>
            <a:endParaRPr lang="en-US" sz="1900" dirty="0"/>
          </a:p>
        </p:txBody>
      </p:sp>
      <p:sp>
        <p:nvSpPr>
          <p:cNvPr id="7" name="Text 3"/>
          <p:cNvSpPr/>
          <p:nvPr/>
        </p:nvSpPr>
        <p:spPr>
          <a:xfrm>
            <a:off x="640080" y="4297680"/>
            <a:ext cx="9418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300" i="1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 → Plan → Build → Publish → Audit → Reconcile — one governed pipeline, every output client-ready.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40080" y="5943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E93B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Prepared by Scott Tavares  •  Slalom Client Delivery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0" y="0"/>
            <a:ext cx="137160" cy="1371600"/>
          </a:xfrm>
          <a:prstGeom prst="rect">
            <a:avLst/>
          </a:prstGeom>
          <a:solidFill>
            <a:srgbClr val="DEFF4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6"/>
          <p:cNvSpPr/>
          <p:nvPr/>
        </p:nvSpPr>
        <p:spPr>
          <a:xfrm>
            <a:off x="0" y="1371600"/>
            <a:ext cx="137160" cy="137160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0" y="2743200"/>
            <a:ext cx="137160" cy="137160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0" y="4114800"/>
            <a:ext cx="137160" cy="137160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9"/>
          <p:cNvSpPr/>
          <p:nvPr/>
        </p:nvSpPr>
        <p:spPr>
          <a:xfrm>
            <a:off x="0" y="5486400"/>
            <a:ext cx="137160" cy="137160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SIX SKILLS, ONE DELIVERY PIPELINE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Are — and What They Deliver</a:t>
            </a:r>
            <a:endParaRPr lang="en-US" sz="2500" dirty="0"/>
          </a:p>
        </p:txBody>
      </p:sp>
      <p:sp>
        <p:nvSpPr>
          <p:cNvPr id="59" name="Shape 56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0" name="Shape 57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1" name="Shape 58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2" name="Shape 59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65" name="Rectangle 64"/>
          <p:cNvSpPr/>
          <p:nvPr/>
        </p:nvSpPr>
        <p:spPr>
          <a:xfrm>
            <a:off x="6062472" y="1371600"/>
            <a:ext cx="54864" cy="237744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62472" y="1609344"/>
            <a:ext cx="54864" cy="859536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062472" y="2468880"/>
            <a:ext cx="54864" cy="859536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062472" y="3328416"/>
            <a:ext cx="54864" cy="859536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62472" y="4187952"/>
            <a:ext cx="54864" cy="859535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62472" y="5047488"/>
            <a:ext cx="54864" cy="859536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062472" y="5907024"/>
            <a:ext cx="54864" cy="310895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4400" y="1197864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" y="1472184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Inspects the live site's martech.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1737360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E9E5B"/>
                </a:solidFill>
                <a:latin typeface="Avenir Next LT Pro"/>
              </a:rPr>
              <a:t>Current-state report</a:t>
            </a:r>
          </a:p>
        </p:txBody>
      </p:sp>
      <p:sp>
        <p:nvSpPr>
          <p:cNvPr id="75" name="Oval 74"/>
          <p:cNvSpPr/>
          <p:nvPr/>
        </p:nvSpPr>
        <p:spPr>
          <a:xfrm>
            <a:off x="5760720" y="1280160"/>
            <a:ext cx="658368" cy="658368"/>
          </a:xfrm>
          <a:prstGeom prst="ellipse">
            <a:avLst/>
          </a:prstGeom>
          <a:solidFill>
            <a:srgbClr val="2E9E5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456" y="1453896"/>
            <a:ext cx="310896" cy="310896"/>
          </a:xfrm>
          <a:prstGeom prst="rect">
            <a:avLst/>
          </a:prstGeom>
        </p:spPr>
      </p:pic>
      <p:sp>
        <p:nvSpPr>
          <p:cNvPr id="77" name="Oval 76"/>
          <p:cNvSpPr/>
          <p:nvPr/>
        </p:nvSpPr>
        <p:spPr>
          <a:xfrm>
            <a:off x="6181344" y="170078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66560" y="2057400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66560" y="2331720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Turns a scoping Q&amp;A into a build plan.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66560" y="2596896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2A5A0"/>
                </a:solidFill>
                <a:latin typeface="Avenir Next LT Pro"/>
              </a:rPr>
              <a:t>Governed plan + property blueprint</a:t>
            </a:r>
          </a:p>
        </p:txBody>
      </p:sp>
      <p:sp>
        <p:nvSpPr>
          <p:cNvPr id="81" name="Oval 80"/>
          <p:cNvSpPr/>
          <p:nvPr/>
        </p:nvSpPr>
        <p:spPr>
          <a:xfrm>
            <a:off x="5760720" y="2139696"/>
            <a:ext cx="658368" cy="658368"/>
          </a:xfrm>
          <a:prstGeom prst="ellipse">
            <a:avLst/>
          </a:prstGeom>
          <a:solidFill>
            <a:srgbClr val="12A5A0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34456" y="2313432"/>
            <a:ext cx="310896" cy="310896"/>
          </a:xfrm>
          <a:prstGeom prst="rect">
            <a:avLst/>
          </a:prstGeom>
        </p:spPr>
      </p:pic>
      <p:sp>
        <p:nvSpPr>
          <p:cNvPr id="83" name="Oval 82"/>
          <p:cNvSpPr/>
          <p:nvPr/>
        </p:nvSpPr>
        <p:spPr>
          <a:xfrm>
            <a:off x="6181344" y="2560320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14400" y="2916936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14400" y="3191256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Generates the data-collection spec.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14400" y="3456432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1391C4"/>
                </a:solidFill>
                <a:latin typeface="Avenir Next LT Pro"/>
              </a:rPr>
              <a:t>SDR (CSV) + XDM schema + data elements &amp; rules</a:t>
            </a:r>
          </a:p>
        </p:txBody>
      </p:sp>
      <p:sp>
        <p:nvSpPr>
          <p:cNvPr id="87" name="Oval 86"/>
          <p:cNvSpPr/>
          <p:nvPr/>
        </p:nvSpPr>
        <p:spPr>
          <a:xfrm>
            <a:off x="5760720" y="2999232"/>
            <a:ext cx="658368" cy="658368"/>
          </a:xfrm>
          <a:prstGeom prst="ellipse">
            <a:avLst/>
          </a:prstGeom>
          <a:solidFill>
            <a:srgbClr val="1391C4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8" name="Picture 8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4456" y="3172968"/>
            <a:ext cx="310896" cy="310896"/>
          </a:xfrm>
          <a:prstGeom prst="rect">
            <a:avLst/>
          </a:prstGeom>
        </p:spPr>
      </p:pic>
      <p:sp>
        <p:nvSpPr>
          <p:cNvPr id="89" name="Oval 88"/>
          <p:cNvSpPr/>
          <p:nvPr/>
        </p:nvSpPr>
        <p:spPr>
          <a:xfrm>
            <a:off x="6181344" y="3419856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3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766560" y="3776472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766560" y="4050791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Provisions the property via the API.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4315968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C62FB"/>
                </a:solidFill>
                <a:latin typeface="Avenir Next LT Pro"/>
              </a:rPr>
              <a:t>A live Adobe Launch property</a:t>
            </a:r>
          </a:p>
        </p:txBody>
      </p:sp>
      <p:sp>
        <p:nvSpPr>
          <p:cNvPr id="93" name="Oval 92"/>
          <p:cNvSpPr/>
          <p:nvPr/>
        </p:nvSpPr>
        <p:spPr>
          <a:xfrm>
            <a:off x="5760720" y="3858768"/>
            <a:ext cx="658368" cy="658368"/>
          </a:xfrm>
          <a:prstGeom prst="ellipse">
            <a:avLst/>
          </a:prstGeom>
          <a:solidFill>
            <a:srgbClr val="0C62FB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34456" y="4032504"/>
            <a:ext cx="310896" cy="310896"/>
          </a:xfrm>
          <a:prstGeom prst="rect">
            <a:avLst/>
          </a:prstGeom>
        </p:spPr>
      </p:pic>
      <p:sp>
        <p:nvSpPr>
          <p:cNvPr id="95" name="Oval 94"/>
          <p:cNvSpPr/>
          <p:nvPr/>
        </p:nvSpPr>
        <p:spPr>
          <a:xfrm>
            <a:off x="6181344" y="4279392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14400" y="4636007"/>
            <a:ext cx="448056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5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4910327"/>
            <a:ext cx="448056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1000" b="0">
                <a:solidFill>
                  <a:srgbClr val="3E4759"/>
                </a:solidFill>
                <a:latin typeface="Avenir Next LT Pro"/>
              </a:rPr>
              <a:t>Audits the live configuration.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14400" y="5175503"/>
            <a:ext cx="448056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r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2547C8"/>
                </a:solidFill>
                <a:latin typeface="Avenir Next LT Pro"/>
              </a:rPr>
              <a:t>Findings deck (PPTX) + audit workbook (XLSX)</a:t>
            </a:r>
          </a:p>
        </p:txBody>
      </p:sp>
      <p:sp>
        <p:nvSpPr>
          <p:cNvPr id="99" name="Oval 98"/>
          <p:cNvSpPr/>
          <p:nvPr/>
        </p:nvSpPr>
        <p:spPr>
          <a:xfrm>
            <a:off x="5760720" y="4718303"/>
            <a:ext cx="658368" cy="658368"/>
          </a:xfrm>
          <a:prstGeom prst="ellipse">
            <a:avLst/>
          </a:prstGeom>
          <a:solidFill>
            <a:srgbClr val="2547C8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34456" y="4892040"/>
            <a:ext cx="310896" cy="310896"/>
          </a:xfrm>
          <a:prstGeom prst="rect">
            <a:avLst/>
          </a:prstGeom>
        </p:spPr>
      </p:pic>
      <p:sp>
        <p:nvSpPr>
          <p:cNvPr id="101" name="Oval 100"/>
          <p:cNvSpPr/>
          <p:nvPr/>
        </p:nvSpPr>
        <p:spPr>
          <a:xfrm>
            <a:off x="6181344" y="5138927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766560" y="5495544"/>
            <a:ext cx="4846320" cy="27432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766560" y="5769864"/>
            <a:ext cx="4846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0">
                <a:solidFill>
                  <a:srgbClr val="3E4759"/>
                </a:solidFill>
                <a:latin typeface="Avenir Next LT Pro"/>
              </a:rPr>
              <a:t>Report suite vs. the live property.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766560" y="6035040"/>
            <a:ext cx="4846320" cy="256032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750" b="1">
                <a:solidFill>
                  <a:srgbClr val="9AA6BF"/>
                </a:solidFill>
                <a:latin typeface="Avenir Next LT Pro"/>
              </a:rPr>
              <a:t>DELIVERS  </a:t>
            </a:r>
            <a:r>
              <a:rPr sz="950" b="1">
                <a:solidFill>
                  <a:srgbClr val="002FAF"/>
                </a:solidFill>
                <a:latin typeface="Avenir Next LT Pro"/>
              </a:rPr>
              <a:t>Reconciliation workbook (XLSX) + decisions email</a:t>
            </a:r>
          </a:p>
        </p:txBody>
      </p:sp>
      <p:sp>
        <p:nvSpPr>
          <p:cNvPr id="105" name="Oval 104"/>
          <p:cNvSpPr/>
          <p:nvPr/>
        </p:nvSpPr>
        <p:spPr>
          <a:xfrm>
            <a:off x="5760720" y="5577840"/>
            <a:ext cx="658368" cy="658368"/>
          </a:xfrm>
          <a:prstGeom prst="ellipse">
            <a:avLst/>
          </a:prstGeom>
          <a:solidFill>
            <a:srgbClr val="002FAF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34456" y="5751576"/>
            <a:ext cx="310896" cy="310896"/>
          </a:xfrm>
          <a:prstGeom prst="rect">
            <a:avLst/>
          </a:prstGeom>
        </p:spPr>
      </p:pic>
      <p:sp>
        <p:nvSpPr>
          <p:cNvPr id="107" name="Oval 106"/>
          <p:cNvSpPr/>
          <p:nvPr/>
        </p:nvSpPr>
        <p:spPr>
          <a:xfrm>
            <a:off x="6181344" y="5998464"/>
            <a:ext cx="256032" cy="256032"/>
          </a:xfrm>
          <a:prstGeom prst="ellipse">
            <a:avLst/>
          </a:prstGeom>
          <a:solidFill>
            <a:srgbClr val="FFFFFF"/>
          </a:solidFill>
          <a:ln w="9525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17203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WE USE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Why the Skills Exist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</a:p>
        </p:txBody>
      </p:sp>
      <p:sp>
        <p:nvSpPr>
          <p:cNvPr id="207" name="Rounded Rectangle 206"/>
          <p:cNvSpPr/>
          <p:nvPr/>
        </p:nvSpPr>
        <p:spPr>
          <a:xfrm>
            <a:off x="54864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TextBox 207"/>
          <p:cNvSpPr txBox="1"/>
          <p:nvPr/>
        </p:nvSpPr>
        <p:spPr>
          <a:xfrm>
            <a:off x="77724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FF4D5F"/>
                </a:solidFill>
                <a:latin typeface="Avenir Next LT Pro"/>
              </a:rPr>
              <a:t>The Problem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77724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MANUAL DELIVERY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841247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Adobe implementations are built by hand — clicking through Launch, hand-writing SDRs, eyeballing configs. Slow, inconsistent between consultants, hard to QA, rarely well-documented.</a:t>
            </a:r>
          </a:p>
        </p:txBody>
      </p:sp>
      <p:sp>
        <p:nvSpPr>
          <p:cNvPr id="211" name="Oval 210"/>
          <p:cNvSpPr/>
          <p:nvPr/>
        </p:nvSpPr>
        <p:spPr>
          <a:xfrm>
            <a:off x="1851660" y="1554480"/>
            <a:ext cx="914400" cy="914400"/>
          </a:xfrm>
          <a:prstGeom prst="ellipse">
            <a:avLst/>
          </a:prstGeom>
          <a:solidFill>
            <a:srgbClr val="FF4D5F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2" name="Picture 211" descr="icon_ale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9404" y="1792224"/>
            <a:ext cx="438912" cy="438912"/>
          </a:xfrm>
          <a:prstGeom prst="rect">
            <a:avLst/>
          </a:prstGeom>
        </p:spPr>
      </p:pic>
      <p:sp>
        <p:nvSpPr>
          <p:cNvPr id="213" name="Oval 212"/>
          <p:cNvSpPr/>
          <p:nvPr/>
        </p:nvSpPr>
        <p:spPr>
          <a:xfrm>
            <a:off x="245516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01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434340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457200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E8833A"/>
                </a:solidFill>
                <a:latin typeface="Avenir Next LT Pro"/>
              </a:rPr>
              <a:t>What It Costs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57200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WHERE THE TIME GOES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463600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Weeks of senior time on repetitive setup. Errors surface late — double-counting, broken identity, missed variables — and quality depends on who happened to build it.</a:t>
            </a:r>
          </a:p>
        </p:txBody>
      </p:sp>
      <p:sp>
        <p:nvSpPr>
          <p:cNvPr id="218" name="Oval 217"/>
          <p:cNvSpPr/>
          <p:nvPr/>
        </p:nvSpPr>
        <p:spPr>
          <a:xfrm>
            <a:off x="5646420" y="1554480"/>
            <a:ext cx="914400" cy="914400"/>
          </a:xfrm>
          <a:prstGeom prst="ellipse">
            <a:avLst/>
          </a:prstGeom>
          <a:solidFill>
            <a:srgbClr val="E8833A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164" y="1792224"/>
            <a:ext cx="438912" cy="438912"/>
          </a:xfrm>
          <a:prstGeom prst="rect">
            <a:avLst/>
          </a:prstGeom>
        </p:spPr>
      </p:pic>
      <p:sp>
        <p:nvSpPr>
          <p:cNvPr id="220" name="Oval 219"/>
          <p:cNvSpPr/>
          <p:nvPr/>
        </p:nvSpPr>
        <p:spPr>
          <a:xfrm>
            <a:off x="624992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02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8138160" y="2011680"/>
            <a:ext cx="3520440" cy="2606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TextBox 221"/>
          <p:cNvSpPr txBox="1"/>
          <p:nvPr/>
        </p:nvSpPr>
        <p:spPr>
          <a:xfrm>
            <a:off x="8366760" y="2761488"/>
            <a:ext cx="306324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600" b="1">
                <a:solidFill>
                  <a:srgbClr val="2E9E5B"/>
                </a:solidFill>
                <a:latin typeface="Avenir Next LT Pro"/>
              </a:rPr>
              <a:t>What the Skills Change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8366760" y="3108960"/>
            <a:ext cx="3063240" cy="21945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1000" b="1">
                <a:solidFill>
                  <a:srgbClr val="8792AB"/>
                </a:solidFill>
                <a:latin typeface="Avenir Next LT Pro"/>
              </a:rPr>
              <a:t>GOVERNED &amp; REPEATABLE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430768" y="3401568"/>
            <a:ext cx="2935224" cy="10972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00" b="0">
                <a:solidFill>
                  <a:srgbClr val="3E4759"/>
                </a:solidFill>
                <a:latin typeface="Avenir Next LT Pro"/>
              </a:rPr>
              <a:t>The repetitive, error-prone work is automated and standardized. Every stage produces a client-ready artifact from live data — the same way every time.</a:t>
            </a:r>
          </a:p>
        </p:txBody>
      </p:sp>
      <p:sp>
        <p:nvSpPr>
          <p:cNvPr id="225" name="Oval 224"/>
          <p:cNvSpPr/>
          <p:nvPr/>
        </p:nvSpPr>
        <p:spPr>
          <a:xfrm>
            <a:off x="9441180" y="1554480"/>
            <a:ext cx="914400" cy="914400"/>
          </a:xfrm>
          <a:prstGeom prst="ellipse">
            <a:avLst/>
          </a:prstGeom>
          <a:solidFill>
            <a:srgbClr val="2E9E5B"/>
          </a:solidFill>
          <a:ln w="508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con_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8924" y="1792224"/>
            <a:ext cx="438912" cy="438912"/>
          </a:xfrm>
          <a:prstGeom prst="rect">
            <a:avLst/>
          </a:prstGeom>
        </p:spPr>
      </p:pic>
      <p:sp>
        <p:nvSpPr>
          <p:cNvPr id="227" name="Oval 226"/>
          <p:cNvSpPr/>
          <p:nvPr/>
        </p:nvSpPr>
        <p:spPr>
          <a:xfrm>
            <a:off x="10044684" y="2157984"/>
            <a:ext cx="329184" cy="32918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5DC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200" b="1">
                <a:solidFill>
                  <a:srgbClr val="17203A"/>
                </a:solidFill>
                <a:latin typeface="Calibri"/>
              </a:rPr>
              <a:t>03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406908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863840" y="3063240"/>
            <a:ext cx="384048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2600" b="1">
                <a:solidFill>
                  <a:srgbClr val="C6D0E4"/>
                </a:solidFill>
                <a:latin typeface="Calibri"/>
              </a:rPr>
              <a:t>❯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400" b="1">
                <a:solidFill>
                  <a:srgbClr val="002FAF"/>
                </a:solidFill>
                <a:latin typeface="Avenir Next LT Pro"/>
              </a:rPr>
              <a:t>The shift: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a bespoke, manual engagement becomes a governed, repeatable pipeline — consultants spend their hours on judgment and client decisions, not setup.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YOU GET FROM THEM</a:t>
            </a:r>
            <a:endParaRPr lang="en-US" sz="1200" dirty="0"/>
          </a:p>
        </p:txBody>
      </p:sp>
      <p:sp>
        <p:nvSpPr>
          <p:cNvPr id="5" name="Text 1"/>
          <p:cNvSpPr/>
          <p:nvPr/>
        </p:nvSpPr>
        <p:spPr>
          <a:xfrm>
            <a:off x="548640" y="5943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Value Add</a:t>
            </a:r>
            <a:endParaRPr lang="en-US" sz="2500" dirty="0"/>
          </a:p>
        </p:txBody>
      </p:sp>
      <p:sp>
        <p:nvSpPr>
          <p:cNvPr id="200" name="Shape Bar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1" name="Shape Bar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2" name="Shape Bar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3" name="Shape Bar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4" name="Shape Bar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5" name="Text Copyright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6666"/>
                </a:solidFill>
              </a:rPr>
              <a:t>© Slalom. All Rights Reserved. Proprietary and Confidential.</a:t>
            </a:r>
          </a:p>
        </p:txBody>
      </p:sp>
      <p:sp>
        <p:nvSpPr>
          <p:cNvPr id="206" name="Text PageNum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</a:p>
        </p:txBody>
      </p:sp>
      <p:sp>
        <p:nvSpPr>
          <p:cNvPr id="207" name="Oval 206"/>
          <p:cNvSpPr/>
          <p:nvPr/>
        </p:nvSpPr>
        <p:spPr>
          <a:xfrm>
            <a:off x="731520" y="1700784"/>
            <a:ext cx="4206240" cy="4206240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1261872" y="2231136"/>
            <a:ext cx="3145536" cy="314553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1792224" y="2761488"/>
            <a:ext cx="2084831" cy="2084831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1463040" y="1810512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EVIDENCE</a:t>
            </a:r>
          </a:p>
        </p:txBody>
      </p:sp>
      <p:sp>
        <p:nvSpPr>
          <p:cNvPr id="211" name="TextBox 210"/>
          <p:cNvSpPr txBox="1"/>
          <p:nvPr/>
        </p:nvSpPr>
        <p:spPr>
          <a:xfrm>
            <a:off x="1463040" y="2340864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GOVERNANCE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1463040" y="2871216"/>
            <a:ext cx="274320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venir Next LT Pro"/>
              </a:rPr>
              <a:t>SPEED</a:t>
            </a:r>
          </a:p>
        </p:txBody>
      </p:sp>
      <p:sp>
        <p:nvSpPr>
          <p:cNvPr id="213" name="Oval 212"/>
          <p:cNvSpPr/>
          <p:nvPr/>
        </p:nvSpPr>
        <p:spPr>
          <a:xfrm>
            <a:off x="2286000" y="3255264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5DE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TextBox 213"/>
          <p:cNvSpPr txBox="1"/>
          <p:nvPr/>
        </p:nvSpPr>
        <p:spPr>
          <a:xfrm>
            <a:off x="2304288" y="3584448"/>
            <a:ext cx="1060704" cy="256032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ctr"/>
            <a:r>
              <a:rPr sz="1100" b="1">
                <a:solidFill>
                  <a:srgbClr val="002FAF"/>
                </a:solidFill>
                <a:latin typeface="Avenir Next LT Pro"/>
              </a:rPr>
              <a:t>CLIENT VALUE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2304288" y="3822191"/>
            <a:ext cx="1060704" cy="31089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ctr"/>
            <a:r>
              <a:rPr sz="850" b="0">
                <a:solidFill>
                  <a:srgbClr val="6B7280"/>
                </a:solidFill>
                <a:latin typeface="Avenir Next LT Pro"/>
              </a:rPr>
              <a:t>compounds every engagement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5577840" y="16916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Rounded Rectangle 216"/>
          <p:cNvSpPr/>
          <p:nvPr/>
        </p:nvSpPr>
        <p:spPr>
          <a:xfrm>
            <a:off x="5577840" y="16916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ounded Rectangle 217"/>
          <p:cNvSpPr/>
          <p:nvPr/>
        </p:nvSpPr>
        <p:spPr>
          <a:xfrm>
            <a:off x="5797296" y="18745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9" name="Picture 21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2" y="1956816"/>
            <a:ext cx="182880" cy="182880"/>
          </a:xfrm>
          <a:prstGeom prst="rect">
            <a:avLst/>
          </a:prstGeom>
        </p:spPr>
      </p:pic>
      <p:sp>
        <p:nvSpPr>
          <p:cNvPr id="220" name="TextBox 219"/>
          <p:cNvSpPr txBox="1"/>
          <p:nvPr/>
        </p:nvSpPr>
        <p:spPr>
          <a:xfrm>
            <a:off x="6272783" y="18928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02FAF"/>
                </a:solidFill>
                <a:latin typeface="Avenir Next LT Pro"/>
              </a:rPr>
              <a:t>Reusable IP &amp; Speed</a:t>
            </a:r>
          </a:p>
        </p:txBody>
      </p:sp>
      <p:sp>
        <p:nvSpPr>
          <p:cNvPr id="221" name="Rounded Rectangle 220"/>
          <p:cNvSpPr/>
          <p:nvPr/>
        </p:nvSpPr>
        <p:spPr>
          <a:xfrm>
            <a:off x="9491472" y="18928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Faster delivery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5815583" y="23500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A one-off engagement becomes a repeatable asset — weeks of manual setup run in hours; the next client reuses the same accelerators.</a:t>
            </a:r>
          </a:p>
        </p:txBody>
      </p:sp>
      <p:sp>
        <p:nvSpPr>
          <p:cNvPr id="223" name="Rounded Rectangle 222"/>
          <p:cNvSpPr/>
          <p:nvPr/>
        </p:nvSpPr>
        <p:spPr>
          <a:xfrm>
            <a:off x="5577840" y="30632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ounded Rectangle 223"/>
          <p:cNvSpPr/>
          <p:nvPr/>
        </p:nvSpPr>
        <p:spPr>
          <a:xfrm>
            <a:off x="5577840" y="30632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ounded Rectangle 224"/>
          <p:cNvSpPr/>
          <p:nvPr/>
        </p:nvSpPr>
        <p:spPr>
          <a:xfrm>
            <a:off x="5797296" y="32461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6" name="Picture 22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2" y="3328416"/>
            <a:ext cx="182880" cy="182880"/>
          </a:xfrm>
          <a:prstGeom prst="rect">
            <a:avLst/>
          </a:prstGeom>
        </p:spPr>
      </p:pic>
      <p:sp>
        <p:nvSpPr>
          <p:cNvPr id="227" name="TextBox 226"/>
          <p:cNvSpPr txBox="1"/>
          <p:nvPr/>
        </p:nvSpPr>
        <p:spPr>
          <a:xfrm>
            <a:off x="6272783" y="3264408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C62FB"/>
                </a:solidFill>
                <a:latin typeface="Avenir Next LT Pro"/>
              </a:rPr>
              <a:t>Consistency &amp; Governance</a:t>
            </a:r>
          </a:p>
        </p:txBody>
      </p:sp>
      <p:sp>
        <p:nvSpPr>
          <p:cNvPr id="228" name="Rounded Rectangle 227"/>
          <p:cNvSpPr/>
          <p:nvPr/>
        </p:nvSpPr>
        <p:spPr>
          <a:xfrm>
            <a:off x="9491472" y="3264408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Consistent &amp; governed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5815583" y="3721608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The same standards, naming and quality bar every time — approval gates, rollback and human sign-off built into build and publish.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577840" y="4434840"/>
            <a:ext cx="6062472" cy="1280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577840" y="4434840"/>
            <a:ext cx="91440" cy="1280160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Rounded Rectangle 231"/>
          <p:cNvSpPr/>
          <p:nvPr/>
        </p:nvSpPr>
        <p:spPr>
          <a:xfrm>
            <a:off x="5797296" y="4617720"/>
            <a:ext cx="347472" cy="347472"/>
          </a:xfrm>
          <a:prstGeom prst="roundRect">
            <a:avLst>
              <a:gd name="adj" fmla="val 26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3" name="Picture 23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4700016"/>
            <a:ext cx="182880" cy="182880"/>
          </a:xfrm>
          <a:prstGeom prst="rect">
            <a:avLst/>
          </a:prstGeom>
        </p:spPr>
      </p:pic>
      <p:sp>
        <p:nvSpPr>
          <p:cNvPr id="234" name="TextBox 233"/>
          <p:cNvSpPr txBox="1"/>
          <p:nvPr/>
        </p:nvSpPr>
        <p:spPr>
          <a:xfrm>
            <a:off x="6272783" y="4636007"/>
            <a:ext cx="3383280" cy="32918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700" b="1">
                <a:solidFill>
                  <a:srgbClr val="0E8FA0"/>
                </a:solidFill>
                <a:latin typeface="Avenir Next LT Pro"/>
              </a:rPr>
              <a:t>A Quality Floor &amp; Evidence</a:t>
            </a:r>
          </a:p>
        </p:txBody>
      </p:sp>
      <p:sp>
        <p:nvSpPr>
          <p:cNvPr id="235" name="Rounded Rectangle 234"/>
          <p:cNvSpPr/>
          <p:nvPr/>
        </p:nvSpPr>
        <p:spPr>
          <a:xfrm>
            <a:off x="9491472" y="4636007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Avenir Next LT Pro"/>
              </a:rPr>
              <a:t>Defensible &amp; repeatable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5815583" y="5093207"/>
            <a:ext cx="5605272" cy="54864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0">
                <a:solidFill>
                  <a:srgbClr val="3E4759"/>
                </a:solidFill>
                <a:latin typeface="Avenir Next LT Pro"/>
              </a:rPr>
              <a:t>Junior consultants ship senior-quality output — every finding sourced from live config, capturable and defensible to a skeptical client.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548640" y="384048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BOTTOM LINE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64008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Time Savings — Weeks to Days</a:t>
            </a:r>
            <a:endParaRPr lang="en-US" sz="2100" dirty="0"/>
          </a:p>
        </p:txBody>
      </p:sp>
      <p:sp>
        <p:nvSpPr>
          <p:cNvPr id="8" name="Text 4"/>
          <p:cNvSpPr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Illustrative effort for a typical mid-size Adobe migration — manual delivery vs. the skills. The point isn't the exact hours; it's where senior time goes.</a:t>
            </a:r>
            <a:endParaRPr lang="en-US" sz="1150" dirty="0"/>
          </a:p>
        </p:txBody>
      </p:sp>
      <p:sp>
        <p:nvSpPr>
          <p:cNvPr id="36" name="Shape 3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Shape 3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Shape 3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Shape 3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1" name="Text 3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2" name="Text 3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43" name="Rounded Rectangle 42"/>
          <p:cNvSpPr/>
          <p:nvPr/>
        </p:nvSpPr>
        <p:spPr>
          <a:xfrm>
            <a:off x="548640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713232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icon_trendu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" y="1837943"/>
            <a:ext cx="182880" cy="18288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694944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C62FB"/>
                </a:solidFill>
                <a:latin typeface="Calibri"/>
              </a:rPr>
              <a:t>3–5×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4944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Faster end-to-end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355848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3520440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icon_cloc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3592" y="1837943"/>
            <a:ext cx="182880" cy="18288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3502152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0E8FA0"/>
                </a:solidFill>
                <a:latin typeface="Calibri"/>
              </a:rPr>
              <a:t>~2 wks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502152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Effort saved / migration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63056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327648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6B5C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con_layer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837943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309360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6B5CA5"/>
                </a:solidFill>
                <a:latin typeface="Calibri"/>
              </a:rPr>
              <a:t>6→1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Skills, one pipeline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970264" y="1600200"/>
            <a:ext cx="2670048" cy="12344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9134856" y="1764792"/>
            <a:ext cx="329184" cy="329184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08008" y="1837943"/>
            <a:ext cx="182880" cy="18288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116568" y="2167128"/>
            <a:ext cx="2395728" cy="402336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2700" b="1">
                <a:solidFill>
                  <a:srgbClr val="2E9E5B"/>
                </a:solidFill>
                <a:latin typeface="Calibri"/>
              </a:rPr>
              <a:t>100%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116568" y="2542032"/>
            <a:ext cx="2395728" cy="237744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150" b="1">
                <a:solidFill>
                  <a:srgbClr val="6B7280"/>
                </a:solidFill>
                <a:latin typeface="Calibri"/>
              </a:rPr>
              <a:t>Repeatable &amp; documented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48640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548640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THE MANUAL WAY</a:t>
            </a:r>
          </a:p>
        </p:txBody>
      </p:sp>
      <p:sp>
        <p:nvSpPr>
          <p:cNvPr id="65" name="Oval 64"/>
          <p:cNvSpPr/>
          <p:nvPr/>
        </p:nvSpPr>
        <p:spPr>
          <a:xfrm>
            <a:off x="749808" y="3538728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60704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Current-state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2–3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 clicking through the UI</a:t>
            </a:r>
          </a:p>
        </p:txBody>
      </p:sp>
      <p:sp>
        <p:nvSpPr>
          <p:cNvPr id="67" name="Oval 66"/>
          <p:cNvSpPr/>
          <p:nvPr/>
        </p:nvSpPr>
        <p:spPr>
          <a:xfrm>
            <a:off x="749808" y="3968496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0704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authored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weeks</a:t>
            </a:r>
          </a:p>
        </p:txBody>
      </p:sp>
      <p:sp>
        <p:nvSpPr>
          <p:cNvPr id="69" name="Oval 68"/>
          <p:cNvSpPr/>
          <p:nvPr/>
        </p:nvSpPr>
        <p:spPr>
          <a:xfrm>
            <a:off x="749808" y="4398264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0704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Property provisioning in the UI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3–5 days</a:t>
            </a:r>
            <a:r>
              <a:rPr sz="1250" b="0">
                <a:solidFill>
                  <a:srgbClr val="3E4759"/>
                </a:solidFill>
                <a:latin typeface="Calibri"/>
              </a:rPr>
              <a:t>, error-prone</a:t>
            </a:r>
          </a:p>
        </p:txBody>
      </p:sp>
      <p:sp>
        <p:nvSpPr>
          <p:cNvPr id="71" name="Oval 70"/>
          <p:cNvSpPr/>
          <p:nvPr/>
        </p:nvSpPr>
        <p:spPr>
          <a:xfrm>
            <a:off x="749808" y="4828031"/>
            <a:ext cx="219456" cy="219456"/>
          </a:xfrm>
          <a:prstGeom prst="ellipse">
            <a:avLst/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×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0704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by hand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 full day</a:t>
            </a:r>
            <a:r>
              <a:rPr sz="1250" b="0">
                <a:solidFill>
                  <a:srgbClr val="3E4759"/>
                </a:solidFill>
                <a:latin typeface="Calibri"/>
              </a:rPr>
              <a:t> of cross-referencing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199632" y="2971800"/>
            <a:ext cx="5440680" cy="2331720"/>
          </a:xfrm>
          <a:prstGeom prst="roundRect">
            <a:avLst>
              <a:gd name="adj" fmla="val 4500"/>
            </a:avLst>
          </a:prstGeom>
          <a:solidFill>
            <a:srgbClr val="F7F9FC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ounded Rectangle 73"/>
          <p:cNvSpPr/>
          <p:nvPr/>
        </p:nvSpPr>
        <p:spPr>
          <a:xfrm>
            <a:off x="6199632" y="2971800"/>
            <a:ext cx="5440680" cy="420624"/>
          </a:xfrm>
          <a:prstGeom prst="roundRect">
            <a:avLst>
              <a:gd name="adj" fmla="val 1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WITH THE SKILLS</a:t>
            </a:r>
          </a:p>
        </p:txBody>
      </p:sp>
      <p:sp>
        <p:nvSpPr>
          <p:cNvPr id="75" name="Oval 74"/>
          <p:cNvSpPr/>
          <p:nvPr/>
        </p:nvSpPr>
        <p:spPr>
          <a:xfrm>
            <a:off x="6400800" y="3538728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11696" y="3502152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Detect + audit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under half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sourced from the live site</a:t>
            </a:r>
          </a:p>
        </p:txBody>
      </p:sp>
      <p:sp>
        <p:nvSpPr>
          <p:cNvPr id="77" name="Oval 76"/>
          <p:cNvSpPr/>
          <p:nvPr/>
        </p:nvSpPr>
        <p:spPr>
          <a:xfrm>
            <a:off x="6400800" y="3968496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11696" y="3931920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SDR + XDM generated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about a day</a:t>
            </a:r>
            <a:r>
              <a:rPr sz="1250" b="0">
                <a:solidFill>
                  <a:srgbClr val="3E4759"/>
                </a:solidFill>
                <a:latin typeface="Calibri"/>
              </a:rPr>
              <a:t>, one universal pattern</a:t>
            </a:r>
          </a:p>
        </p:txBody>
      </p:sp>
      <p:sp>
        <p:nvSpPr>
          <p:cNvPr id="79" name="Oval 78"/>
          <p:cNvSpPr/>
          <p:nvPr/>
        </p:nvSpPr>
        <p:spPr>
          <a:xfrm>
            <a:off x="6400800" y="4398264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711696" y="4361688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Provisioning via Reactor API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minutes</a:t>
            </a:r>
            <a:r>
              <a:rPr sz="1250" b="0">
                <a:solidFill>
                  <a:srgbClr val="3E4759"/>
                </a:solidFill>
                <a:latin typeface="Calibri"/>
              </a:rPr>
              <a:t>, safe to re-run</a:t>
            </a:r>
          </a:p>
        </p:txBody>
      </p:sp>
      <p:sp>
        <p:nvSpPr>
          <p:cNvPr id="81" name="Oval 80"/>
          <p:cNvSpPr/>
          <p:nvPr/>
        </p:nvSpPr>
        <p:spPr>
          <a:xfrm>
            <a:off x="6400800" y="4828031"/>
            <a:ext cx="219456" cy="219456"/>
          </a:xfrm>
          <a:prstGeom prst="ellipse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11696" y="4791455"/>
            <a:ext cx="4754880" cy="402336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50" b="0">
                <a:solidFill>
                  <a:srgbClr val="3E4759"/>
                </a:solidFill>
                <a:latin typeface="Calibri"/>
              </a:rPr>
              <a:t>Reconciliation — </a:t>
            </a:r>
            <a:r>
              <a:rPr sz="1250" b="1">
                <a:solidFill>
                  <a:srgbClr val="17203A"/>
                </a:solidFill>
                <a:latin typeface="Calibri"/>
              </a:rPr>
              <a:t>1–2 hours</a:t>
            </a:r>
            <a:r>
              <a:rPr sz="1250" b="0">
                <a:solidFill>
                  <a:srgbClr val="3E4759"/>
                </a:solidFill>
                <a:latin typeface="Calibri"/>
              </a:rPr>
              <a:t>, a reviewed draft + decisions email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68112"/>
            <a:ext cx="11091672" cy="658368"/>
          </a:xfrm>
          <a:prstGeom prst="roundRect">
            <a:avLst>
              <a:gd name="adj" fmla="val 10000"/>
            </a:avLst>
          </a:prstGeom>
          <a:solidFill>
            <a:srgbClr val="EE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548640" y="5468112"/>
            <a:ext cx="82296" cy="65836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68680" y="5468112"/>
            <a:ext cx="10607040" cy="65836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Net effect: </a:t>
            </a:r>
            <a:r>
              <a:rPr sz="1400" b="0">
                <a:solidFill>
                  <a:srgbClr val="3E4759"/>
                </a:solidFill>
                <a:latin typeface="Calibri"/>
              </a:rPr>
              <a:t>a multi-week manual engagement compresses to a few governed days — and every run is documented, repeatable, and auditable.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548640" y="3200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4D5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THEY WORK TOGETHER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548640" y="5943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Pipeline: Detection to Decisions</a:t>
            </a:r>
            <a:endParaRPr lang="en-US" sz="2500" dirty="0"/>
          </a:p>
        </p:txBody>
      </p:sp>
      <p:sp>
        <p:nvSpPr>
          <p:cNvPr id="101" name="BoxText"/>
          <p:cNvSpPr/>
          <p:nvPr/>
        </p:nvSpPr>
        <p:spPr>
          <a:xfrm>
            <a:off x="548640" y="15727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Starts from the client's live site — inspected directly. Then each stage feeds the next, and every output is a client-ready artifact.</a:t>
            </a:r>
          </a:p>
        </p:txBody>
      </p:sp>
      <p:sp>
        <p:nvSpPr>
          <p:cNvPr id="43" name="Shape 39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Shape 40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1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Shape 42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3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4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49" name="Text 45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102" name="Rounded Rectangle 101"/>
          <p:cNvSpPr/>
          <p:nvPr/>
        </p:nvSpPr>
        <p:spPr>
          <a:xfrm>
            <a:off x="548640" y="1965960"/>
            <a:ext cx="7315200" cy="3703320"/>
          </a:xfrm>
          <a:prstGeom prst="roundRect">
            <a:avLst>
              <a:gd name="adj" fmla="val 3500"/>
            </a:avLst>
          </a:prstGeom>
          <a:solidFill>
            <a:srgbClr val="F5F8FF"/>
          </a:solidFill>
          <a:ln w="12700">
            <a:solidFill>
              <a:srgbClr val="E4E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7955279" y="1965960"/>
            <a:ext cx="3685032" cy="3703320"/>
          </a:xfrm>
          <a:prstGeom prst="roundRect">
            <a:avLst>
              <a:gd name="adj" fmla="val 3500"/>
            </a:avLst>
          </a:prstGeom>
          <a:solidFill>
            <a:srgbClr val="EFFAFB"/>
          </a:solidFill>
          <a:ln w="12700">
            <a:solidFill>
              <a:srgbClr val="D8EF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713232" y="2066543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BUILD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691640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Stand up the implementation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8119872" y="2066543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ASSURE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125712" y="2084831"/>
            <a:ext cx="2560320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000" b="1">
                <a:solidFill>
                  <a:srgbClr val="8792AB"/>
                </a:solidFill>
                <a:latin typeface="Calibri"/>
              </a:rPr>
              <a:t>Prove it &amp; decide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188720" y="4114800"/>
            <a:ext cx="320040" cy="5029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508760" y="4114800"/>
            <a:ext cx="1828800" cy="50292"/>
          </a:xfrm>
          <a:prstGeom prst="rect">
            <a:avLst/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337560" y="4114800"/>
            <a:ext cx="1828800" cy="50292"/>
          </a:xfrm>
          <a:prstGeom prst="rect">
            <a:avLst/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166360" y="4114800"/>
            <a:ext cx="1828800" cy="50292"/>
          </a:xfrm>
          <a:prstGeom prst="rect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6995160" y="4114800"/>
            <a:ext cx="1828800" cy="50292"/>
          </a:xfrm>
          <a:prstGeom prst="rect">
            <a:avLst/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8823960" y="4114800"/>
            <a:ext cx="182880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652760" y="4114800"/>
            <a:ext cx="320040" cy="50292"/>
          </a:xfrm>
          <a:prstGeom prst="rect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4950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ounded Rectangle 115"/>
          <p:cNvSpPr/>
          <p:nvPr/>
        </p:nvSpPr>
        <p:spPr>
          <a:xfrm>
            <a:off x="6400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ounded Rectangle 116"/>
          <p:cNvSpPr/>
          <p:nvPr/>
        </p:nvSpPr>
        <p:spPr>
          <a:xfrm>
            <a:off x="7498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8" name="Picture 11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7" y="2537460"/>
            <a:ext cx="164592" cy="164592"/>
          </a:xfrm>
          <a:prstGeom prst="rect">
            <a:avLst/>
          </a:prstGeom>
        </p:spPr>
      </p:pic>
      <p:sp>
        <p:nvSpPr>
          <p:cNvPr id="119" name="TextBox 118"/>
          <p:cNvSpPr txBox="1"/>
          <p:nvPr/>
        </p:nvSpPr>
        <p:spPr>
          <a:xfrm>
            <a:off x="11155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E9E5B"/>
                </a:solidFill>
                <a:latin typeface="Calibri"/>
              </a:rPr>
              <a:t>Detect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1155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498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Inspects the live site; reports the current stack.</a:t>
            </a:r>
          </a:p>
        </p:txBody>
      </p:sp>
      <p:sp>
        <p:nvSpPr>
          <p:cNvPr id="122" name="Oval 121"/>
          <p:cNvSpPr/>
          <p:nvPr/>
        </p:nvSpPr>
        <p:spPr>
          <a:xfrm>
            <a:off x="1280160" y="3909060"/>
            <a:ext cx="457200" cy="457200"/>
          </a:xfrm>
          <a:prstGeom prst="ellipse">
            <a:avLst/>
          </a:prstGeom>
          <a:solidFill>
            <a:srgbClr val="2E9E5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238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4688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25786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6" name="Picture 125" descr="icon_clipbo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47188" y="4750308"/>
            <a:ext cx="164592" cy="164592"/>
          </a:xfrm>
          <a:prstGeom prst="rect">
            <a:avLst/>
          </a:prstGeom>
        </p:spPr>
      </p:pic>
      <p:sp>
        <p:nvSpPr>
          <p:cNvPr id="127" name="TextBox 126"/>
          <p:cNvSpPr txBox="1"/>
          <p:nvPr/>
        </p:nvSpPr>
        <p:spPr>
          <a:xfrm>
            <a:off x="29443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2A5A0"/>
                </a:solidFill>
                <a:latin typeface="Calibri"/>
              </a:rPr>
              <a:t>Plan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9443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25786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 short scoping Q&amp;A → a governed build plan.</a:t>
            </a:r>
          </a:p>
        </p:txBody>
      </p:sp>
      <p:sp>
        <p:nvSpPr>
          <p:cNvPr id="130" name="Oval 129"/>
          <p:cNvSpPr/>
          <p:nvPr/>
        </p:nvSpPr>
        <p:spPr>
          <a:xfrm>
            <a:off x="3108960" y="3909060"/>
            <a:ext cx="457200" cy="457200"/>
          </a:xfrm>
          <a:prstGeom prst="ellipse">
            <a:avLst/>
          </a:prstGeom>
          <a:solidFill>
            <a:srgbClr val="12A5A0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152644" y="3566160"/>
            <a:ext cx="27432" cy="548639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4297680" y="2359152"/>
            <a:ext cx="1737360" cy="120700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44074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icon_too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75988" y="2537460"/>
            <a:ext cx="164592" cy="164592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47731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1391C4"/>
                </a:solidFill>
                <a:latin typeface="Calibri"/>
              </a:rPr>
              <a:t>Build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773168" y="2679192"/>
            <a:ext cx="1188720" cy="36576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4407408" y="309067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Generates the SDR, XDM schema, elements &amp; rules.</a:t>
            </a:r>
          </a:p>
        </p:txBody>
      </p:sp>
      <p:sp>
        <p:nvSpPr>
          <p:cNvPr id="138" name="Oval 137"/>
          <p:cNvSpPr/>
          <p:nvPr/>
        </p:nvSpPr>
        <p:spPr>
          <a:xfrm>
            <a:off x="4937760" y="3909060"/>
            <a:ext cx="457200" cy="457200"/>
          </a:xfrm>
          <a:prstGeom prst="ellipse">
            <a:avLst/>
          </a:prstGeom>
          <a:solidFill>
            <a:srgbClr val="1391C4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9814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ounded Rectangle 139"/>
          <p:cNvSpPr/>
          <p:nvPr/>
        </p:nvSpPr>
        <p:spPr>
          <a:xfrm>
            <a:off x="61264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ounded Rectangle 140"/>
          <p:cNvSpPr/>
          <p:nvPr/>
        </p:nvSpPr>
        <p:spPr>
          <a:xfrm>
            <a:off x="62362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icon_uploa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4788" y="4750308"/>
            <a:ext cx="164592" cy="164592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66019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C62FB"/>
                </a:solidFill>
                <a:latin typeface="Calibri"/>
              </a:rPr>
              <a:t>Publish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66019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362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Provisions the Launch property via the API.</a:t>
            </a:r>
          </a:p>
        </p:txBody>
      </p:sp>
      <p:sp>
        <p:nvSpPr>
          <p:cNvPr id="146" name="Oval 145"/>
          <p:cNvSpPr/>
          <p:nvPr/>
        </p:nvSpPr>
        <p:spPr>
          <a:xfrm>
            <a:off x="6766560" y="3909060"/>
            <a:ext cx="457200" cy="457200"/>
          </a:xfrm>
          <a:prstGeom prst="ellipse">
            <a:avLst/>
          </a:prstGeom>
          <a:solidFill>
            <a:srgbClr val="0C62FB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810244" y="3410712"/>
            <a:ext cx="27432" cy="70408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7955280" y="2359152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ounded Rectangle 148"/>
          <p:cNvSpPr/>
          <p:nvPr/>
        </p:nvSpPr>
        <p:spPr>
          <a:xfrm>
            <a:off x="8065008" y="2468880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0" name="Picture 149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33588" y="2537460"/>
            <a:ext cx="164592" cy="164592"/>
          </a:xfrm>
          <a:prstGeom prst="rect">
            <a:avLst/>
          </a:prstGeom>
        </p:spPr>
      </p:pic>
      <p:sp>
        <p:nvSpPr>
          <p:cNvPr id="151" name="TextBox 150"/>
          <p:cNvSpPr txBox="1"/>
          <p:nvPr/>
        </p:nvSpPr>
        <p:spPr>
          <a:xfrm>
            <a:off x="8430768" y="2459736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2547C8"/>
                </a:solidFill>
                <a:latin typeface="Calibri"/>
              </a:rPr>
              <a:t>Audit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430768" y="2679192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8065008" y="2907792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Audits the live config — findings deck + workbook.</a:t>
            </a:r>
          </a:p>
        </p:txBody>
      </p:sp>
      <p:sp>
        <p:nvSpPr>
          <p:cNvPr id="154" name="Oval 153"/>
          <p:cNvSpPr/>
          <p:nvPr/>
        </p:nvSpPr>
        <p:spPr>
          <a:xfrm>
            <a:off x="8595360" y="3909060"/>
            <a:ext cx="457200" cy="457200"/>
          </a:xfrm>
          <a:prstGeom prst="ellipse">
            <a:avLst/>
          </a:prstGeom>
          <a:solidFill>
            <a:srgbClr val="2547C8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10639044" y="4165091"/>
            <a:ext cx="27432" cy="406908"/>
          </a:xfrm>
          <a:prstGeom prst="rect">
            <a:avLst/>
          </a:prstGeom>
          <a:solidFill>
            <a:srgbClr val="C6D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9784080" y="4572000"/>
            <a:ext cx="173736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9893808" y="4681728"/>
            <a:ext cx="301752" cy="301752"/>
          </a:xfrm>
          <a:prstGeom prst="roundRect">
            <a:avLst>
              <a:gd name="adj" fmla="val 28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8" name="Picture 157" descr="icon_refres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962388" y="4750308"/>
            <a:ext cx="164592" cy="164592"/>
          </a:xfrm>
          <a:prstGeom prst="rect">
            <a:avLst/>
          </a:prstGeom>
        </p:spPr>
      </p:pic>
      <p:sp>
        <p:nvSpPr>
          <p:cNvPr id="159" name="TextBox 158"/>
          <p:cNvSpPr txBox="1"/>
          <p:nvPr/>
        </p:nvSpPr>
        <p:spPr>
          <a:xfrm>
            <a:off x="10259568" y="4672584"/>
            <a:ext cx="1170432" cy="237744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Calibri"/>
              </a:rPr>
              <a:t>Reconcile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259568" y="4892040"/>
            <a:ext cx="1188720" cy="219456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893808" y="5120640"/>
            <a:ext cx="1517904" cy="457200"/>
          </a:xfrm>
          <a:prstGeom prst="rect">
            <a:avLst/>
          </a:prstGeom>
          <a:noFill/>
        </p:spPr>
        <p:txBody>
          <a:bodyPr wrap="square" lIns="18288" rIns="18288" tIns="0" bIns="0" anchor="t">
            <a:spAutoFit/>
          </a:bodyPr>
          <a:lstStyle/>
          <a:p>
            <a:pPr algn="l"/>
            <a:r>
              <a:rPr sz="950" b="0">
                <a:solidFill>
                  <a:srgbClr val="3E4759"/>
                </a:solidFill>
                <a:latin typeface="Calibri"/>
              </a:rPr>
              <a:t>Report suite vs. property — workbook + email.</a:t>
            </a:r>
          </a:p>
        </p:txBody>
      </p:sp>
      <p:sp>
        <p:nvSpPr>
          <p:cNvPr id="162" name="Oval 161"/>
          <p:cNvSpPr/>
          <p:nvPr/>
        </p:nvSpPr>
        <p:spPr>
          <a:xfrm>
            <a:off x="10424160" y="3909060"/>
            <a:ext cx="457200" cy="457200"/>
          </a:xfrm>
          <a:prstGeom prst="ellipse">
            <a:avLst/>
          </a:prstGeom>
          <a:solidFill>
            <a:srgbClr val="002FAF"/>
          </a:solidFill>
          <a:ln w="2857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548640" y="5742432"/>
            <a:ext cx="11091672" cy="457200"/>
          </a:xfrm>
          <a:prstGeom prst="roundRect">
            <a:avLst>
              <a:gd name="adj" fmla="val 14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749808" y="5934456"/>
            <a:ext cx="82296" cy="82296"/>
          </a:xfrm>
          <a:prstGeom prst="ellipse">
            <a:avLst/>
          </a:prstGeom>
          <a:solidFill>
            <a:srgbClr val="1BE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32688" y="5742432"/>
            <a:ext cx="10515600" cy="457200"/>
          </a:xfrm>
          <a:prstGeom prst="rect">
            <a:avLst/>
          </a:prstGeom>
          <a:noFill/>
        </p:spPr>
        <p:txBody>
          <a:bodyPr wrap="square" lIns="18288" rIns="18288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One governed pipeline — </a:t>
            </a:r>
            <a:r>
              <a:rPr sz="1200" b="1">
                <a:solidFill>
                  <a:srgbClr val="8FE9F6"/>
                </a:solidFill>
                <a:latin typeface="Calibri"/>
              </a:rPr>
              <a:t>every output feeds the next.</a:t>
            </a:r>
            <a:r>
              <a:rPr sz="1200" b="0">
                <a:solidFill>
                  <a:srgbClr val="FFFFFF"/>
                </a:solidFill>
                <a:latin typeface="Calibri"/>
              </a:rPr>
              <a:t>  The client gets a documented implementation, the evidence to trust it, and the decisions to 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LANDS ON THE TABLE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What the Skills Deliver to the Client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77240" y="1481328"/>
            <a:ext cx="1060704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PIPELINE, TWO KINDS OF DELIVERABLE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777240" y="1755648"/>
            <a:ext cx="106070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artifacts stand up the implementation; Assure artifacts prove it works and tee up the decisions only the client can make.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48640" y="2377440"/>
            <a:ext cx="11064240" cy="594360"/>
          </a:xfrm>
          <a:prstGeom prst="roundRect">
            <a:avLst>
              <a:gd name="adj" fmla="val 13846"/>
            </a:avLst>
          </a:prstGeom>
          <a:solidFill>
            <a:srgbClr val="F2F2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777240" y="2450592"/>
            <a:ext cx="365760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0E8FA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EVERY ENGAGEMENT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77240" y="2651760"/>
            <a:ext cx="106070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current-state baseline of exactly what's running today — sourced from the live site, not a stale export.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48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C62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731520" y="315468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BUILD DELIVERABLES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63640" y="3154680"/>
            <a:ext cx="5349240" cy="365760"/>
          </a:xfrm>
          <a:prstGeom prst="roundRect">
            <a:avLst>
              <a:gd name="adj" fmla="val 17500"/>
            </a:avLst>
          </a:prstGeom>
          <a:solidFill>
            <a:srgbClr val="0E8FA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446520" y="3154680"/>
            <a:ext cx="49834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ASSURE DELIVERABLES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1005840" y="3631131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The SDR and Web SDK XDM schema — the documented data-collection spec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05840" y="4146648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live, published Launch property — extensions, data elements, rules, environments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720840" y="3703320"/>
            <a:ext cx="489204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findings audit deck + audit workbook — every claim sourced from live config</a:t>
            </a:r>
            <a:endParaRPr lang="en-US" sz="1100" dirty="0"/>
          </a:p>
        </p:txBody>
      </p:sp>
      <p:sp>
        <p:nvSpPr>
          <p:cNvPr id="151" name="Text BodyHiding"/>
          <p:cNvSpPr/>
          <p:nvPr/>
        </p:nvSpPr>
        <p:spPr>
          <a:xfrm>
            <a:off x="6720840" y="4203320"/>
            <a:ext cx="489204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reconciliation workbook — every variable's status, orphans and no-ops surfaced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720840" y="4703320"/>
            <a:ext cx="489204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A client decisions email — the handful of calls only the client can make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7</a:t>
            </a:r>
            <a:endParaRPr lang="en-US" sz="1000" dirty="0"/>
          </a:p>
        </p:txBody>
      </p:sp>
      <p:sp>
        <p:nvSpPr>
          <p:cNvPr id="152" name="Oval 151"/>
          <p:cNvSpPr/>
          <p:nvPr/>
        </p:nvSpPr>
        <p:spPr>
          <a:xfrm>
            <a:off x="548640" y="3809827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" name="Picture 152" descr="icon_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37" y="3878224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4" name="Oval 153"/>
          <p:cNvSpPr/>
          <p:nvPr/>
        </p:nvSpPr>
        <p:spPr>
          <a:xfrm>
            <a:off x="548640" y="4325344"/>
            <a:ext cx="310896" cy="310896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5" name="Picture 154" descr="icon_serv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037" y="4393741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6" name="Oval 155"/>
          <p:cNvSpPr/>
          <p:nvPr/>
        </p:nvSpPr>
        <p:spPr>
          <a:xfrm>
            <a:off x="6263640" y="3782015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icon_search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2037" y="3850413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58" name="Oval 157"/>
          <p:cNvSpPr/>
          <p:nvPr/>
        </p:nvSpPr>
        <p:spPr>
          <a:xfrm>
            <a:off x="6263640" y="42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9" name="Picture 158" descr="icon_gr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2037" y="4350413"/>
            <a:ext cx="174101" cy="174101"/>
          </a:xfrm>
          <a:prstGeom prst="rect">
            <a:avLst/>
          </a:prstGeom>
          <a:ln>
            <a:noFill/>
          </a:ln>
        </p:spPr>
      </p:pic>
      <p:sp>
        <p:nvSpPr>
          <p:cNvPr id="160" name="Oval 159"/>
          <p:cNvSpPr/>
          <p:nvPr/>
        </p:nvSpPr>
        <p:spPr>
          <a:xfrm>
            <a:off x="6263640" y="4882016"/>
            <a:ext cx="310896" cy="310896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1" name="Picture 160" descr="icon_mai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32037" y="4950413"/>
            <a:ext cx="174101" cy="174101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GET STARTED IN ONE LINE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How to Invoke the Skills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Each skill triggers from natural language — </a:t>
            </a:r>
            <a:r>
              <a:rPr sz="1400" b="1">
                <a:solidFill>
                  <a:srgbClr val="17203A"/>
                </a:solidFill>
                <a:latin typeface="Avenir Next LT Pro"/>
              </a:rPr>
              <a:t>type a prompt like these</a:t>
            </a:r>
            <a:r>
              <a:rPr sz="1400" b="0">
                <a:solidFill>
                  <a:srgbClr val="5A6478"/>
                </a:solidFill>
                <a:latin typeface="Avenir Next LT Pro"/>
              </a:rPr>
              <a:t> in Claude Code and the matching skill takes over. No commands to memorise.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68096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56231"/>
            <a:ext cx="182880" cy="18288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280160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E9E5B"/>
                </a:solidFill>
                <a:latin typeface="Avenir Next LT Pro"/>
              </a:rPr>
              <a:t>Detect  </a:t>
            </a:r>
            <a:r>
              <a:rPr sz="1200" b="0">
                <a:solidFill>
                  <a:srgbClr val="6B7280"/>
                </a:solidFill>
                <a:latin typeface="Consolas"/>
              </a:rPr>
              <a:t>tech-detector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8096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96112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E9E5B"/>
                </a:solidFill>
                <a:latin typeface="Consolas"/>
              </a:rPr>
              <a:t>❯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52144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What's running on slalom.com — Web SDK or AppMeasurement?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99632" y="1572768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419088" y="1755648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2A5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1856231"/>
            <a:ext cx="182880" cy="18288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931152" y="1755648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2A5A0"/>
                </a:solidFill>
                <a:latin typeface="Avenir Next LT Pro"/>
              </a:rPr>
              <a:t>Plan  </a:t>
            </a:r>
            <a:r>
              <a:rPr sz="1200" b="0">
                <a:solidFill>
                  <a:srgbClr val="6B7280"/>
                </a:solidFill>
                <a:latin typeface="Consolas"/>
              </a:rPr>
              <a:t>setup-plan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19088" y="2286000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47104" y="2286000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2A5A0"/>
                </a:solidFill>
                <a:latin typeface="Consolas"/>
              </a:rPr>
              <a:t>❯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3136" y="2304288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Plan the Adobe Launch migration for slalom.com.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48640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68096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1391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74720"/>
            <a:ext cx="182880" cy="18288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280160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1391C4"/>
                </a:solidFill>
                <a:latin typeface="Avenir Next LT Pro"/>
              </a:rPr>
              <a:t>Build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data-collection-builder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96112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1391C4"/>
                </a:solidFill>
                <a:latin typeface="Consolas"/>
              </a:rPr>
              <a:t>❯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52144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Build the SDR + Web SDK XDM schema for slalom.com.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199632" y="3191256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419088" y="3374136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5" name="Picture 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9672" y="3474720"/>
            <a:ext cx="182880" cy="1828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931152" y="3374136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C62FB"/>
                </a:solidFill>
                <a:latin typeface="Avenir Next LT Pro"/>
              </a:rPr>
              <a:t>Publish  </a:t>
            </a:r>
            <a:r>
              <a:rPr sz="1200" b="0">
                <a:solidFill>
                  <a:srgbClr val="6B7280"/>
                </a:solidFill>
                <a:latin typeface="Consolas"/>
              </a:rPr>
              <a:t>property-creator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419088" y="3904488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47104" y="3904488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C62FB"/>
                </a:solidFill>
                <a:latin typeface="Consolas"/>
              </a:rPr>
              <a:t>❯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03136" y="3922776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Create slalom.com's Launch property and publish dev → prod.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48640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768096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2547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5093208"/>
            <a:ext cx="182880" cy="18288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280160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2547C8"/>
                </a:solidFill>
                <a:latin typeface="Avenir Next LT Pro"/>
              </a:rPr>
              <a:t>Audit  </a:t>
            </a:r>
            <a:r>
              <a:rPr sz="1200" b="0">
                <a:solidFill>
                  <a:srgbClr val="6B7280"/>
                </a:solidFill>
                <a:latin typeface="Consolas"/>
              </a:rPr>
              <a:t>audit-builder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768096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6112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2547C8"/>
                </a:solidFill>
                <a:latin typeface="Consolas"/>
              </a:rPr>
              <a:t>❯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52144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99632" y="4809744"/>
            <a:ext cx="5440680" cy="145389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7E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6419088" y="4992624"/>
            <a:ext cx="384048" cy="384048"/>
          </a:xfrm>
          <a:prstGeom prst="roundRect">
            <a:avLst>
              <a:gd name="adj" fmla="val 26000"/>
            </a:avLst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9672" y="5093208"/>
            <a:ext cx="182880" cy="18288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931152" y="4992624"/>
            <a:ext cx="4526280" cy="38404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800" b="1">
                <a:solidFill>
                  <a:srgbClr val="002FAF"/>
                </a:solidFill>
                <a:latin typeface="Avenir Next LT Pro"/>
              </a:rPr>
              <a:t>Reconcile  </a:t>
            </a:r>
            <a:r>
              <a:rPr sz="1200" b="0">
                <a:solidFill>
                  <a:srgbClr val="6B7280"/>
                </a:solidFill>
                <a:latin typeface="Consolas"/>
              </a:rPr>
              <a:t>data-reconciliation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6419088" y="5522976"/>
            <a:ext cx="5001768" cy="603504"/>
          </a:xfrm>
          <a:prstGeom prst="roundRect">
            <a:avLst>
              <a:gd name="adj" fmla="val 12000"/>
            </a:avLst>
          </a:prstGeom>
          <a:solidFill>
            <a:srgbClr val="F4F7FB"/>
          </a:solidFill>
          <a:ln w="12700">
            <a:solidFill>
              <a:srgbClr val="E4EA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47104" y="5522976"/>
            <a:ext cx="274320" cy="603504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300" b="1">
                <a:solidFill>
                  <a:srgbClr val="002FAF"/>
                </a:solidFill>
                <a:latin typeface="Consolas"/>
              </a:rPr>
              <a:t>❯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03136" y="5541264"/>
            <a:ext cx="457200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200" b="0">
                <a:solidFill>
                  <a:srgbClr val="2B3550"/>
                </a:solidFill>
                <a:latin typeface="Consolas"/>
              </a:rPr>
              <a:t>Reconcile slalom.com's report suite against the property.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Text 1"/>
          <p:cNvSpPr/>
          <p:nvPr/>
        </p:nvSpPr>
        <p:spPr>
          <a:xfrm>
            <a:off x="548640" y="411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0C62FB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SEE IT IN ACTION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667512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0000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One Prompt, and the Skill Takes Over</a:t>
            </a:r>
            <a:endParaRPr lang="en-US" sz="2800" dirty="0"/>
          </a:p>
        </p:txBody>
      </p:sp>
      <p:sp>
        <p:nvSpPr>
          <p:cNvPr id="24" name="Shape 21"/>
          <p:cNvSpPr/>
          <p:nvPr/>
        </p:nvSpPr>
        <p:spPr>
          <a:xfrm>
            <a:off x="0" y="0"/>
            <a:ext cx="2432304" cy="137160"/>
          </a:xfrm>
          <a:prstGeom prst="rect">
            <a:avLst/>
          </a:prstGeom>
          <a:solidFill>
            <a:srgbClr val="002FA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Shape 22"/>
          <p:cNvSpPr/>
          <p:nvPr/>
        </p:nvSpPr>
        <p:spPr>
          <a:xfrm>
            <a:off x="2432304" y="0"/>
            <a:ext cx="2432304" cy="137160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4864608" y="0"/>
            <a:ext cx="2432304" cy="137160"/>
          </a:xfrm>
          <a:prstGeom prst="rect">
            <a:avLst/>
          </a:prstGeom>
          <a:solidFill>
            <a:srgbClr val="1BE1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296912" y="0"/>
            <a:ext cx="2432304" cy="137160"/>
          </a:xfrm>
          <a:prstGeom prst="rect">
            <a:avLst/>
          </a:prstGeom>
          <a:solidFill>
            <a:srgbClr val="FF4D5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Shape 25"/>
          <p:cNvSpPr/>
          <p:nvPr/>
        </p:nvSpPr>
        <p:spPr>
          <a:xfrm>
            <a:off x="9729216" y="0"/>
            <a:ext cx="2432304" cy="137160"/>
          </a:xfrm>
          <a:prstGeom prst="rect">
            <a:avLst/>
          </a:prstGeom>
          <a:solidFill>
            <a:srgbClr val="C7B9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66666"/>
                </a:solidFill>
              </a:rPr>
              <a:t>© Slalom. All Rights Reserved. Proprietary and Confidential.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31" name="TextBox 30"/>
          <p:cNvSpPr txBox="1"/>
          <p:nvPr/>
        </p:nvSpPr>
        <p:spPr>
          <a:xfrm>
            <a:off x="548640" y="1188720"/>
            <a:ext cx="11064240" cy="36576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0">
                <a:solidFill>
                  <a:srgbClr val="5A6478"/>
                </a:solidFill>
                <a:latin typeface="Avenir Next LT Pro"/>
              </a:rPr>
              <a:t>Name your site in plain English — the skill confirms scope, works from live data, and hands back a client-ready deck.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50224" y="1755648"/>
            <a:ext cx="3017520" cy="256032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200" b="1">
                <a:solidFill>
                  <a:srgbClr val="9AA6BF"/>
                </a:solidFill>
                <a:latin typeface="Avenir Next LT Pro"/>
              </a:rPr>
              <a:t>WHAT JUST HAPPENED</a:t>
            </a:r>
          </a:p>
        </p:txBody>
      </p:sp>
      <p:sp>
        <p:nvSpPr>
          <p:cNvPr id="34" name="Oval 33"/>
          <p:cNvSpPr/>
          <p:nvPr/>
        </p:nvSpPr>
        <p:spPr>
          <a:xfrm>
            <a:off x="8650224" y="2084831"/>
            <a:ext cx="292608" cy="292608"/>
          </a:xfrm>
          <a:prstGeom prst="ellipse">
            <a:avLst/>
          </a:prstGeom>
          <a:solidFill>
            <a:srgbClr val="002F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2066543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02FAF"/>
                </a:solidFill>
                <a:latin typeface="Avenir Next LT Pro"/>
              </a:rPr>
              <a:t>You named the site.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2359151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That’s the entire prompt — </a:t>
            </a:r>
            <a:r>
              <a:rPr sz="1200" b="1">
                <a:solidFill>
                  <a:srgbClr val="17203A"/>
                </a:solidFill>
                <a:latin typeface="Consolas"/>
              </a:rPr>
              <a:t>Audit the site slalom.com</a:t>
            </a:r>
          </a:p>
        </p:txBody>
      </p:sp>
      <p:sp>
        <p:nvSpPr>
          <p:cNvPr id="37" name="Oval 36"/>
          <p:cNvSpPr/>
          <p:nvPr/>
        </p:nvSpPr>
        <p:spPr>
          <a:xfrm>
            <a:off x="8650224" y="3044952"/>
            <a:ext cx="292608" cy="292608"/>
          </a:xfrm>
          <a:prstGeom prst="ellipse">
            <a:avLst/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70848" y="302666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C62FB"/>
                </a:solidFill>
                <a:latin typeface="Avenir Next LT Pro"/>
              </a:rPr>
              <a:t>It routed &amp; confirmed.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70848" y="331927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Picked the Adobe Tags audit and confirmed scope — no re-asking what you already said.</a:t>
            </a:r>
          </a:p>
        </p:txBody>
      </p:sp>
      <p:sp>
        <p:nvSpPr>
          <p:cNvPr id="40" name="Oval 39"/>
          <p:cNvSpPr/>
          <p:nvPr/>
        </p:nvSpPr>
        <p:spPr>
          <a:xfrm>
            <a:off x="8650224" y="4005072"/>
            <a:ext cx="292608" cy="292608"/>
          </a:xfrm>
          <a:prstGeom prst="ellipse">
            <a:avLst/>
          </a:prstGeom>
          <a:solidFill>
            <a:srgbClr val="0E8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0848" y="3986784"/>
            <a:ext cx="2606040" cy="274320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0E8FA0"/>
                </a:solidFill>
                <a:latin typeface="Avenir Next LT Pro"/>
              </a:rPr>
              <a:t>It works from live data.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70848" y="4279392"/>
            <a:ext cx="2606040" cy="640080"/>
          </a:xfrm>
          <a:prstGeom prst="rect">
            <a:avLst/>
          </a:prstGeom>
          <a:noFill/>
        </p:spPr>
        <p:txBody>
          <a:bodyPr wrap="square" lIns="27432" rIns="27432" tIns="0" bIns="0" anchor="t">
            <a:spAutoFit/>
          </a:bodyPr>
          <a:lstStyle/>
          <a:p>
            <a:pPr algn="l"/>
            <a:r>
              <a:rPr sz="1300" b="0">
                <a:solidFill>
                  <a:srgbClr val="3E4759"/>
                </a:solidFill>
                <a:latin typeface="Avenir Next LT Pro"/>
              </a:rPr>
              <a:t>A real headless browser detects the stack and pulls the published Launch library directly.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50224" y="5029200"/>
            <a:ext cx="3017520" cy="566928"/>
          </a:xfrm>
          <a:prstGeom prst="roundRect">
            <a:avLst>
              <a:gd name="adj" fmla="val 16000"/>
            </a:avLst>
          </a:prstGeom>
          <a:solidFill>
            <a:srgbClr val="EAF7EE"/>
          </a:solidFill>
          <a:ln w="12700">
            <a:solidFill>
              <a:srgbClr val="CDEB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0" bIns="0"/>
          <a:lstStyle/>
          <a:p>
            <a:pPr algn="l"/>
            <a:r>
              <a:rPr sz="1250" b="1">
                <a:solidFill>
                  <a:srgbClr val="17203A"/>
                </a:solidFill>
                <a:latin typeface="Avenir Next LT Pro"/>
              </a:rPr>
              <a:t>Produces </a:t>
            </a:r>
            <a:r>
              <a:rPr sz="1250" b="1">
                <a:solidFill>
                  <a:srgbClr val="2E9E5B"/>
                </a:solidFill>
                <a:latin typeface="Avenir Next LT Pro"/>
              </a:rPr>
              <a:t>a findings deck (PPTX)</a:t>
            </a:r>
            <a:r>
              <a:rPr sz="1250" b="1">
                <a:solidFill>
                  <a:srgbClr val="17203A"/>
                </a:solidFill>
                <a:latin typeface="Avenir Next LT Pro"/>
              </a:rPr>
              <a:t> in the Slalom style.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2064" y="5486400"/>
            <a:ext cx="7845552" cy="566928"/>
          </a:xfrm>
          <a:prstGeom prst="roundRect">
            <a:avLst>
              <a:gd name="adj" fmla="val 12000"/>
            </a:avLst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12064" y="5486400"/>
            <a:ext cx="73152" cy="566928"/>
          </a:xfrm>
          <a:prstGeom prst="roundRect">
            <a:avLst>
              <a:gd name="adj" fmla="val 50000"/>
            </a:avLst>
          </a:prstGeom>
          <a:solidFill>
            <a:srgbClr val="0C6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86384" y="5486400"/>
            <a:ext cx="7406640" cy="566928"/>
          </a:xfrm>
          <a:prstGeom prst="rect">
            <a:avLst/>
          </a:prstGeom>
          <a:noFill/>
        </p:spPr>
        <p:txBody>
          <a:bodyPr wrap="squar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002FAF"/>
                </a:solidFill>
                <a:latin typeface="Avenir Next LT Pro"/>
              </a:rPr>
              <a:t>Same pattern for every skill: </a:t>
            </a:r>
            <a:r>
              <a:rPr sz="1400" b="0">
                <a:solidFill>
                  <a:srgbClr val="3E4759"/>
                </a:solidFill>
                <a:latin typeface="Avenir Next LT Pro"/>
              </a:rPr>
              <a:t>name the target in one line — Detect, Build, Audit, Reconcile — and the matching skill routes, confirms, and runs.</a:t>
            </a:r>
          </a:p>
        </p:txBody>
      </p:sp>
      <p:pic>
        <p:nvPicPr>
          <p:cNvPr id="47" name="Picture 46" descr="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1691640"/>
            <a:ext cx="7845552" cy="358444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02FA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7315200" y="-1828800"/>
            <a:ext cx="5486400" cy="5486400"/>
          </a:xfrm>
          <a:prstGeom prst="ellipse">
            <a:avLst/>
          </a:prstGeom>
          <a:solidFill>
            <a:srgbClr val="0C62FB">
              <a:alpha val="18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14400" y="2286000"/>
            <a:ext cx="1036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914400" y="32004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BFE0F5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Detection to decisions, the same way every time. Let's talk.</a:t>
            </a:r>
            <a:endParaRPr lang="en-US" sz="1600" dirty="0"/>
          </a:p>
        </p:txBody>
      </p:sp>
      <p:sp>
        <p:nvSpPr>
          <p:cNvPr id="6" name="Shape Divider"/>
          <p:cNvSpPr/>
          <p:nvPr/>
        </p:nvSpPr>
        <p:spPr>
          <a:xfrm>
            <a:off x="914400" y="3840480"/>
            <a:ext cx="1828800" cy="18288"/>
          </a:xfrm>
          <a:prstGeom prst="rect">
            <a:avLst/>
          </a:prstGeom>
          <a:solidFill>
            <a:srgbClr val="0C62F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Name"/>
          <p:cNvSpPr/>
          <p:nvPr/>
        </p:nvSpPr>
        <p:spPr>
          <a:xfrm>
            <a:off x="914400" y="4114800"/>
            <a:ext cx="1036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 Tavares</a:t>
            </a:r>
            <a:endParaRPr lang="en-US" sz="2000" dirty="0"/>
          </a:p>
        </p:txBody>
      </p:sp>
      <p:sp>
        <p:nvSpPr>
          <p:cNvPr id="8" name="Text Title"/>
          <p:cNvSpPr/>
          <p:nvPr/>
        </p:nvSpPr>
        <p:spPr>
          <a:xfrm>
            <a:off x="914400" y="448056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Senior Principal, Adobe Multi-Solution Architect</a:t>
            </a:r>
            <a:endParaRPr lang="en-US" sz="1300" dirty="0"/>
          </a:p>
        </p:txBody>
      </p:sp>
      <p:sp>
        <p:nvSpPr>
          <p:cNvPr id="9" name="Text Company"/>
          <p:cNvSpPr/>
          <p:nvPr/>
        </p:nvSpPr>
        <p:spPr>
          <a:xfrm>
            <a:off x="914400" y="4791075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C6E8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Slalom</a:t>
            </a:r>
            <a:endParaRPr lang="en-US" sz="1300" dirty="0"/>
          </a:p>
        </p:txBody>
      </p:sp>
      <p:sp>
        <p:nvSpPr>
          <p:cNvPr id="10" name="Text Email"/>
          <p:cNvSpPr/>
          <p:nvPr/>
        </p:nvSpPr>
        <p:spPr>
          <a:xfrm>
            <a:off x="914400" y="5257800"/>
            <a:ext cx="1036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venir Next LT Pro" pitchFamily="34" charset="0"/>
                <a:ea typeface="Avenir Next LT Pro" pitchFamily="34" charset="-122"/>
                <a:cs typeface="Avenir Next LT Pro" pitchFamily="34" charset="-120"/>
              </a:rPr>
              <a:t>scott.tavares@slalom.com</a:t>
            </a:r>
            <a:endParaRPr lang="en-US" sz="1300" dirty="0"/>
          </a:p>
        </p:txBody>
      </p:sp>
      <p:sp>
        <p:nvSpPr>
          <p:cNvPr id="21" name="Text Copyright"/>
          <p:cNvSpPr/>
          <p:nvPr/>
        </p:nvSpPr>
        <p:spPr>
          <a:xfrm>
            <a:off x="9144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93B8"/>
                </a:solidFill>
              </a:rPr>
              <a:t>© Slalom. All Rights Reserved. Proprietary and Confidential.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ca75128-a244-4596-877b-f24828e476e2}" enabled="0" method="" siteId="{9ca75128-a244-4596-877b-f24828e476e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7438</TotalTime>
  <Words>8988</Words>
  <Application>Microsoft Office PowerPoint</Application>
  <PresentationFormat>Widescreen</PresentationFormat>
  <Paragraphs>713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Avenir Next LT Pro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Adobe Tags Configuration Audit - Amazon News</dc:title>
  <dc:subject>PptxGenJS Presentation</dc:subject>
  <dc:creator>Scott Tavares</dc:creator>
  <cp:lastModifiedBy>Scott Tavares</cp:lastModifiedBy>
  <cp:revision>3</cp:revision>
  <dcterms:created xsi:type="dcterms:W3CDTF">2026-07-13T22:20:24Z</dcterms:created>
  <dcterms:modified xsi:type="dcterms:W3CDTF">2026-07-28T17:19:58Z</dcterms:modified>
</cp:coreProperties>
</file>