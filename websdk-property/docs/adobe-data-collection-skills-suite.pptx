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3444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58368" y="1298448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25296" y="12435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25296" y="14904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Inspects the live site and reports the current martech — tag manager, AppMeasurement vs. Web SDK, Target, ECID, data layer, consent, and the IDs already present.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698480" y="12344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179679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860804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8368" y="1860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25296" y="18059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25296" y="20528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Turns a short interview into a governed implementation plan — property strategy, naming, environments, consent, approval gates, phased rollout, and compliance.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698480" y="179679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8640" y="235915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58368" y="2423160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25296" y="23682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225296" y="26151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Scrapes the site and builds the data-collection spec — the SDR and Web SDK XDM schema, plus a universal set of data elements and rules (page, forms, video, campaigns, links, IDs).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69848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" y="292150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" y="2985516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" y="2985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25296" y="29306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225296" y="31775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Provisions the Adobe Launch property end-to-end via the Reactor API — extensions, data elements, rules, libraries, and the dev → staging → prod publish pipeline with approval gates and rollback.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0698480" y="292150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25296" y="34930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225296" y="3739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Audits the live configuration for the issues that matter — double-counting, environment separation, identity, consent, PII — and produces a findings deck and an audit workbook, every claim sourced.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698480" y="34838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48640" y="404622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58368" y="4110228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58368" y="4110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225296" y="405536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1225296" y="43022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Reconciles the report suite's variables against what the property actually collects, classifies each into one honest status, and produces the reconciliation workbook and a client decisions email.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698480" y="40462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PROBLEM WITH MANUAL DELIVERY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Adobe implementations are built by hand — clicking through Launch, hand-writing SDRs, eyeballing configs. It's slow, inconsistent between consultants, hard to QA, and rarely documented well enough to defend or repeat.</a:t>
            </a:r>
            <a:endParaRPr lang="en-US" sz="1150" dirty="0"/>
          </a:p>
        </p:txBody>
      </p:sp>
      <p:sp>
        <p:nvSpPr>
          <p:cNvPr id="110" name="Card"/>
          <p:cNvSpPr/>
          <p:nvPr/>
        </p:nvSpPr>
        <p:spPr>
          <a:xfrm>
            <a:off x="548640" y="285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0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35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Weeks of senior time on repetitive setup; errors that surface late — double-counting, broken identity, missed variables; and deliverables whose quality depends on who happened to build them.</a:t>
            </a:r>
            <a:endParaRPr lang="en-US" sz="1150" dirty="0"/>
          </a:p>
        </p:txBody>
      </p:sp>
      <p:sp>
        <p:nvSpPr>
          <p:cNvPr id="120" name="Card"/>
          <p:cNvSpPr/>
          <p:nvPr/>
        </p:nvSpPr>
        <p:spPr>
          <a:xfrm>
            <a:off x="548640" y="4500000"/>
            <a:ext cx="11064240" cy="18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6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CHANGE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002920"/>
            <a:ext cx="10607040" cy="12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repetitive, error-prone work is automated and standardized. Every stage produces a client-ready artifact from live data, the same way every time — so consultants spend their hours on judgment and client decisions.</a:t>
            </a:r>
            <a:endParaRPr lang="en-US" sz="115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1783080" y="13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1783080" y="170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1783080" y="323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1783080" y="355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1783080" y="49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1783080" y="5302920"/>
            <a:ext cx="653796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77240" y="1682496"/>
            <a:ext cx="777240" cy="777240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con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" y="1857375"/>
            <a:ext cx="427482" cy="427482"/>
          </a:xfrm>
          <a:prstGeom prst="rect">
            <a:avLst/>
          </a:prstGeom>
        </p:spPr>
      </p:pic>
      <p:sp>
        <p:nvSpPr>
          <p:cNvPr id="209" name="Rounded Rectangle 208"/>
          <p:cNvSpPr/>
          <p:nvPr/>
        </p:nvSpPr>
        <p:spPr>
          <a:xfrm>
            <a:off x="8686800" y="165963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Faster delivery</a:t>
            </a:r>
          </a:p>
        </p:txBody>
      </p:sp>
      <p:sp>
        <p:nvSpPr>
          <p:cNvPr id="210" name="Oval 209"/>
          <p:cNvSpPr/>
          <p:nvPr/>
        </p:nvSpPr>
        <p:spPr>
          <a:xfrm>
            <a:off x="777240" y="3488436"/>
            <a:ext cx="777240" cy="777240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" y="3663314"/>
            <a:ext cx="427482" cy="427482"/>
          </a:xfrm>
          <a:prstGeom prst="rect">
            <a:avLst/>
          </a:prstGeom>
        </p:spPr>
      </p:pic>
      <p:sp>
        <p:nvSpPr>
          <p:cNvPr id="212" name="Rounded Rectangle 211"/>
          <p:cNvSpPr/>
          <p:nvPr/>
        </p:nvSpPr>
        <p:spPr>
          <a:xfrm>
            <a:off x="8686800" y="346557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Consistent &amp; governed</a:t>
            </a:r>
          </a:p>
        </p:txBody>
      </p:sp>
      <p:sp>
        <p:nvSpPr>
          <p:cNvPr id="213" name="Oval 212"/>
          <p:cNvSpPr/>
          <p:nvPr/>
        </p:nvSpPr>
        <p:spPr>
          <a:xfrm>
            <a:off x="777240" y="5189220"/>
            <a:ext cx="777240" cy="777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" name="Picture 213" descr="icon_aw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119" y="5364099"/>
            <a:ext cx="427482" cy="427482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8686800" y="5166360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Defensible &amp; repeatable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36576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30352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4173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417320" y="640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7" name="Shape 3"/>
          <p:cNvSpPr/>
          <p:nvPr/>
        </p:nvSpPr>
        <p:spPr>
          <a:xfrm>
            <a:off x="548640" y="118872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72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48640" y="178308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48640" y="1783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≈ 3–5× FASTER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48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731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MANUAL WAY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31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97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Current-state audit — 2–3 days clicking through Launch + captures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31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97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authored by hand — 1–2 weeks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31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1097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 provisioning in the UI — 3–5 days, error-prone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31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1097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by hand — a full day of cross-referencing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263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263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46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WITH THE SKILLS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446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812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+ audit — under half a day, sourced from live config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6446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12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generated — about a day, universal patterns built in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46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6812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Provisioning via Reactor API — minutes, idempotent, with rollback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446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6812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— 1–2 hours, a reviewed draft, not a hand-build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582412"/>
            <a:ext cx="320040" cy="32004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1188720" y="5285232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Net effect: </a:t>
            </a: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multi-week manual engagement compressed to a handful of days — and the time that's left goes to judgment and client decisions, not repetitive setup.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pic>
        <p:nvPicPr>
          <p:cNvPr id="100" name="Checkmark 10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2996100"/>
            <a:ext cx="180000" cy="180000"/>
          </a:xfrm>
          <a:prstGeom prst="rect">
            <a:avLst/>
          </a:prstGeom>
        </p:spPr>
      </p:pic>
      <p:pic>
        <p:nvPicPr>
          <p:cNvPr id="101" name="Checkmark 10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3499020"/>
            <a:ext cx="180000" cy="180000"/>
          </a:xfrm>
          <a:prstGeom prst="rect">
            <a:avLst/>
          </a:prstGeom>
        </p:spPr>
      </p:pic>
      <p:pic>
        <p:nvPicPr>
          <p:cNvPr id="102" name="Checkmark 10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001940"/>
            <a:ext cx="180000" cy="180000"/>
          </a:xfrm>
          <a:prstGeom prst="rect">
            <a:avLst/>
          </a:prstGeom>
        </p:spPr>
      </p:pic>
      <p:pic>
        <p:nvPicPr>
          <p:cNvPr id="103" name="Checkmark 10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504860"/>
            <a:ext cx="180000" cy="180000"/>
          </a:xfrm>
          <a:prstGeom prst="rect">
            <a:avLst/>
          </a:prstGeom>
        </p:spPr>
      </p:pic>
      <p:pic>
        <p:nvPicPr>
          <p:cNvPr id="104" name="Checkmark 10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2996100"/>
            <a:ext cx="180000" cy="180000"/>
          </a:xfrm>
          <a:prstGeom prst="rect">
            <a:avLst/>
          </a:prstGeom>
        </p:spPr>
      </p:pic>
      <p:pic>
        <p:nvPicPr>
          <p:cNvPr id="105" name="Checkmark 10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3499020"/>
            <a:ext cx="180000" cy="180000"/>
          </a:xfrm>
          <a:prstGeom prst="rect">
            <a:avLst/>
          </a:prstGeom>
        </p:spPr>
      </p:pic>
      <p:pic>
        <p:nvPicPr>
          <p:cNvPr id="106" name="Checkmark 10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001940"/>
            <a:ext cx="180000" cy="180000"/>
          </a:xfrm>
          <a:prstGeom prst="rect">
            <a:avLst/>
          </a:prstGeom>
        </p:spPr>
      </p:pic>
      <p:pic>
        <p:nvPicPr>
          <p:cNvPr id="107" name="Checkmark 10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504860"/>
            <a:ext cx="180000" cy="180000"/>
          </a:xfrm>
          <a:prstGeom prst="rect">
            <a:avLst/>
          </a:prstGeom>
        </p:spPr>
      </p:pic>
      <p:sp>
        <p:nvSpPr>
          <p:cNvPr id="700" name="Badge Shape"/>
          <p:cNvSpPr/>
          <p:nvPr/>
        </p:nvSpPr>
        <p:spPr>
          <a:xfrm>
            <a:off x="3200400" y="1783080"/>
            <a:ext cx="150000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1" name="Badge Text"/>
          <p:cNvSpPr/>
          <p:nvPr/>
        </p:nvSpPr>
        <p:spPr>
          <a:xfrm>
            <a:off x="3200400" y="1783080"/>
            <a:ext cx="1500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ESTIMATE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120" name="Label"/>
          <p:cNvSpPr/>
          <p:nvPr/>
        </p:nvSpPr>
        <p:spPr>
          <a:xfrm>
            <a:off x="502920" y="2286000"/>
            <a:ext cx="7360920" cy="310896"/>
          </a:xfrm>
          <a:prstGeom prst="roundRect">
            <a:avLst>
              <a:gd name="adj" fmla="val 30000"/>
            </a:avLst>
          </a:prstGeom>
          <a:solidFill>
            <a:srgbClr val="1391C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LabelText"/>
          <p:cNvSpPr/>
          <p:nvPr/>
        </p:nvSpPr>
        <p:spPr>
          <a:xfrm>
            <a:off x="502920" y="2286000"/>
            <a:ext cx="7360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 ·  STAND UP THE IMPLEMENTATION</a:t>
            </a:r>
          </a:p>
        </p:txBody>
      </p:sp>
      <p:sp>
        <p:nvSpPr>
          <p:cNvPr id="170" name="Label"/>
          <p:cNvSpPr/>
          <p:nvPr/>
        </p:nvSpPr>
        <p:spPr>
          <a:xfrm>
            <a:off x="8147304" y="2286000"/>
            <a:ext cx="3538728" cy="310896"/>
          </a:xfrm>
          <a:prstGeom prst="roundRect">
            <a:avLst>
              <a:gd name="adj" fmla="val 30000"/>
            </a:avLst>
          </a:prstGeom>
          <a:solidFill>
            <a:srgbClr val="002FA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1" name="LabelText"/>
          <p:cNvSpPr/>
          <p:nvPr/>
        </p:nvSpPr>
        <p:spPr>
          <a:xfrm>
            <a:off x="8147304" y="2286000"/>
            <a:ext cx="3538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 ·  PROVE IT &amp; DECIDE</a:t>
            </a:r>
          </a:p>
        </p:txBody>
      </p:sp>
      <p:sp>
        <p:nvSpPr>
          <p:cNvPr id="222" name="Banner"/>
          <p:cNvSpPr/>
          <p:nvPr/>
        </p:nvSpPr>
        <p:spPr>
          <a:xfrm>
            <a:off x="4322320" y="4150000"/>
            <a:ext cx="6408120" cy="550000"/>
          </a:xfrm>
          <a:prstGeom prst="roundRect">
            <a:avLst>
              <a:gd name="adj" fmla="val 12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4" name="BannerText"/>
          <p:cNvSpPr/>
          <p:nvPr/>
        </p:nvSpPr>
        <p:spPr>
          <a:xfrm>
            <a:off x="4822320" y="4150000"/>
            <a:ext cx="585812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GOVERNED PIPELINE — EVERY OUTPUT FEEDS THE NEXT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informs the plan; the plan drives the build; the build is audited; the audit is reconciled into decisions.</a:t>
            </a:r>
          </a:p>
        </p:txBody>
      </p:sp>
      <p:sp>
        <p:nvSpPr>
          <p:cNvPr id="230" name="Callout"/>
          <p:cNvSpPr/>
          <p:nvPr/>
        </p:nvSpPr>
        <p:spPr>
          <a:xfrm>
            <a:off x="548640" y="4950000"/>
            <a:ext cx="11064240" cy="100000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2" name="CalloutText"/>
          <p:cNvSpPr/>
          <p:nvPr/>
        </p:nvSpPr>
        <p:spPr>
          <a:xfrm>
            <a:off x="777240" y="4950000"/>
            <a:ext cx="1060704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client gets: </a:t>
            </a: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documented, governed Adobe implementation — plus the evidence (audit deck + workbook) and the decisions (reconciliation workbook + email) to trust it and act.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233" name="Rounded Rectangle 232"/>
          <p:cNvSpPr/>
          <p:nvPr/>
        </p:nvSpPr>
        <p:spPr>
          <a:xfrm>
            <a:off x="502920" y="2651760"/>
            <a:ext cx="1627632" cy="1325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106424" y="2798064"/>
            <a:ext cx="420624" cy="42062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502920" y="3328415"/>
            <a:ext cx="162763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155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02920" y="3621024"/>
            <a:ext cx="16276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2130552" y="3063240"/>
            <a:ext cx="283464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2200" b="1">
                <a:solidFill>
                  <a:srgbClr val="12A5A0"/>
                </a:solidFill>
                <a:latin typeface="Calibri"/>
              </a:rPr>
              <a:t>→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2414016" y="2651760"/>
            <a:ext cx="1627632" cy="1325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2A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017520" y="2798064"/>
            <a:ext cx="420624" cy="420624"/>
          </a:xfrm>
          <a:prstGeom prst="ellipse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2414016" y="3328415"/>
            <a:ext cx="162763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155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2414016" y="3621024"/>
            <a:ext cx="16276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041648" y="3063240"/>
            <a:ext cx="283464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2200" b="1">
                <a:solidFill>
                  <a:srgbClr val="1391C4"/>
                </a:solidFill>
                <a:latin typeface="Calibri"/>
              </a:rPr>
              <a:t>→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4325112" y="2651760"/>
            <a:ext cx="1627632" cy="1325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391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928616" y="2798064"/>
            <a:ext cx="420624" cy="420624"/>
          </a:xfrm>
          <a:prstGeom prst="ellipse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325112" y="3328415"/>
            <a:ext cx="162763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155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325112" y="3621024"/>
            <a:ext cx="16276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onsolas"/>
              </a:rPr>
              <a:t>data-builder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5952744" y="3063240"/>
            <a:ext cx="283464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2200" b="1">
                <a:solidFill>
                  <a:srgbClr val="0C62FB"/>
                </a:solidFill>
                <a:latin typeface="Calibri"/>
              </a:rPr>
              <a:t>→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6236208" y="2651760"/>
            <a:ext cx="1627632" cy="1325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0C6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839712" y="2798064"/>
            <a:ext cx="420624" cy="420624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6236208" y="3328415"/>
            <a:ext cx="162763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155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236208" y="3621024"/>
            <a:ext cx="16276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863840" y="3063240"/>
            <a:ext cx="283464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2200" b="1">
                <a:solidFill>
                  <a:srgbClr val="2547C8"/>
                </a:solidFill>
                <a:latin typeface="Calibri"/>
              </a:rPr>
              <a:t>→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8147304" y="2651760"/>
            <a:ext cx="1627632" cy="1325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254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8750808" y="2798064"/>
            <a:ext cx="420624" cy="420624"/>
          </a:xfrm>
          <a:prstGeom prst="ellipse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47304" y="3328415"/>
            <a:ext cx="162763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155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8147304" y="3621024"/>
            <a:ext cx="16276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774936" y="3063240"/>
            <a:ext cx="283464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2200" b="1">
                <a:solidFill>
                  <a:srgbClr val="002FAF"/>
                </a:solidFill>
                <a:latin typeface="Calibri"/>
              </a:rPr>
              <a:t>→</a:t>
            </a:r>
          </a:p>
        </p:txBody>
      </p:sp>
      <p:sp>
        <p:nvSpPr>
          <p:cNvPr id="258" name="Rounded Rectangle 257"/>
          <p:cNvSpPr/>
          <p:nvPr/>
        </p:nvSpPr>
        <p:spPr>
          <a:xfrm>
            <a:off x="10058400" y="2651760"/>
            <a:ext cx="1627632" cy="1325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002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0661904" y="2798064"/>
            <a:ext cx="420624" cy="420624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058400" y="3328415"/>
            <a:ext cx="162763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155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058400" y="3621024"/>
            <a:ext cx="16276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onsolas"/>
              </a:rPr>
              <a:t>reconciliation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