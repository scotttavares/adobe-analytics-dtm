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302" r:id="rId16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16" Type="http://schemas.openxmlformats.org/officeDocument/2006/relationships/slide" Target="slides/slide8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9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6.png"/><Relationship Id="rId8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</a:t>
            </a:r>
            <a:endParaRPr lang="en-US" sz="250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65" name="Rectangle 64"/>
          <p:cNvSpPr/>
          <p:nvPr/>
        </p:nvSpPr>
        <p:spPr>
          <a:xfrm>
            <a:off x="6062472" y="1371600"/>
            <a:ext cx="54864" cy="2743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2472" y="1645920"/>
            <a:ext cx="54864" cy="859536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062472" y="2505456"/>
            <a:ext cx="54864" cy="859536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62472" y="3364992"/>
            <a:ext cx="54864" cy="859536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62472" y="4224528"/>
            <a:ext cx="54864" cy="859535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62472" y="5084064"/>
            <a:ext cx="54864" cy="859536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62472" y="5943600"/>
            <a:ext cx="54864" cy="274319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651760" y="1280160"/>
            <a:ext cx="182880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700" b="1">
                <a:solidFill>
                  <a:srgbClr val="2E9E5B"/>
                </a:solidFill>
                <a:latin typeface="Avenir Next LT Pro"/>
              </a:rPr>
              <a:t>DETECT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51760" y="1554480"/>
            <a:ext cx="18288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8680" y="1783080"/>
            <a:ext cx="361188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1050" b="0">
                <a:solidFill>
                  <a:srgbClr val="3E4759"/>
                </a:solidFill>
                <a:latin typeface="Avenir Next LT Pro"/>
              </a:rPr>
              <a:t>Inspects the live site; reports the current martech stack.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90288" y="1298448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3000" b="1">
                <a:solidFill>
                  <a:srgbClr val="2E9E5B"/>
                </a:solidFill>
                <a:latin typeface="Calibri"/>
              </a:rPr>
              <a:t>01</a:t>
            </a:r>
          </a:p>
        </p:txBody>
      </p:sp>
      <p:sp>
        <p:nvSpPr>
          <p:cNvPr id="76" name="Oval 75"/>
          <p:cNvSpPr/>
          <p:nvPr/>
        </p:nvSpPr>
        <p:spPr>
          <a:xfrm>
            <a:off x="5760720" y="1316736"/>
            <a:ext cx="658368" cy="658368"/>
          </a:xfrm>
          <a:prstGeom prst="ellipse">
            <a:avLst/>
          </a:prstGeom>
          <a:solidFill>
            <a:srgbClr val="2E9E5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490472"/>
            <a:ext cx="310896" cy="310896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7735824" y="2139696"/>
            <a:ext cx="219456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>
                <a:solidFill>
                  <a:srgbClr val="12A5A0"/>
                </a:solidFill>
                <a:latin typeface="Avenir Next LT Pro"/>
              </a:rPr>
              <a:t>PLAN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35824" y="2414016"/>
            <a:ext cx="27432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35824" y="2642616"/>
            <a:ext cx="365760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050" b="0">
                <a:solidFill>
                  <a:srgbClr val="3E4759"/>
                </a:solidFill>
                <a:latin typeface="Avenir Next LT Pro"/>
              </a:rPr>
              <a:t>Turns a short interview into a governed implementation plan.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21424" y="2157984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3000" b="1">
                <a:solidFill>
                  <a:srgbClr val="12A5A0"/>
                </a:solidFill>
                <a:latin typeface="Calibri"/>
              </a:rPr>
              <a:t>02</a:t>
            </a:r>
          </a:p>
        </p:txBody>
      </p:sp>
      <p:sp>
        <p:nvSpPr>
          <p:cNvPr id="82" name="Oval 81"/>
          <p:cNvSpPr/>
          <p:nvPr/>
        </p:nvSpPr>
        <p:spPr>
          <a:xfrm>
            <a:off x="5760720" y="2176272"/>
            <a:ext cx="658368" cy="658368"/>
          </a:xfrm>
          <a:prstGeom prst="ellipse">
            <a:avLst/>
          </a:prstGeom>
          <a:solidFill>
            <a:srgbClr val="12A5A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350008"/>
            <a:ext cx="310896" cy="310896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2651760" y="2999232"/>
            <a:ext cx="182880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700" b="1">
                <a:solidFill>
                  <a:srgbClr val="1391C4"/>
                </a:solidFill>
                <a:latin typeface="Avenir Next LT Pro"/>
              </a:rPr>
              <a:t>BUILD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51760" y="3273552"/>
            <a:ext cx="18288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680" y="3502152"/>
            <a:ext cx="361188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1050" b="0">
                <a:solidFill>
                  <a:srgbClr val="3E4759"/>
                </a:solidFill>
                <a:latin typeface="Avenir Next LT Pro"/>
              </a:rPr>
              <a:t>Builds the SDR + Web SDK XDM schema, data elements &amp; rules.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90288" y="3017520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3000" b="1">
                <a:solidFill>
                  <a:srgbClr val="1391C4"/>
                </a:solidFill>
                <a:latin typeface="Calibri"/>
              </a:rPr>
              <a:t>03</a:t>
            </a:r>
          </a:p>
        </p:txBody>
      </p:sp>
      <p:sp>
        <p:nvSpPr>
          <p:cNvPr id="88" name="Oval 87"/>
          <p:cNvSpPr/>
          <p:nvPr/>
        </p:nvSpPr>
        <p:spPr>
          <a:xfrm>
            <a:off x="5760720" y="3035808"/>
            <a:ext cx="658368" cy="658368"/>
          </a:xfrm>
          <a:prstGeom prst="ellipse">
            <a:avLst/>
          </a:prstGeom>
          <a:solidFill>
            <a:srgbClr val="1391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4456" y="3209544"/>
            <a:ext cx="310896" cy="310896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735824" y="3858768"/>
            <a:ext cx="219456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>
                <a:solidFill>
                  <a:srgbClr val="0C62FB"/>
                </a:solidFill>
                <a:latin typeface="Avenir Next LT Pro"/>
              </a:rPr>
              <a:t>PUBLISH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735824" y="4133088"/>
            <a:ext cx="27432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735824" y="4361688"/>
            <a:ext cx="365760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050" b="0">
                <a:solidFill>
                  <a:srgbClr val="3E4759"/>
                </a:solidFill>
                <a:latin typeface="Avenir Next LT Pro"/>
              </a:rPr>
              <a:t>Provisions the Launch property end-to-end via the Reactor API.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21424" y="3877056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3000" b="1">
                <a:solidFill>
                  <a:srgbClr val="0C62FB"/>
                </a:solidFill>
                <a:latin typeface="Calibri"/>
              </a:rPr>
              <a:t>04</a:t>
            </a:r>
          </a:p>
        </p:txBody>
      </p:sp>
      <p:sp>
        <p:nvSpPr>
          <p:cNvPr id="94" name="Oval 93"/>
          <p:cNvSpPr/>
          <p:nvPr/>
        </p:nvSpPr>
        <p:spPr>
          <a:xfrm>
            <a:off x="5760720" y="3895344"/>
            <a:ext cx="658368" cy="658368"/>
          </a:xfrm>
          <a:prstGeom prst="ellipse">
            <a:avLst/>
          </a:prstGeom>
          <a:solidFill>
            <a:srgbClr val="0C62F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456" y="4069080"/>
            <a:ext cx="310896" cy="31089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2651760" y="4718303"/>
            <a:ext cx="182880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700" b="1">
                <a:solidFill>
                  <a:srgbClr val="2547C8"/>
                </a:solidFill>
                <a:latin typeface="Avenir Next LT Pro"/>
              </a:rPr>
              <a:t>AUDIT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651760" y="4992624"/>
            <a:ext cx="18288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8680" y="5221224"/>
            <a:ext cx="361188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1050" b="0">
                <a:solidFill>
                  <a:srgbClr val="3E4759"/>
                </a:solidFill>
                <a:latin typeface="Avenir Next LT Pro"/>
              </a:rPr>
              <a:t>Audits the live config for the issues that matter.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90288" y="4736592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3000" b="1">
                <a:solidFill>
                  <a:srgbClr val="2547C8"/>
                </a:solidFill>
                <a:latin typeface="Calibri"/>
              </a:rPr>
              <a:t>05</a:t>
            </a:r>
          </a:p>
        </p:txBody>
      </p:sp>
      <p:sp>
        <p:nvSpPr>
          <p:cNvPr id="100" name="Oval 99"/>
          <p:cNvSpPr/>
          <p:nvPr/>
        </p:nvSpPr>
        <p:spPr>
          <a:xfrm>
            <a:off x="5760720" y="4754879"/>
            <a:ext cx="658368" cy="658368"/>
          </a:xfrm>
          <a:prstGeom prst="ellipse">
            <a:avLst/>
          </a:prstGeom>
          <a:solidFill>
            <a:srgbClr val="2547C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4456" y="4928616"/>
            <a:ext cx="310896" cy="310896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735824" y="5577840"/>
            <a:ext cx="219456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>
                <a:solidFill>
                  <a:srgbClr val="002FAF"/>
                </a:solidFill>
                <a:latin typeface="Avenir Next LT Pro"/>
              </a:rPr>
              <a:t>RECONCILE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735824" y="5852160"/>
            <a:ext cx="27432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35824" y="6080760"/>
            <a:ext cx="365760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050" b="0">
                <a:solidFill>
                  <a:srgbClr val="3E4759"/>
                </a:solidFill>
                <a:latin typeface="Avenir Next LT Pro"/>
              </a:rPr>
              <a:t>Reconciles report-suite variables vs. what the property collects.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21424" y="5596128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3000" b="1">
                <a:solidFill>
                  <a:srgbClr val="002FAF"/>
                </a:solidFill>
                <a:latin typeface="Calibri"/>
              </a:rPr>
              <a:t>06</a:t>
            </a:r>
          </a:p>
        </p:txBody>
      </p:sp>
      <p:sp>
        <p:nvSpPr>
          <p:cNvPr id="106" name="Oval 105"/>
          <p:cNvSpPr/>
          <p:nvPr/>
        </p:nvSpPr>
        <p:spPr>
          <a:xfrm>
            <a:off x="5760720" y="5614416"/>
            <a:ext cx="658368" cy="658368"/>
          </a:xfrm>
          <a:prstGeom prst="ellipse">
            <a:avLst/>
          </a:prstGeom>
          <a:solidFill>
            <a:srgbClr val="002FA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4456" y="578815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864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7724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FF4D5F"/>
                </a:solidFill>
                <a:latin typeface="Avenir Next LT Pro"/>
              </a:rPr>
              <a:t>The Problem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7724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MANUAL DELIVERY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41247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Adobe implementations are built by hand — clicking through Launch, hand-writing SDRs, eyeballing configs. Slow, inconsistent between consultants, hard to QA, rarely well-documented.</a:t>
            </a:r>
          </a:p>
        </p:txBody>
      </p:sp>
      <p:sp>
        <p:nvSpPr>
          <p:cNvPr id="211" name="Oval 210"/>
          <p:cNvSpPr/>
          <p:nvPr/>
        </p:nvSpPr>
        <p:spPr>
          <a:xfrm>
            <a:off x="1851660" y="1554480"/>
            <a:ext cx="914400" cy="914400"/>
          </a:xfrm>
          <a:prstGeom prst="ellipse">
            <a:avLst/>
          </a:prstGeom>
          <a:solidFill>
            <a:srgbClr val="FF4D5F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404" y="1792224"/>
            <a:ext cx="438912" cy="438912"/>
          </a:xfrm>
          <a:prstGeom prst="rect">
            <a:avLst/>
          </a:prstGeom>
        </p:spPr>
      </p:pic>
      <p:sp>
        <p:nvSpPr>
          <p:cNvPr id="213" name="Oval 212"/>
          <p:cNvSpPr/>
          <p:nvPr/>
        </p:nvSpPr>
        <p:spPr>
          <a:xfrm>
            <a:off x="245516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34340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7200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E8833A"/>
                </a:solidFill>
                <a:latin typeface="Avenir Next LT Pro"/>
              </a:rPr>
              <a:t>What It Costs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7200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WHERE THE TIME GOES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63600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Weeks of senior time on repetitive setup. Errors surface late — double-counting, broken identity, missed variables — and quality depends on who happened to build it.</a:t>
            </a:r>
          </a:p>
        </p:txBody>
      </p:sp>
      <p:sp>
        <p:nvSpPr>
          <p:cNvPr id="218" name="Oval 217"/>
          <p:cNvSpPr/>
          <p:nvPr/>
        </p:nvSpPr>
        <p:spPr>
          <a:xfrm>
            <a:off x="5646420" y="1554480"/>
            <a:ext cx="914400" cy="914400"/>
          </a:xfrm>
          <a:prstGeom prst="ellipse">
            <a:avLst/>
          </a:prstGeom>
          <a:solidFill>
            <a:srgbClr val="E8833A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164" y="1792224"/>
            <a:ext cx="438912" cy="438912"/>
          </a:xfrm>
          <a:prstGeom prst="rect">
            <a:avLst/>
          </a:prstGeom>
        </p:spPr>
      </p:pic>
      <p:sp>
        <p:nvSpPr>
          <p:cNvPr id="220" name="Oval 219"/>
          <p:cNvSpPr/>
          <p:nvPr/>
        </p:nvSpPr>
        <p:spPr>
          <a:xfrm>
            <a:off x="624992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02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813816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36676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2E9E5B"/>
                </a:solidFill>
                <a:latin typeface="Avenir Next LT Pro"/>
              </a:rPr>
              <a:t>What the Skills Change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36676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GOVERNED &amp; REPEATABLE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43076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The repetitive, error-prone work is automated and standardized. Every stage produces a client-ready artifact from live data — the same way every time.</a:t>
            </a:r>
          </a:p>
        </p:txBody>
      </p:sp>
      <p:sp>
        <p:nvSpPr>
          <p:cNvPr id="225" name="Oval 224"/>
          <p:cNvSpPr/>
          <p:nvPr/>
        </p:nvSpPr>
        <p:spPr>
          <a:xfrm>
            <a:off x="9441180" y="1554480"/>
            <a:ext cx="914400" cy="914400"/>
          </a:xfrm>
          <a:prstGeom prst="ellipse">
            <a:avLst/>
          </a:prstGeom>
          <a:solidFill>
            <a:srgbClr val="2E9E5B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con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8924" y="1792224"/>
            <a:ext cx="438912" cy="438912"/>
          </a:xfrm>
          <a:prstGeom prst="rect">
            <a:avLst/>
          </a:prstGeom>
        </p:spPr>
      </p:pic>
      <p:sp>
        <p:nvSpPr>
          <p:cNvPr id="227" name="Oval 226"/>
          <p:cNvSpPr/>
          <p:nvPr/>
        </p:nvSpPr>
        <p:spPr>
          <a:xfrm>
            <a:off x="1004468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06908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86384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400" b="1">
                <a:solidFill>
                  <a:srgbClr val="002FAF"/>
                </a:solidFill>
                <a:latin typeface="Avenir Next LT Pro"/>
              </a:rPr>
              <a:t>The shift: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a bespoke, manual engagement becomes a governed, repeatable pipeline — consultants spend their hours on judgment and client decisions, not setup.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7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1783080" y="13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REUSABLE IP &amp; SPEED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1783080" y="170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one-off engagement becomes a repeatable asset. What took weeks of manual setup runs in hours; the next client reuses the same accelerators instead of starting over.</a:t>
            </a:r>
          </a:p>
        </p:txBody>
      </p:sp>
      <p:sp>
        <p:nvSpPr>
          <p:cNvPr id="110" name="Card"/>
          <p:cNvSpPr/>
          <p:nvPr/>
        </p:nvSpPr>
        <p:spPr>
          <a:xfrm>
            <a:off x="548640" y="3050000"/>
            <a:ext cx="11064240" cy="16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1783080" y="323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CONSISTENCY &amp; GOVERNANCE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1783080" y="355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same standards, naming, and quality bar on every engagement — with approval gates, rollback, and human sign-off built into the build and publish stages, not bolted on after.</a:t>
            </a:r>
          </a:p>
        </p:txBody>
      </p:sp>
      <p:sp>
        <p:nvSpPr>
          <p:cNvPr id="120" name="Card"/>
          <p:cNvSpPr/>
          <p:nvPr/>
        </p:nvSpPr>
        <p:spPr>
          <a:xfrm>
            <a:off x="548640" y="48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1783080" y="49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QUALITY FLOOR &amp; EVIDENCE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1783080" y="5302920"/>
            <a:ext cx="653796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Junior consultants ship senior-quality output. Every finding and recommendation is sourced from live configuration — capturable, repeatable, and defensible to a skeptical client.</a:t>
            </a:r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77240" y="1682496"/>
            <a:ext cx="777240" cy="777240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" name="Picture 207" descr="icon_z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119" y="1857375"/>
            <a:ext cx="427482" cy="427482"/>
          </a:xfrm>
          <a:prstGeom prst="rect">
            <a:avLst/>
          </a:prstGeom>
        </p:spPr>
      </p:pic>
      <p:sp>
        <p:nvSpPr>
          <p:cNvPr id="209" name="Rounded Rectangle 208"/>
          <p:cNvSpPr/>
          <p:nvPr/>
        </p:nvSpPr>
        <p:spPr>
          <a:xfrm>
            <a:off x="8686800" y="165963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Faster delivery</a:t>
            </a:r>
          </a:p>
        </p:txBody>
      </p:sp>
      <p:sp>
        <p:nvSpPr>
          <p:cNvPr id="210" name="Oval 209"/>
          <p:cNvSpPr/>
          <p:nvPr/>
        </p:nvSpPr>
        <p:spPr>
          <a:xfrm>
            <a:off x="777240" y="3488436"/>
            <a:ext cx="777240" cy="777240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1" name="Picture 210" descr="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119" y="3663314"/>
            <a:ext cx="427482" cy="427482"/>
          </a:xfrm>
          <a:prstGeom prst="rect">
            <a:avLst/>
          </a:prstGeom>
        </p:spPr>
      </p:pic>
      <p:sp>
        <p:nvSpPr>
          <p:cNvPr id="212" name="Rounded Rectangle 211"/>
          <p:cNvSpPr/>
          <p:nvPr/>
        </p:nvSpPr>
        <p:spPr>
          <a:xfrm>
            <a:off x="8686800" y="346557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Consistent &amp; governed</a:t>
            </a:r>
          </a:p>
        </p:txBody>
      </p:sp>
      <p:sp>
        <p:nvSpPr>
          <p:cNvPr id="213" name="Oval 212"/>
          <p:cNvSpPr/>
          <p:nvPr/>
        </p:nvSpPr>
        <p:spPr>
          <a:xfrm>
            <a:off x="777240" y="5189220"/>
            <a:ext cx="777240" cy="777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" name="Picture 213" descr="icon_aw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119" y="5364099"/>
            <a:ext cx="427482" cy="427482"/>
          </a:xfrm>
          <a:prstGeom prst="rect">
            <a:avLst/>
          </a:prstGeom>
        </p:spPr>
      </p:pic>
      <p:sp>
        <p:nvSpPr>
          <p:cNvPr id="215" name="Rounded Rectangle 214"/>
          <p:cNvSpPr/>
          <p:nvPr/>
        </p:nvSpPr>
        <p:spPr>
          <a:xfrm>
            <a:off x="8686800" y="5166360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Defensible &amp; repeatable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43" name="Rounded Rectangle 42"/>
          <p:cNvSpPr/>
          <p:nvPr/>
        </p:nvSpPr>
        <p:spPr>
          <a:xfrm>
            <a:off x="548640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on_trend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1837943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4944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C62FB"/>
                </a:solidFill>
                <a:latin typeface="Calibri"/>
              </a:rPr>
              <a:t>3–5×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Faster end-to-end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55848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20440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con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3592" y="1837943"/>
            <a:ext cx="18288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02152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E8FA0"/>
                </a:solidFill>
                <a:latin typeface="Calibri"/>
              </a:rPr>
              <a:t>~2 wks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Effort saved / migration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6B5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con_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837943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09360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6B5CA5"/>
                </a:solidFill>
                <a:latin typeface="Calibri"/>
              </a:rPr>
              <a:t>6→1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Skills, one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70264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134856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8008" y="1837943"/>
            <a:ext cx="182880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16568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2E9E5B"/>
                </a:solidFill>
                <a:latin typeface="Calibri"/>
              </a:rPr>
              <a:t>100%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6568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Repeatable &amp; documented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8640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THE MANUAL WAY</a:t>
            </a:r>
          </a:p>
        </p:txBody>
      </p:sp>
      <p:sp>
        <p:nvSpPr>
          <p:cNvPr id="65" name="Oval 64"/>
          <p:cNvSpPr/>
          <p:nvPr/>
        </p:nvSpPr>
        <p:spPr>
          <a:xfrm>
            <a:off x="749808" y="3538728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Current-state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2–3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 clicking through the UI</a:t>
            </a:r>
          </a:p>
        </p:txBody>
      </p:sp>
      <p:sp>
        <p:nvSpPr>
          <p:cNvPr id="67" name="Oval 66"/>
          <p:cNvSpPr/>
          <p:nvPr/>
        </p:nvSpPr>
        <p:spPr>
          <a:xfrm>
            <a:off x="749808" y="3968496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authored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weeks</a:t>
            </a:r>
          </a:p>
        </p:txBody>
      </p:sp>
      <p:sp>
        <p:nvSpPr>
          <p:cNvPr id="69" name="Oval 68"/>
          <p:cNvSpPr/>
          <p:nvPr/>
        </p:nvSpPr>
        <p:spPr>
          <a:xfrm>
            <a:off x="749808" y="4398264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Property provisioning in the UI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3–5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, error-prone</a:t>
            </a:r>
          </a:p>
        </p:txBody>
      </p:sp>
      <p:sp>
        <p:nvSpPr>
          <p:cNvPr id="71" name="Oval 70"/>
          <p:cNvSpPr/>
          <p:nvPr/>
        </p:nvSpPr>
        <p:spPr>
          <a:xfrm>
            <a:off x="749808" y="4828031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 full day</a:t>
            </a:r>
            <a:r>
              <a:rPr sz="1250" b="0">
                <a:solidFill>
                  <a:srgbClr val="3E4759"/>
                </a:solidFill>
                <a:latin typeface="Calibri"/>
              </a:rPr>
              <a:t> of cross-referencing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WITH THE SKILLS</a:t>
            </a:r>
          </a:p>
        </p:txBody>
      </p:sp>
      <p:sp>
        <p:nvSpPr>
          <p:cNvPr id="75" name="Oval 74"/>
          <p:cNvSpPr/>
          <p:nvPr/>
        </p:nvSpPr>
        <p:spPr>
          <a:xfrm>
            <a:off x="6400800" y="3538728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11696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Detect +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under half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sourced from the live site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968496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11696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generated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about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one universal pattern</a:t>
            </a:r>
          </a:p>
        </p:txBody>
      </p:sp>
      <p:sp>
        <p:nvSpPr>
          <p:cNvPr id="79" name="Oval 78"/>
          <p:cNvSpPr/>
          <p:nvPr/>
        </p:nvSpPr>
        <p:spPr>
          <a:xfrm>
            <a:off x="6400800" y="4398264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11696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Provisioning via Reactor API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minutes</a:t>
            </a:r>
            <a:r>
              <a:rPr sz="1250" b="0">
                <a:solidFill>
                  <a:srgbClr val="3E4759"/>
                </a:solidFill>
                <a:latin typeface="Calibri"/>
              </a:rPr>
              <a:t>, idempotent</a:t>
            </a:r>
          </a:p>
        </p:txBody>
      </p:sp>
      <p:sp>
        <p:nvSpPr>
          <p:cNvPr id="81" name="Oval 80"/>
          <p:cNvSpPr/>
          <p:nvPr/>
        </p:nvSpPr>
        <p:spPr>
          <a:xfrm>
            <a:off x="6400800" y="4828031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11696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hours</a:t>
            </a:r>
            <a:r>
              <a:rPr sz="1250" b="0">
                <a:solidFill>
                  <a:srgbClr val="3E4759"/>
                </a:solidFill>
                <a:latin typeface="Calibri"/>
              </a:rPr>
              <a:t>, a reviewed draft + decisions email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6811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8640" y="5468112"/>
            <a:ext cx="82296" cy="65836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468112"/>
            <a:ext cx="10607040" cy="6583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Net effect: </a:t>
            </a:r>
            <a:r>
              <a:rPr sz="1400" b="0">
                <a:solidFill>
                  <a:srgbClr val="3E4759"/>
                </a:solidFill>
                <a:latin typeface="Calibri"/>
              </a:rPr>
              <a:t>a multi-week manual engagement compresses to a few governed days — and every run is documented, repeatable, and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102" name="Rounded Rectangle 101"/>
          <p:cNvSpPr/>
          <p:nvPr/>
        </p:nvSpPr>
        <p:spPr>
          <a:xfrm>
            <a:off x="548640" y="1965960"/>
            <a:ext cx="7315200" cy="3703320"/>
          </a:xfrm>
          <a:prstGeom prst="roundRect">
            <a:avLst>
              <a:gd name="adj" fmla="val 3500"/>
            </a:avLst>
          </a:prstGeom>
          <a:solidFill>
            <a:srgbClr val="F5F8FF"/>
          </a:solidFill>
          <a:ln w="12700">
            <a:solidFill>
              <a:srgbClr val="E4E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55279" y="1965960"/>
            <a:ext cx="3685032" cy="3703320"/>
          </a:xfrm>
          <a:prstGeom prst="roundRect">
            <a:avLst>
              <a:gd name="adj" fmla="val 3500"/>
            </a:avLst>
          </a:prstGeom>
          <a:solidFill>
            <a:srgbClr val="EFFAFB"/>
          </a:solidFill>
          <a:ln w="12700">
            <a:solidFill>
              <a:srgbClr val="D8E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13232" y="2066543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91640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Stand up the implementation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19872" y="2066543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ASSURE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25712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Prove it &amp; decide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88720" y="4114800"/>
            <a:ext cx="320040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08760" y="4114800"/>
            <a:ext cx="1828800" cy="50292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37560" y="4114800"/>
            <a:ext cx="1828800" cy="50292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66360" y="4114800"/>
            <a:ext cx="1828800" cy="50292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95160" y="4114800"/>
            <a:ext cx="1828800" cy="50292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23960" y="4114800"/>
            <a:ext cx="182880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652760" y="4114800"/>
            <a:ext cx="32004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950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400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498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" y="2537460"/>
            <a:ext cx="164592" cy="164592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1155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55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Inspects the live site; reports the current stack.</a:t>
            </a:r>
          </a:p>
        </p:txBody>
      </p:sp>
      <p:sp>
        <p:nvSpPr>
          <p:cNvPr id="122" name="Oval 121"/>
          <p:cNvSpPr/>
          <p:nvPr/>
        </p:nvSpPr>
        <p:spPr>
          <a:xfrm>
            <a:off x="1280160" y="3909060"/>
            <a:ext cx="457200" cy="457200"/>
          </a:xfrm>
          <a:prstGeom prst="ellipse">
            <a:avLst/>
          </a:prstGeom>
          <a:solidFill>
            <a:srgbClr val="2E9E5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238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4688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5786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188" y="4750308"/>
            <a:ext cx="164592" cy="164592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29443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443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786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 short interview → a governed build plan.</a:t>
            </a:r>
          </a:p>
        </p:txBody>
      </p:sp>
      <p:sp>
        <p:nvSpPr>
          <p:cNvPr id="130" name="Oval 129"/>
          <p:cNvSpPr/>
          <p:nvPr/>
        </p:nvSpPr>
        <p:spPr>
          <a:xfrm>
            <a:off x="3108960" y="3909060"/>
            <a:ext cx="457200" cy="457200"/>
          </a:xfrm>
          <a:prstGeom prst="ellipse">
            <a:avLst/>
          </a:prstGeom>
          <a:solidFill>
            <a:srgbClr val="12A5A0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152644" y="3566160"/>
            <a:ext cx="27432" cy="548639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97680" y="2359152"/>
            <a:ext cx="1737360" cy="120700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4074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con_t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2537460"/>
            <a:ext cx="164592" cy="1645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47731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73168" y="2679192"/>
            <a:ext cx="11887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07408" y="309067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Generates the SDR, XDM schema, elements &amp; rules.</a:t>
            </a:r>
          </a:p>
        </p:txBody>
      </p:sp>
      <p:sp>
        <p:nvSpPr>
          <p:cNvPr id="138" name="Oval 137"/>
          <p:cNvSpPr/>
          <p:nvPr/>
        </p:nvSpPr>
        <p:spPr>
          <a:xfrm>
            <a:off x="4937760" y="3909060"/>
            <a:ext cx="457200" cy="457200"/>
          </a:xfrm>
          <a:prstGeom prst="ellipse">
            <a:avLst/>
          </a:prstGeom>
          <a:solidFill>
            <a:srgbClr val="1391C4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9814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1264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2362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con_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4750308"/>
            <a:ext cx="164592" cy="164592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66019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019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362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Provisions the Launch property via the API.</a:t>
            </a:r>
          </a:p>
        </p:txBody>
      </p:sp>
      <p:sp>
        <p:nvSpPr>
          <p:cNvPr id="146" name="Oval 145"/>
          <p:cNvSpPr/>
          <p:nvPr/>
        </p:nvSpPr>
        <p:spPr>
          <a:xfrm>
            <a:off x="6766560" y="3909060"/>
            <a:ext cx="457200" cy="457200"/>
          </a:xfrm>
          <a:prstGeom prst="ellipse">
            <a:avLst/>
          </a:prstGeom>
          <a:solidFill>
            <a:srgbClr val="0C62F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102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9552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0650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3588" y="2537460"/>
            <a:ext cx="164592" cy="164592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84307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307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650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Audits the live config — findings deck + workbook.</a:t>
            </a:r>
          </a:p>
        </p:txBody>
      </p:sp>
      <p:sp>
        <p:nvSpPr>
          <p:cNvPr id="154" name="Oval 153"/>
          <p:cNvSpPr/>
          <p:nvPr/>
        </p:nvSpPr>
        <p:spPr>
          <a:xfrm>
            <a:off x="8595360" y="3909060"/>
            <a:ext cx="457200" cy="457200"/>
          </a:xfrm>
          <a:prstGeom prst="ellipse">
            <a:avLst/>
          </a:prstGeom>
          <a:solidFill>
            <a:srgbClr val="2547C8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390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938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icon_refre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2388" y="4750308"/>
            <a:ext cx="164592" cy="164592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02595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595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8938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Report suite vs. property — workbook + email.</a:t>
            </a:r>
          </a:p>
        </p:txBody>
      </p:sp>
      <p:sp>
        <p:nvSpPr>
          <p:cNvPr id="162" name="Oval 161"/>
          <p:cNvSpPr/>
          <p:nvPr/>
        </p:nvSpPr>
        <p:spPr>
          <a:xfrm>
            <a:off x="10424160" y="3909060"/>
            <a:ext cx="457200" cy="457200"/>
          </a:xfrm>
          <a:prstGeom prst="ellipse">
            <a:avLst/>
          </a:prstGeom>
          <a:solidFill>
            <a:srgbClr val="002FAF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808" y="5934456"/>
            <a:ext cx="82296" cy="82296"/>
          </a:xfrm>
          <a:prstGeom prst="ellipse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governed pipeline — </a:t>
            </a:r>
            <a:r>
              <a:rPr sz="1200" b="1">
                <a:solidFill>
                  <a:srgbClr val="8FE9F6"/>
                </a:solidFill>
                <a:latin typeface="Calibri"/>
              </a:rPr>
              <a:t>every output feeds the next.</a:t>
            </a:r>
            <a:r>
              <a:rPr sz="1200" b="0">
                <a:solidFill>
                  <a:srgbClr val="FFFFFF"/>
                </a:solidFill>
                <a:latin typeface="Calibri"/>
              </a:rPr>
              <a:t>  The client gets a documented implementation, the evidence to trust it, and the decisions to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  <a:ln>
            <a:solid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GET STARTED IN ONE LINE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to Invoke the Skills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Each skill triggers from natural language — </a:t>
            </a:r>
            <a:r>
              <a:rPr sz="1400" b="1">
                <a:solidFill>
                  <a:srgbClr val="17203A"/>
                </a:solidFill>
                <a:latin typeface="Avenir Next LT Pro"/>
              </a:rPr>
              <a:t>type a prompt like these</a:t>
            </a:r>
            <a:r>
              <a:rPr sz="1400" b="0">
                <a:solidFill>
                  <a:srgbClr val="5A6478"/>
                </a:solidFill>
                <a:latin typeface="Avenir Next LT Pro"/>
              </a:rPr>
              <a:t> in Claude Code and the matching skill takes over. No commands to memorise.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56231"/>
            <a:ext cx="182880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0160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12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E9E5B"/>
                </a:solidFill>
                <a:latin typeface="Consolas"/>
              </a:rPr>
              <a:t>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What Adobe tools does aboutamazon.com run — Web SDK or AppMeasurement?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19088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856231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931152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12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2A5A0"/>
                </a:solidFill>
                <a:latin typeface="Consolas"/>
              </a:rPr>
              <a:t>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Plan our DTM-to-Launch migration with consent gating and approval gates.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8096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4720"/>
            <a:ext cx="182880" cy="18288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80160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391C4"/>
                </a:solidFill>
                <a:latin typeface="Consolas"/>
              </a:rPr>
              <a:t>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Build the SDR and Web SDK XDM schema, with universal data elements &amp; rules.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9632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19088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3474720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31152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12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19088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7104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C62FB"/>
                </a:solidFill>
                <a:latin typeface="Consolas"/>
              </a:rPr>
              <a:t>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Create the Launch property via the Reactor API and publish dev → prod.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68096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093208"/>
            <a:ext cx="182880" cy="1828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280160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12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8096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547C8"/>
                </a:solidFill>
                <a:latin typeface="Consolas"/>
              </a:rPr>
              <a:t>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2144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Audit this site's Adobe setup and turn the findings into a deck.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9632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19088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5093208"/>
            <a:ext cx="182880" cy="1828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931152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19088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7104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02FAF"/>
                </a:solidFill>
                <a:latin typeface="Consolas"/>
              </a:rPr>
              <a:t>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3136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Reconcile the report suite against the property — which eVars actually collect?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