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9" r:id="rId7"/>
    <p:sldId id="300" r:id="rId4"/>
    <p:sldId id="301" r:id="rId5"/>
    <p:sldId id="260" r:id="rId8"/>
    <p:sldId id="287" r:id="rId27"/>
    <p:sldId id="294" r:id="rId33"/>
    <p:sldId id="302" r:id="rId16"/>
    <p:sldId id="296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5706" autoAdjust="0"/>
  </p:normalViewPr>
  <p:slideViewPr>
    <p:cSldViewPr snapToGrid="0" snapToObjects="1">
      <p:cViewPr varScale="1">
        <p:scale>
          <a:sx n="49" d="100"/>
          <a:sy n="49" d="100"/>
        </p:scale>
        <p:origin x="96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16" Type="http://schemas.openxmlformats.org/officeDocument/2006/relationships/slide" Target="slides/slide8.xml"/><Relationship Id="rId27" Type="http://schemas.openxmlformats.org/officeDocument/2006/relationships/slide" Target="slides/slide6.xml"/><Relationship Id="rId33" Type="http://schemas.openxmlformats.org/officeDocument/2006/relationships/slide" Target="slides/slide7.xml"/><Relationship Id="rId35" Type="http://schemas.openxmlformats.org/officeDocument/2006/relationships/slide" Target="slides/slide9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Tavares" userId="64fa4b0e-5e10-4d25-bb9b-ad35997687ce" providerId="ADAL" clId="{3007A28F-8D06-469F-987C-A5228DD578DA}"/>
    <pc:docChg chg="undo custSel modSld">
      <pc:chgData name="Scott Tavares" userId="64fa4b0e-5e10-4d25-bb9b-ad35997687ce" providerId="ADAL" clId="{3007A28F-8D06-469F-987C-A5228DD578DA}" dt="2026-07-28T17:19:55.364" v="322" actId="20577"/>
      <pc:docMkLst>
        <pc:docMk/>
      </pc:docMkLst>
      <pc:sldChg chg="modNotesTx">
        <pc:chgData name="Scott Tavares" userId="64fa4b0e-5e10-4d25-bb9b-ad35997687ce" providerId="ADAL" clId="{3007A28F-8D06-469F-987C-A5228DD578DA}" dt="2026-07-28T17:19:55.364" v="322" actId="20577"/>
        <pc:sldMkLst>
          <pc:docMk/>
          <pc:sldMk cId="0" sldId="257"/>
        </pc:sldMkLst>
      </pc:sldChg>
      <pc:sldChg chg="modSp mod">
        <pc:chgData name="Scott Tavares" userId="64fa4b0e-5e10-4d25-bb9b-ad35997687ce" providerId="ADAL" clId="{3007A28F-8D06-469F-987C-A5228DD578DA}" dt="2026-07-20T18:56:21.484" v="71" actId="20577"/>
        <pc:sldMkLst>
          <pc:docMk/>
          <pc:sldMk cId="0" sldId="258"/>
        </pc:sldMkLst>
        <pc:spChg chg="mod">
          <ac:chgData name="Scott Tavares" userId="64fa4b0e-5e10-4d25-bb9b-ad35997687ce" providerId="ADAL" clId="{3007A28F-8D06-469F-987C-A5228DD578DA}" dt="2026-07-20T18:56:21.484" v="71" actId="20577"/>
          <ac:spMkLst>
            <pc:docMk/>
            <pc:sldMk cId="0" sldId="258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0.694" v="0" actId="20577"/>
        <pc:sldMkLst>
          <pc:docMk/>
          <pc:sldMk cId="0" sldId="263"/>
        </pc:sldMkLst>
      </pc:sldChg>
      <pc:sldChg chg="modSp mod modNotesTx">
        <pc:chgData name="Scott Tavares" userId="64fa4b0e-5e10-4d25-bb9b-ad35997687ce" providerId="ADAL" clId="{3007A28F-8D06-469F-987C-A5228DD578DA}" dt="2026-07-20T18:58:11.603" v="96" actId="20577"/>
        <pc:sldMkLst>
          <pc:docMk/>
          <pc:sldMk cId="0" sldId="264"/>
        </pc:sldMkLst>
        <pc:spChg chg="mod">
          <ac:chgData name="Scott Tavares" userId="64fa4b0e-5e10-4d25-bb9b-ad35997687ce" providerId="ADAL" clId="{3007A28F-8D06-469F-987C-A5228DD578DA}" dt="2026-07-20T18:58:11.603" v="96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5.353" v="2" actId="20577"/>
        <pc:sldMkLst>
          <pc:docMk/>
          <pc:sldMk cId="0" sldId="265"/>
        </pc:sldMkLst>
      </pc:sldChg>
      <pc:sldChg chg="modSp mod modNotesTx">
        <pc:chgData name="Scott Tavares" userId="64fa4b0e-5e10-4d25-bb9b-ad35997687ce" providerId="ADAL" clId="{3007A28F-8D06-469F-987C-A5228DD578DA}" dt="2026-07-20T19:03:32.216" v="109" actId="20577"/>
        <pc:sldMkLst>
          <pc:docMk/>
          <pc:sldMk cId="0" sldId="266"/>
        </pc:sldMkLst>
        <pc:spChg chg="mod">
          <ac:chgData name="Scott Tavares" userId="64fa4b0e-5e10-4d25-bb9b-ad35997687ce" providerId="ADAL" clId="{3007A28F-8D06-469F-987C-A5228DD578DA}" dt="2026-07-20T19:03:32.216" v="109" actId="20577"/>
          <ac:spMkLst>
            <pc:docMk/>
            <pc:sldMk cId="0" sldId="266"/>
            <ac:spMk id="3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2:58.892" v="106" actId="20577"/>
          <ac:spMkLst>
            <pc:docMk/>
            <pc:sldMk cId="0" sldId="266"/>
            <ac:spMk id="38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41.572" v="4" actId="20577"/>
        <pc:sldMkLst>
          <pc:docMk/>
          <pc:sldMk cId="0" sldId="267"/>
        </pc:sldMkLst>
      </pc:sldChg>
      <pc:sldChg chg="modSp mod modNotesTx">
        <pc:chgData name="Scott Tavares" userId="64fa4b0e-5e10-4d25-bb9b-ad35997687ce" providerId="ADAL" clId="{3007A28F-8D06-469F-987C-A5228DD578DA}" dt="2026-07-20T19:04:31.670" v="111" actId="14100"/>
        <pc:sldMkLst>
          <pc:docMk/>
          <pc:sldMk cId="0" sldId="268"/>
        </pc:sldMkLst>
        <pc:spChg chg="mod">
          <ac:chgData name="Scott Tavares" userId="64fa4b0e-5e10-4d25-bb9b-ad35997687ce" providerId="ADAL" clId="{3007A28F-8D06-469F-987C-A5228DD578DA}" dt="2026-07-20T19:04:31.670" v="111" actId="14100"/>
          <ac:spMkLst>
            <pc:docMk/>
            <pc:sldMk cId="0" sldId="268"/>
            <ac:spMk id="29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02.972" v="114" actId="20577"/>
        <pc:sldMkLst>
          <pc:docMk/>
          <pc:sldMk cId="0" sldId="269"/>
        </pc:sldMkLst>
        <pc:spChg chg="mod">
          <ac:chgData name="Scott Tavares" userId="64fa4b0e-5e10-4d25-bb9b-ad35997687ce" providerId="ADAL" clId="{3007A28F-8D06-469F-987C-A5228DD578DA}" dt="2026-07-20T19:05:02.972" v="114" actId="20577"/>
          <ac:spMkLst>
            <pc:docMk/>
            <pc:sldMk cId="0" sldId="269"/>
            <ac:spMk id="10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40.342" v="131" actId="20577"/>
        <pc:sldMkLst>
          <pc:docMk/>
          <pc:sldMk cId="0" sldId="270"/>
        </pc:sldMkLst>
        <pc:spChg chg="mod">
          <ac:chgData name="Scott Tavares" userId="64fa4b0e-5e10-4d25-bb9b-ad35997687ce" providerId="ADAL" clId="{3007A28F-8D06-469F-987C-A5228DD578DA}" dt="2026-07-20T19:05:40.342" v="131" actId="20577"/>
          <ac:spMkLst>
            <pc:docMk/>
            <pc:sldMk cId="0" sldId="270"/>
            <ac:spMk id="21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6:30.400" v="157" actId="20577"/>
        <pc:sldMkLst>
          <pc:docMk/>
          <pc:sldMk cId="0" sldId="271"/>
        </pc:sldMkLst>
        <pc:spChg chg="mod">
          <ac:chgData name="Scott Tavares" userId="64fa4b0e-5e10-4d25-bb9b-ad35997687ce" providerId="ADAL" clId="{3007A28F-8D06-469F-987C-A5228DD578DA}" dt="2026-07-20T19:06:30.400" v="157" actId="20577"/>
          <ac:spMkLst>
            <pc:docMk/>
            <pc:sldMk cId="0" sldId="271"/>
            <ac:spMk id="26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0:58.869" v="10" actId="20577"/>
        <pc:sldMkLst>
          <pc:docMk/>
          <pc:sldMk cId="0" sldId="272"/>
        </pc:sldMkLst>
      </pc:sldChg>
      <pc:sldChg chg="modNotesTx">
        <pc:chgData name="Scott Tavares" userId="64fa4b0e-5e10-4d25-bb9b-ad35997687ce" providerId="ADAL" clId="{3007A28F-8D06-469F-987C-A5228DD578DA}" dt="2026-07-20T18:42:14.634" v="17" actId="20577"/>
        <pc:sldMkLst>
          <pc:docMk/>
          <pc:sldMk cId="0" sldId="274"/>
        </pc:sldMkLst>
      </pc:sldChg>
      <pc:sldChg chg="modSp mod modNotesTx">
        <pc:chgData name="Scott Tavares" userId="64fa4b0e-5e10-4d25-bb9b-ad35997687ce" providerId="ADAL" clId="{3007A28F-8D06-469F-987C-A5228DD578DA}" dt="2026-07-20T19:08:06.641" v="207" actId="1035"/>
        <pc:sldMkLst>
          <pc:docMk/>
          <pc:sldMk cId="0" sldId="275"/>
        </pc:sldMkLst>
        <pc:spChg chg="mod">
          <ac:chgData name="Scott Tavares" userId="64fa4b0e-5e10-4d25-bb9b-ad35997687ce" providerId="ADAL" clId="{3007A28F-8D06-469F-987C-A5228DD578DA}" dt="2026-07-20T19:07:12.566" v="159" actId="14100"/>
          <ac:spMkLst>
            <pc:docMk/>
            <pc:sldMk cId="0" sldId="275"/>
            <ac:spMk id="17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7:56.689" v="187" actId="20577"/>
          <ac:spMkLst>
            <pc:docMk/>
            <pc:sldMk cId="0" sldId="275"/>
            <ac:spMk id="1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8:06.641" v="207" actId="1035"/>
          <ac:spMkLst>
            <pc:docMk/>
            <pc:sldMk cId="0" sldId="275"/>
            <ac:spMk id="2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5:14.874" v="50" actId="20577"/>
        <pc:sldMkLst>
          <pc:docMk/>
          <pc:sldMk cId="0" sldId="277"/>
        </pc:sldMkLst>
      </pc:sldChg>
      <pc:sldChg chg="modNotesTx">
        <pc:chgData name="Scott Tavares" userId="64fa4b0e-5e10-4d25-bb9b-ad35997687ce" providerId="ADAL" clId="{3007A28F-8D06-469F-987C-A5228DD578DA}" dt="2026-07-20T18:45:22.367" v="51" actId="20577"/>
        <pc:sldMkLst>
          <pc:docMk/>
          <pc:sldMk cId="0" sldId="280"/>
        </pc:sldMkLst>
      </pc:sldChg>
      <pc:sldChg chg="modNotesTx">
        <pc:chgData name="Scott Tavares" userId="64fa4b0e-5e10-4d25-bb9b-ad35997687ce" providerId="ADAL" clId="{3007A28F-8D06-469F-987C-A5228DD578DA}" dt="2026-07-20T18:45:51.767" v="52" actId="20577"/>
        <pc:sldMkLst>
          <pc:docMk/>
          <pc:sldMk cId="0" sldId="281"/>
        </pc:sldMkLst>
      </pc:sldChg>
      <pc:sldChg chg="modNotesTx">
        <pc:chgData name="Scott Tavares" userId="64fa4b0e-5e10-4d25-bb9b-ad35997687ce" providerId="ADAL" clId="{3007A28F-8D06-469F-987C-A5228DD578DA}" dt="2026-07-20T18:48:54.229" v="62" actId="20577"/>
        <pc:sldMkLst>
          <pc:docMk/>
          <pc:sldMk cId="0" sldId="287"/>
        </pc:sldMkLst>
      </pc:sldChg>
      <pc:sldChg chg="addSp modSp mod modNotesTx">
        <pc:chgData name="Scott Tavares" userId="64fa4b0e-5e10-4d25-bb9b-ad35997687ce" providerId="ADAL" clId="{3007A28F-8D06-469F-987C-A5228DD578DA}" dt="2026-07-20T19:09:56.185" v="248" actId="164"/>
        <pc:sldMkLst>
          <pc:docMk/>
          <pc:sldMk cId="0" sldId="288"/>
        </pc:sldMkLst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6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8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0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1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2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4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6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0:44.453" v="255" actId="20577"/>
        <pc:sldMkLst>
          <pc:docMk/>
          <pc:sldMk cId="0" sldId="290"/>
        </pc:sldMkLst>
        <pc:spChg chg="mod">
          <ac:chgData name="Scott Tavares" userId="64fa4b0e-5e10-4d25-bb9b-ad35997687ce" providerId="ADAL" clId="{3007A28F-8D06-469F-987C-A5228DD578DA}" dt="2026-07-20T19:10:44.453" v="255" actId="20577"/>
          <ac:spMkLst>
            <pc:docMk/>
            <pc:sldMk cId="0" sldId="290"/>
            <ac:spMk id="402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1:19.142" v="265" actId="1035"/>
        <pc:sldMkLst>
          <pc:docMk/>
          <pc:sldMk cId="0" sldId="292"/>
        </pc:sldMkLst>
        <pc:spChg chg="mod">
          <ac:chgData name="Scott Tavares" userId="64fa4b0e-5e10-4d25-bb9b-ad35997687ce" providerId="ADAL" clId="{3007A28F-8D06-469F-987C-A5228DD578DA}" dt="2026-07-20T19:11:19.142" v="265" actId="1035"/>
          <ac:spMkLst>
            <pc:docMk/>
            <pc:sldMk cId="0" sldId="292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51:25.583" v="69" actId="20577"/>
        <pc:sldMkLst>
          <pc:docMk/>
          <pc:sldMk cId="0" sldId="29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487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Cover. The Adobe Data Collection Delivery Suite — six Claude Code skills that take a site from detection to a governed, measured Adobe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are. Six skills in one pipeline: Tech-Detector, Setup-Plan, Data-Collection-Builder, Property-Creator, Audit-Builder, Data-Reconciliation.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savings. Illustrative estimates: a multi-week manual engagement compressed to days. Labeled as estimates, not measured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diagram. One pipeline in two phases — Build (detect/plan/build/publish) and Assure (audit/reconcile). Every output feeds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deliver. Build artifacts (SDR, XDM, live property) plus Assure artifacts (audit deck + workbook, reconciliation workbook + decisions email).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6.png"/><Relationship Id="rId8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18.png"/><Relationship Id="rId5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6.png"/><Relationship Id="rId7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2920"/>
            <a:ext cx="1417320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9326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  ·  ADOBE DELIVERY ACCELERATORS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40080" y="2834640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Adobe Data Collection Delivery Suite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Claude Code skills — from detecting a site's tags to a governed, measured Adobe implementation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640080" y="429768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→ Plan → Build → Publish → Audit → Reconcile — one governed pipeline, every output client-ready.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93B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Prepared by Scott Tavares  •  Slalom Client Delivery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0" y="0"/>
            <a:ext cx="137160" cy="1371600"/>
          </a:xfrm>
          <a:prstGeom prst="rect">
            <a:avLst/>
          </a:prstGeom>
          <a:solidFill>
            <a:srgbClr val="DEFF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0" y="1371600"/>
            <a:ext cx="137160" cy="137160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0" y="2743200"/>
            <a:ext cx="137160" cy="137160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0" y="4114800"/>
            <a:ext cx="137160" cy="137160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0" y="5486400"/>
            <a:ext cx="137160" cy="137160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SKILLS, ONE DELIVERY PIPELINE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Are</a:t>
            </a:r>
            <a:endParaRPr lang="en-US" sz="2500" dirty="0"/>
          </a:p>
        </p:txBody>
      </p:sp>
      <p:sp>
        <p:nvSpPr>
          <p:cNvPr id="59" name="Shape 56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65" name="Rectangle 64"/>
          <p:cNvSpPr/>
          <p:nvPr/>
        </p:nvSpPr>
        <p:spPr>
          <a:xfrm>
            <a:off x="6062472" y="1371600"/>
            <a:ext cx="54864" cy="2743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62472" y="1645920"/>
            <a:ext cx="54864" cy="859536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062472" y="2505456"/>
            <a:ext cx="54864" cy="859536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62472" y="3364992"/>
            <a:ext cx="54864" cy="859536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62472" y="4224528"/>
            <a:ext cx="54864" cy="859535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62472" y="5084064"/>
            <a:ext cx="54864" cy="859536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062472" y="5943600"/>
            <a:ext cx="54864" cy="274319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651760" y="1280160"/>
            <a:ext cx="1828800" cy="29260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700" b="1">
                <a:solidFill>
                  <a:srgbClr val="2E9E5B"/>
                </a:solidFill>
                <a:latin typeface="Avenir Next LT Pro"/>
              </a:rPr>
              <a:t>DETECT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51760" y="1554480"/>
            <a:ext cx="182880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8680" y="1783080"/>
            <a:ext cx="3611880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/>
            <a:r>
              <a:rPr sz="1050" b="0">
                <a:solidFill>
                  <a:srgbClr val="3E4759"/>
                </a:solidFill>
                <a:latin typeface="Avenir Next LT Pro"/>
              </a:rPr>
              <a:t>Inspects the live site; reports the current martech stack.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90288" y="1298448"/>
            <a:ext cx="777240" cy="6949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3000" b="1">
                <a:solidFill>
                  <a:srgbClr val="2E9E5B"/>
                </a:solidFill>
                <a:latin typeface="Calibri"/>
              </a:rPr>
              <a:t>01</a:t>
            </a:r>
          </a:p>
        </p:txBody>
      </p:sp>
      <p:sp>
        <p:nvSpPr>
          <p:cNvPr id="76" name="Oval 75"/>
          <p:cNvSpPr/>
          <p:nvPr/>
        </p:nvSpPr>
        <p:spPr>
          <a:xfrm>
            <a:off x="5760720" y="1316736"/>
            <a:ext cx="658368" cy="658368"/>
          </a:xfrm>
          <a:prstGeom prst="ellipse">
            <a:avLst/>
          </a:prstGeom>
          <a:solidFill>
            <a:srgbClr val="2E9E5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6" y="1490472"/>
            <a:ext cx="310896" cy="310896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7735824" y="2139696"/>
            <a:ext cx="2194560" cy="29260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700" b="1">
                <a:solidFill>
                  <a:srgbClr val="12A5A0"/>
                </a:solidFill>
                <a:latin typeface="Avenir Next LT Pro"/>
              </a:rPr>
              <a:t>PLAN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35824" y="2414016"/>
            <a:ext cx="274320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35824" y="2642616"/>
            <a:ext cx="3657600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050" b="0">
                <a:solidFill>
                  <a:srgbClr val="3E4759"/>
                </a:solidFill>
                <a:latin typeface="Avenir Next LT Pro"/>
              </a:rPr>
              <a:t>Turns a short interview into a governed implementation plan.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21424" y="2157984"/>
            <a:ext cx="777240" cy="6949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3000" b="1">
                <a:solidFill>
                  <a:srgbClr val="12A5A0"/>
                </a:solidFill>
                <a:latin typeface="Calibri"/>
              </a:rPr>
              <a:t>02</a:t>
            </a:r>
          </a:p>
        </p:txBody>
      </p:sp>
      <p:sp>
        <p:nvSpPr>
          <p:cNvPr id="82" name="Oval 81"/>
          <p:cNvSpPr/>
          <p:nvPr/>
        </p:nvSpPr>
        <p:spPr>
          <a:xfrm>
            <a:off x="5760720" y="2176272"/>
            <a:ext cx="658368" cy="658368"/>
          </a:xfrm>
          <a:prstGeom prst="ellipse">
            <a:avLst/>
          </a:prstGeom>
          <a:solidFill>
            <a:srgbClr val="12A5A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2350008"/>
            <a:ext cx="310896" cy="310896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2651760" y="2999232"/>
            <a:ext cx="1828800" cy="29260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700" b="1">
                <a:solidFill>
                  <a:srgbClr val="1391C4"/>
                </a:solidFill>
                <a:latin typeface="Avenir Next LT Pro"/>
              </a:rPr>
              <a:t>BUILD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651760" y="3273552"/>
            <a:ext cx="182880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8680" y="3502152"/>
            <a:ext cx="3611880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/>
            <a:r>
              <a:rPr sz="1050" b="0">
                <a:solidFill>
                  <a:srgbClr val="3E4759"/>
                </a:solidFill>
                <a:latin typeface="Avenir Next LT Pro"/>
              </a:rPr>
              <a:t>Builds the SDR + Web SDK XDM schema, data elements &amp; rules.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90288" y="3017520"/>
            <a:ext cx="777240" cy="6949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3000" b="1">
                <a:solidFill>
                  <a:srgbClr val="1391C4"/>
                </a:solidFill>
                <a:latin typeface="Calibri"/>
              </a:rPr>
              <a:t>03</a:t>
            </a:r>
          </a:p>
        </p:txBody>
      </p:sp>
      <p:sp>
        <p:nvSpPr>
          <p:cNvPr id="88" name="Oval 87"/>
          <p:cNvSpPr/>
          <p:nvPr/>
        </p:nvSpPr>
        <p:spPr>
          <a:xfrm>
            <a:off x="5760720" y="3035808"/>
            <a:ext cx="658368" cy="658368"/>
          </a:xfrm>
          <a:prstGeom prst="ellipse">
            <a:avLst/>
          </a:prstGeom>
          <a:solidFill>
            <a:srgbClr val="1391C4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4456" y="3209544"/>
            <a:ext cx="310896" cy="310896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735824" y="3858768"/>
            <a:ext cx="2194560" cy="29260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700" b="1">
                <a:solidFill>
                  <a:srgbClr val="0C62FB"/>
                </a:solidFill>
                <a:latin typeface="Avenir Next LT Pro"/>
              </a:rPr>
              <a:t>PUBLISH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735824" y="4133088"/>
            <a:ext cx="274320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735824" y="4361688"/>
            <a:ext cx="3657600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050" b="0">
                <a:solidFill>
                  <a:srgbClr val="3E4759"/>
                </a:solidFill>
                <a:latin typeface="Avenir Next LT Pro"/>
              </a:rPr>
              <a:t>Provisions the Launch property end-to-end via the Reactor API.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21424" y="3877056"/>
            <a:ext cx="777240" cy="6949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3000" b="1">
                <a:solidFill>
                  <a:srgbClr val="0C62FB"/>
                </a:solidFill>
                <a:latin typeface="Calibri"/>
              </a:rPr>
              <a:t>04</a:t>
            </a:r>
          </a:p>
        </p:txBody>
      </p:sp>
      <p:sp>
        <p:nvSpPr>
          <p:cNvPr id="94" name="Oval 93"/>
          <p:cNvSpPr/>
          <p:nvPr/>
        </p:nvSpPr>
        <p:spPr>
          <a:xfrm>
            <a:off x="5760720" y="3895344"/>
            <a:ext cx="658368" cy="658368"/>
          </a:xfrm>
          <a:prstGeom prst="ellipse">
            <a:avLst/>
          </a:prstGeom>
          <a:solidFill>
            <a:srgbClr val="0C62F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4456" y="4069080"/>
            <a:ext cx="310896" cy="31089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2651760" y="4718303"/>
            <a:ext cx="1828800" cy="29260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700" b="1">
                <a:solidFill>
                  <a:srgbClr val="2547C8"/>
                </a:solidFill>
                <a:latin typeface="Avenir Next LT Pro"/>
              </a:rPr>
              <a:t>AUDIT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651760" y="4992624"/>
            <a:ext cx="182880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8680" y="5221224"/>
            <a:ext cx="3611880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/>
            <a:r>
              <a:rPr sz="1050" b="0">
                <a:solidFill>
                  <a:srgbClr val="3E4759"/>
                </a:solidFill>
                <a:latin typeface="Avenir Next LT Pro"/>
              </a:rPr>
              <a:t>Audits the live config for the issues that matter.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90288" y="4736592"/>
            <a:ext cx="777240" cy="6949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3000" b="1">
                <a:solidFill>
                  <a:srgbClr val="2547C8"/>
                </a:solidFill>
                <a:latin typeface="Calibri"/>
              </a:rPr>
              <a:t>05</a:t>
            </a:r>
          </a:p>
        </p:txBody>
      </p:sp>
      <p:sp>
        <p:nvSpPr>
          <p:cNvPr id="100" name="Oval 99"/>
          <p:cNvSpPr/>
          <p:nvPr/>
        </p:nvSpPr>
        <p:spPr>
          <a:xfrm>
            <a:off x="5760720" y="4754879"/>
            <a:ext cx="658368" cy="658368"/>
          </a:xfrm>
          <a:prstGeom prst="ellipse">
            <a:avLst/>
          </a:prstGeom>
          <a:solidFill>
            <a:srgbClr val="2547C8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4456" y="4928616"/>
            <a:ext cx="310896" cy="310896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735824" y="5577840"/>
            <a:ext cx="2194560" cy="29260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700" b="1">
                <a:solidFill>
                  <a:srgbClr val="002FAF"/>
                </a:solidFill>
                <a:latin typeface="Avenir Next LT Pro"/>
              </a:rPr>
              <a:t>RECONCILE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735824" y="5852160"/>
            <a:ext cx="274320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735824" y="6080760"/>
            <a:ext cx="3657600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050" b="0">
                <a:solidFill>
                  <a:srgbClr val="3E4759"/>
                </a:solidFill>
                <a:latin typeface="Avenir Next LT Pro"/>
              </a:rPr>
              <a:t>Reconciles report-suite variables vs. what the property collects.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21424" y="5596128"/>
            <a:ext cx="777240" cy="6949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3000" b="1">
                <a:solidFill>
                  <a:srgbClr val="002FAF"/>
                </a:solidFill>
                <a:latin typeface="Calibri"/>
              </a:rPr>
              <a:t>06</a:t>
            </a:r>
          </a:p>
        </p:txBody>
      </p:sp>
      <p:sp>
        <p:nvSpPr>
          <p:cNvPr id="106" name="Oval 105"/>
          <p:cNvSpPr/>
          <p:nvPr/>
        </p:nvSpPr>
        <p:spPr>
          <a:xfrm>
            <a:off x="5760720" y="5614416"/>
            <a:ext cx="658368" cy="658368"/>
          </a:xfrm>
          <a:prstGeom prst="ellipse">
            <a:avLst/>
          </a:prstGeom>
          <a:solidFill>
            <a:srgbClr val="002FA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34456" y="578815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WE USE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the Skills Exist</a:t>
            </a:r>
            <a:endParaRPr lang="en-US" sz="250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54864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77724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FF4D5F"/>
                </a:solidFill>
                <a:latin typeface="Avenir Next LT Pro"/>
              </a:rPr>
              <a:t>The Problem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77724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MANUAL DELIVERY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841247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Adobe implementations are built by hand — clicking through Launch, hand-writing SDRs, eyeballing configs. Slow, inconsistent between consultants, hard to QA, rarely well-documented.</a:t>
            </a:r>
          </a:p>
        </p:txBody>
      </p:sp>
      <p:sp>
        <p:nvSpPr>
          <p:cNvPr id="211" name="Oval 210"/>
          <p:cNvSpPr/>
          <p:nvPr/>
        </p:nvSpPr>
        <p:spPr>
          <a:xfrm>
            <a:off x="1851660" y="1554480"/>
            <a:ext cx="914400" cy="914400"/>
          </a:xfrm>
          <a:prstGeom prst="ellipse">
            <a:avLst/>
          </a:prstGeom>
          <a:solidFill>
            <a:srgbClr val="FF4D5F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icon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9404" y="1792224"/>
            <a:ext cx="438912" cy="438912"/>
          </a:xfrm>
          <a:prstGeom prst="rect">
            <a:avLst/>
          </a:prstGeom>
        </p:spPr>
      </p:pic>
      <p:sp>
        <p:nvSpPr>
          <p:cNvPr id="213" name="Oval 212"/>
          <p:cNvSpPr/>
          <p:nvPr/>
        </p:nvSpPr>
        <p:spPr>
          <a:xfrm>
            <a:off x="245516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01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434340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457200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E8833A"/>
                </a:solidFill>
                <a:latin typeface="Avenir Next LT Pro"/>
              </a:rPr>
              <a:t>What It Costs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57200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WHERE THE TIME GOES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636008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Weeks of senior time on repetitive setup. Errors surface late — double-counting, broken identity, missed variables — and quality depends on who happened to build it.</a:t>
            </a:r>
          </a:p>
        </p:txBody>
      </p:sp>
      <p:sp>
        <p:nvSpPr>
          <p:cNvPr id="218" name="Oval 217"/>
          <p:cNvSpPr/>
          <p:nvPr/>
        </p:nvSpPr>
        <p:spPr>
          <a:xfrm>
            <a:off x="5646420" y="1554480"/>
            <a:ext cx="914400" cy="914400"/>
          </a:xfrm>
          <a:prstGeom prst="ellipse">
            <a:avLst/>
          </a:prstGeom>
          <a:solidFill>
            <a:srgbClr val="E8833A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9" name="Picture 2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4164" y="1792224"/>
            <a:ext cx="438912" cy="438912"/>
          </a:xfrm>
          <a:prstGeom prst="rect">
            <a:avLst/>
          </a:prstGeom>
        </p:spPr>
      </p:pic>
      <p:sp>
        <p:nvSpPr>
          <p:cNvPr id="220" name="Oval 219"/>
          <p:cNvSpPr/>
          <p:nvPr/>
        </p:nvSpPr>
        <p:spPr>
          <a:xfrm>
            <a:off x="624992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02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813816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36676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2E9E5B"/>
                </a:solidFill>
                <a:latin typeface="Avenir Next LT Pro"/>
              </a:rPr>
              <a:t>What the Skills Change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36676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GOVERNED &amp; REPEATABLE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430768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The repetitive, error-prone work is automated and standardized. Every stage produces a client-ready artifact from live data — the same way every time.</a:t>
            </a:r>
          </a:p>
        </p:txBody>
      </p:sp>
      <p:sp>
        <p:nvSpPr>
          <p:cNvPr id="225" name="Oval 224"/>
          <p:cNvSpPr/>
          <p:nvPr/>
        </p:nvSpPr>
        <p:spPr>
          <a:xfrm>
            <a:off x="9441180" y="1554480"/>
            <a:ext cx="914400" cy="914400"/>
          </a:xfrm>
          <a:prstGeom prst="ellipse">
            <a:avLst/>
          </a:prstGeom>
          <a:solidFill>
            <a:srgbClr val="2E9E5B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6" name="Picture 225" descr="icon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8924" y="1792224"/>
            <a:ext cx="438912" cy="438912"/>
          </a:xfrm>
          <a:prstGeom prst="rect">
            <a:avLst/>
          </a:prstGeom>
        </p:spPr>
      </p:pic>
      <p:sp>
        <p:nvSpPr>
          <p:cNvPr id="227" name="Oval 226"/>
          <p:cNvSpPr/>
          <p:nvPr/>
        </p:nvSpPr>
        <p:spPr>
          <a:xfrm>
            <a:off x="1004468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03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069080" y="3063240"/>
            <a:ext cx="384048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2600" b="1">
                <a:solidFill>
                  <a:srgbClr val="C6D0E4"/>
                </a:solidFill>
                <a:latin typeface="Calibri"/>
              </a:rPr>
              <a:t>❯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863840" y="3063240"/>
            <a:ext cx="384048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2600" b="1">
                <a:solidFill>
                  <a:srgbClr val="C6D0E4"/>
                </a:solidFill>
                <a:latin typeface="Calibri"/>
              </a:rPr>
              <a:t>❯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548640" y="5349240"/>
            <a:ext cx="11091672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400" b="1">
                <a:solidFill>
                  <a:srgbClr val="002FAF"/>
                </a:solidFill>
                <a:latin typeface="Avenir Next LT Pro"/>
              </a:rPr>
              <a:t>The shift: </a:t>
            </a:r>
            <a:r>
              <a:rPr sz="1400" b="0">
                <a:solidFill>
                  <a:srgbClr val="3E4759"/>
                </a:solidFill>
                <a:latin typeface="Avenir Next LT Pro"/>
              </a:rPr>
              <a:t>a bespoke, manual engagement becomes a governed, repeatable pipeline — consultants spend their hours on judgment and client decisions, not setup.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YOU GET FROM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Value Add</a:t>
            </a:r>
            <a:endParaRPr lang="en-US" sz="2500" dirty="0"/>
          </a:p>
        </p:txBody>
      </p:sp>
      <p:sp>
        <p:nvSpPr>
          <p:cNvPr id="100" name="Card"/>
          <p:cNvSpPr/>
          <p:nvPr/>
        </p:nvSpPr>
        <p:spPr>
          <a:xfrm>
            <a:off x="548640" y="1200000"/>
            <a:ext cx="11064240" cy="17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Caption"/>
          <p:cNvSpPr/>
          <p:nvPr/>
        </p:nvSpPr>
        <p:spPr>
          <a:xfrm>
            <a:off x="1783080" y="138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REUSABLE IP &amp; SPEED</a:t>
            </a:r>
            <a:endParaRPr lang="en-US" sz="1200" dirty="0"/>
          </a:p>
        </p:txBody>
      </p:sp>
      <p:sp>
        <p:nvSpPr>
          <p:cNvPr id="102" name="Body"/>
          <p:cNvSpPr/>
          <p:nvPr/>
        </p:nvSpPr>
        <p:spPr>
          <a:xfrm>
            <a:off x="1783080" y="1702920"/>
            <a:ext cx="6537960" cy="10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one-off engagement becomes a repeatable asset. What took weeks of manual setup runs in hours; the next client reuses the same accelerators instead of starting over.</a:t>
            </a:r>
          </a:p>
        </p:txBody>
      </p:sp>
      <p:sp>
        <p:nvSpPr>
          <p:cNvPr id="110" name="Card"/>
          <p:cNvSpPr/>
          <p:nvPr/>
        </p:nvSpPr>
        <p:spPr>
          <a:xfrm>
            <a:off x="548640" y="3050000"/>
            <a:ext cx="11064240" cy="16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Caption"/>
          <p:cNvSpPr/>
          <p:nvPr/>
        </p:nvSpPr>
        <p:spPr>
          <a:xfrm>
            <a:off x="1783080" y="323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CONSISTENCY &amp; GOVERNANCE</a:t>
            </a:r>
            <a:endParaRPr lang="en-US" sz="1200" dirty="0"/>
          </a:p>
        </p:txBody>
      </p:sp>
      <p:sp>
        <p:nvSpPr>
          <p:cNvPr id="112" name="Body"/>
          <p:cNvSpPr/>
          <p:nvPr/>
        </p:nvSpPr>
        <p:spPr>
          <a:xfrm>
            <a:off x="1783080" y="3552920"/>
            <a:ext cx="6537960" cy="10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same standards, naming, and quality bar on every engagement — with approval gates, rollback, and human sign-off built into the build and publish stages, not bolted on after.</a:t>
            </a:r>
          </a:p>
        </p:txBody>
      </p:sp>
      <p:sp>
        <p:nvSpPr>
          <p:cNvPr id="120" name="Card"/>
          <p:cNvSpPr/>
          <p:nvPr/>
        </p:nvSpPr>
        <p:spPr>
          <a:xfrm>
            <a:off x="548640" y="480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Caption"/>
          <p:cNvSpPr/>
          <p:nvPr/>
        </p:nvSpPr>
        <p:spPr>
          <a:xfrm>
            <a:off x="1783080" y="498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QUALITY FLOOR &amp; EVIDENCE</a:t>
            </a:r>
            <a:endParaRPr lang="en-US" sz="1200" dirty="0"/>
          </a:p>
        </p:txBody>
      </p:sp>
      <p:sp>
        <p:nvSpPr>
          <p:cNvPr id="122" name="Body"/>
          <p:cNvSpPr/>
          <p:nvPr/>
        </p:nvSpPr>
        <p:spPr>
          <a:xfrm>
            <a:off x="1783080" y="5302920"/>
            <a:ext cx="653796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Junior consultants ship senior-quality output. Every finding and recommendation is sourced from live configuration — capturable, repeatable, and defensible to a skeptical client.</a:t>
            </a:r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</a:p>
        </p:txBody>
      </p:sp>
      <p:sp>
        <p:nvSpPr>
          <p:cNvPr id="207" name="Oval 206"/>
          <p:cNvSpPr/>
          <p:nvPr/>
        </p:nvSpPr>
        <p:spPr>
          <a:xfrm>
            <a:off x="777240" y="1682496"/>
            <a:ext cx="777240" cy="777240"/>
          </a:xfrm>
          <a:prstGeom prst="ellipse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8" name="Picture 207" descr="icon_z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119" y="1857375"/>
            <a:ext cx="427482" cy="427482"/>
          </a:xfrm>
          <a:prstGeom prst="rect">
            <a:avLst/>
          </a:prstGeom>
        </p:spPr>
      </p:pic>
      <p:sp>
        <p:nvSpPr>
          <p:cNvPr id="209" name="Rounded Rectangle 208"/>
          <p:cNvSpPr/>
          <p:nvPr/>
        </p:nvSpPr>
        <p:spPr>
          <a:xfrm>
            <a:off x="8686800" y="1659636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Faster delivery</a:t>
            </a:r>
          </a:p>
        </p:txBody>
      </p:sp>
      <p:sp>
        <p:nvSpPr>
          <p:cNvPr id="210" name="Oval 209"/>
          <p:cNvSpPr/>
          <p:nvPr/>
        </p:nvSpPr>
        <p:spPr>
          <a:xfrm>
            <a:off x="777240" y="3488436"/>
            <a:ext cx="777240" cy="777240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1" name="Picture 210" descr="icon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119" y="3663314"/>
            <a:ext cx="427482" cy="427482"/>
          </a:xfrm>
          <a:prstGeom prst="rect">
            <a:avLst/>
          </a:prstGeom>
        </p:spPr>
      </p:pic>
      <p:sp>
        <p:nvSpPr>
          <p:cNvPr id="212" name="Rounded Rectangle 211"/>
          <p:cNvSpPr/>
          <p:nvPr/>
        </p:nvSpPr>
        <p:spPr>
          <a:xfrm>
            <a:off x="8686800" y="3465576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Consistent &amp; governed</a:t>
            </a:r>
          </a:p>
        </p:txBody>
      </p:sp>
      <p:sp>
        <p:nvSpPr>
          <p:cNvPr id="213" name="Oval 212"/>
          <p:cNvSpPr/>
          <p:nvPr/>
        </p:nvSpPr>
        <p:spPr>
          <a:xfrm>
            <a:off x="777240" y="5189220"/>
            <a:ext cx="777240" cy="777240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" name="Picture 213" descr="icon_aw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119" y="5364099"/>
            <a:ext cx="427482" cy="427482"/>
          </a:xfrm>
          <a:prstGeom prst="rect">
            <a:avLst/>
          </a:prstGeom>
        </p:spPr>
      </p:pic>
      <p:sp>
        <p:nvSpPr>
          <p:cNvPr id="215" name="Rounded Rectangle 214"/>
          <p:cNvSpPr/>
          <p:nvPr/>
        </p:nvSpPr>
        <p:spPr>
          <a:xfrm>
            <a:off x="8686800" y="5166360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Defensible &amp; repeatable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BOTTOM LINE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48640" y="6400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Time Savings — Weeks to Days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Illustrative effort for a typical mid-size Adobe migration — manual delivery vs. the skills. The point isn't the exact hours; it's where senior time goes.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2" name="Text 3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43" name="Rounded Rectangle 42"/>
          <p:cNvSpPr/>
          <p:nvPr/>
        </p:nvSpPr>
        <p:spPr>
          <a:xfrm>
            <a:off x="548640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13232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con_trendu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1837943"/>
            <a:ext cx="182880" cy="1828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94944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C62FB"/>
                </a:solidFill>
                <a:latin typeface="Calibri"/>
              </a:rPr>
              <a:t>3–5×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Faster end-to-end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355848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520440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con_c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3592" y="1837943"/>
            <a:ext cx="182880" cy="1828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502152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E8FA0"/>
                </a:solidFill>
                <a:latin typeface="Calibri"/>
              </a:rPr>
              <a:t>~2 wks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02152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Effort saved / migration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63056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327648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6B5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con_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1837943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309360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6B5CA5"/>
                </a:solidFill>
                <a:latin typeface="Calibri"/>
              </a:rPr>
              <a:t>6→1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Skills, one pipeline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70264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134856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08008" y="1837943"/>
            <a:ext cx="182880" cy="18288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116568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2E9E5B"/>
                </a:solidFill>
                <a:latin typeface="Calibri"/>
              </a:rPr>
              <a:t>100%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16568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Repeatable &amp; documented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48640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THE MANUAL WAY</a:t>
            </a:r>
          </a:p>
        </p:txBody>
      </p:sp>
      <p:sp>
        <p:nvSpPr>
          <p:cNvPr id="65" name="Oval 64"/>
          <p:cNvSpPr/>
          <p:nvPr/>
        </p:nvSpPr>
        <p:spPr>
          <a:xfrm>
            <a:off x="749808" y="3538728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Current-state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2–3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 clicking through the UI</a:t>
            </a:r>
          </a:p>
        </p:txBody>
      </p:sp>
      <p:sp>
        <p:nvSpPr>
          <p:cNvPr id="67" name="Oval 66"/>
          <p:cNvSpPr/>
          <p:nvPr/>
        </p:nvSpPr>
        <p:spPr>
          <a:xfrm>
            <a:off x="749808" y="3968496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0704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authored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weeks</a:t>
            </a:r>
          </a:p>
        </p:txBody>
      </p:sp>
      <p:sp>
        <p:nvSpPr>
          <p:cNvPr id="69" name="Oval 68"/>
          <p:cNvSpPr/>
          <p:nvPr/>
        </p:nvSpPr>
        <p:spPr>
          <a:xfrm>
            <a:off x="749808" y="4398264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0704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Property provisioning in the UI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3–5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, error-prone</a:t>
            </a:r>
          </a:p>
        </p:txBody>
      </p:sp>
      <p:sp>
        <p:nvSpPr>
          <p:cNvPr id="71" name="Oval 70"/>
          <p:cNvSpPr/>
          <p:nvPr/>
        </p:nvSpPr>
        <p:spPr>
          <a:xfrm>
            <a:off x="749808" y="4828031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0704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 full day</a:t>
            </a:r>
            <a:r>
              <a:rPr sz="1250" b="0">
                <a:solidFill>
                  <a:srgbClr val="3E4759"/>
                </a:solidFill>
                <a:latin typeface="Calibri"/>
              </a:rPr>
              <a:t> of cross-referencing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99632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WITH THE SKILLS</a:t>
            </a:r>
          </a:p>
        </p:txBody>
      </p:sp>
      <p:sp>
        <p:nvSpPr>
          <p:cNvPr id="75" name="Oval 74"/>
          <p:cNvSpPr/>
          <p:nvPr/>
        </p:nvSpPr>
        <p:spPr>
          <a:xfrm>
            <a:off x="6400800" y="3538728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11696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Detect +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under half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sourced from the live site</a:t>
            </a:r>
          </a:p>
        </p:txBody>
      </p:sp>
      <p:sp>
        <p:nvSpPr>
          <p:cNvPr id="77" name="Oval 76"/>
          <p:cNvSpPr/>
          <p:nvPr/>
        </p:nvSpPr>
        <p:spPr>
          <a:xfrm>
            <a:off x="6400800" y="3968496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11696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generated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about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one universal pattern</a:t>
            </a:r>
          </a:p>
        </p:txBody>
      </p:sp>
      <p:sp>
        <p:nvSpPr>
          <p:cNvPr id="79" name="Oval 78"/>
          <p:cNvSpPr/>
          <p:nvPr/>
        </p:nvSpPr>
        <p:spPr>
          <a:xfrm>
            <a:off x="6400800" y="4398264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11696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Provisioning via Reactor API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minutes</a:t>
            </a:r>
            <a:r>
              <a:rPr sz="1250" b="0">
                <a:solidFill>
                  <a:srgbClr val="3E4759"/>
                </a:solidFill>
                <a:latin typeface="Calibri"/>
              </a:rPr>
              <a:t>, idempotent</a:t>
            </a:r>
          </a:p>
        </p:txBody>
      </p:sp>
      <p:sp>
        <p:nvSpPr>
          <p:cNvPr id="81" name="Oval 80"/>
          <p:cNvSpPr/>
          <p:nvPr/>
        </p:nvSpPr>
        <p:spPr>
          <a:xfrm>
            <a:off x="6400800" y="4828031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11696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hours</a:t>
            </a:r>
            <a:r>
              <a:rPr sz="1250" b="0">
                <a:solidFill>
                  <a:srgbClr val="3E4759"/>
                </a:solidFill>
                <a:latin typeface="Calibri"/>
              </a:rPr>
              <a:t>, a reviewed draft + decisions email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8640" y="5468112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548640" y="5468112"/>
            <a:ext cx="82296" cy="658368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8680" y="5468112"/>
            <a:ext cx="10607040" cy="6583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Net effect: </a:t>
            </a:r>
            <a:r>
              <a:rPr sz="1400" b="0">
                <a:solidFill>
                  <a:srgbClr val="3E4759"/>
                </a:solidFill>
                <a:latin typeface="Calibri"/>
              </a:rPr>
              <a:t>a multi-week manual engagement compresses to a few governed days — and every run is documented, repeatable, and auditable.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THEY WORK TOGETHER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Pipeline: Detection to Decisions</a:t>
            </a:r>
            <a:endParaRPr lang="en-US" sz="2500" dirty="0"/>
          </a:p>
        </p:txBody>
      </p:sp>
      <p:sp>
        <p:nvSpPr>
          <p:cNvPr id="101" name="BoxText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Starts from the client's live site — inspected directly. Then each stage feeds the next, and every output is a client-ready artifact.</a:t>
            </a:r>
          </a:p>
        </p:txBody>
      </p:sp>
      <p:sp>
        <p:nvSpPr>
          <p:cNvPr id="43" name="Shape 39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0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1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2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3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9" name="Text 45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102" name="Rounded Rectangle 101"/>
          <p:cNvSpPr/>
          <p:nvPr/>
        </p:nvSpPr>
        <p:spPr>
          <a:xfrm>
            <a:off x="548640" y="1965960"/>
            <a:ext cx="7315200" cy="3703320"/>
          </a:xfrm>
          <a:prstGeom prst="roundRect">
            <a:avLst>
              <a:gd name="adj" fmla="val 3500"/>
            </a:avLst>
          </a:prstGeom>
          <a:solidFill>
            <a:srgbClr val="F5F8FF"/>
          </a:solidFill>
          <a:ln w="12700">
            <a:solidFill>
              <a:srgbClr val="E4E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7955279" y="1965960"/>
            <a:ext cx="3685032" cy="3703320"/>
          </a:xfrm>
          <a:prstGeom prst="roundRect">
            <a:avLst>
              <a:gd name="adj" fmla="val 3500"/>
            </a:avLst>
          </a:prstGeom>
          <a:solidFill>
            <a:srgbClr val="EFFAFB"/>
          </a:solidFill>
          <a:ln w="12700">
            <a:solidFill>
              <a:srgbClr val="D8E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13232" y="2066543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91640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Stand up the implementation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119872" y="2066543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ASSURE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125712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Prove it &amp; decide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88720" y="4114800"/>
            <a:ext cx="320040" cy="5029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08760" y="4114800"/>
            <a:ext cx="1828800" cy="50292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337560" y="4114800"/>
            <a:ext cx="1828800" cy="50292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166360" y="4114800"/>
            <a:ext cx="1828800" cy="50292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995160" y="4114800"/>
            <a:ext cx="1828800" cy="50292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823960" y="4114800"/>
            <a:ext cx="182880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652760" y="4114800"/>
            <a:ext cx="32004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950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400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7498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" y="2537460"/>
            <a:ext cx="164592" cy="164592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1155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E9E5B"/>
                </a:solidFill>
                <a:latin typeface="Calibri"/>
              </a:rPr>
              <a:t>Detect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155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8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Inspects the live site; reports the current stack.</a:t>
            </a:r>
          </a:p>
        </p:txBody>
      </p:sp>
      <p:sp>
        <p:nvSpPr>
          <p:cNvPr id="122" name="Oval 121"/>
          <p:cNvSpPr/>
          <p:nvPr/>
        </p:nvSpPr>
        <p:spPr>
          <a:xfrm>
            <a:off x="1280160" y="3909060"/>
            <a:ext cx="457200" cy="457200"/>
          </a:xfrm>
          <a:prstGeom prst="ellipse">
            <a:avLst/>
          </a:prstGeom>
          <a:solidFill>
            <a:srgbClr val="2E9E5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238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24688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25786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icon_clip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7188" y="4750308"/>
            <a:ext cx="164592" cy="164592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29443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2A5A0"/>
                </a:solidFill>
                <a:latin typeface="Calibri"/>
              </a:rPr>
              <a:t>Plan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443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5786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 short interview → a governed build plan.</a:t>
            </a:r>
          </a:p>
        </p:txBody>
      </p:sp>
      <p:sp>
        <p:nvSpPr>
          <p:cNvPr id="130" name="Oval 129"/>
          <p:cNvSpPr/>
          <p:nvPr/>
        </p:nvSpPr>
        <p:spPr>
          <a:xfrm>
            <a:off x="3108960" y="3909060"/>
            <a:ext cx="457200" cy="457200"/>
          </a:xfrm>
          <a:prstGeom prst="ellipse">
            <a:avLst/>
          </a:prstGeom>
          <a:solidFill>
            <a:srgbClr val="12A5A0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152644" y="3566160"/>
            <a:ext cx="27432" cy="548639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4297680" y="2359152"/>
            <a:ext cx="1737360" cy="120700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44074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icon_too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5988" y="2537460"/>
            <a:ext cx="164592" cy="164592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47731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391C4"/>
                </a:solidFill>
                <a:latin typeface="Calibri"/>
              </a:rPr>
              <a:t>Build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773168" y="2679192"/>
            <a:ext cx="118872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07408" y="309067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Generates the SDR, XDM schema, elements &amp; rules.</a:t>
            </a:r>
          </a:p>
        </p:txBody>
      </p:sp>
      <p:sp>
        <p:nvSpPr>
          <p:cNvPr id="138" name="Oval 137"/>
          <p:cNvSpPr/>
          <p:nvPr/>
        </p:nvSpPr>
        <p:spPr>
          <a:xfrm>
            <a:off x="4937760" y="3909060"/>
            <a:ext cx="457200" cy="457200"/>
          </a:xfrm>
          <a:prstGeom prst="ellipse">
            <a:avLst/>
          </a:prstGeom>
          <a:solidFill>
            <a:srgbClr val="1391C4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9814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61264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2362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icon_uplo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4788" y="4750308"/>
            <a:ext cx="164592" cy="164592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66019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C62FB"/>
                </a:solidFill>
                <a:latin typeface="Calibri"/>
              </a:rPr>
              <a:t>Publish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6019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362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Provisions the Launch property via the API.</a:t>
            </a:r>
          </a:p>
        </p:txBody>
      </p:sp>
      <p:sp>
        <p:nvSpPr>
          <p:cNvPr id="146" name="Oval 145"/>
          <p:cNvSpPr/>
          <p:nvPr/>
        </p:nvSpPr>
        <p:spPr>
          <a:xfrm>
            <a:off x="6766560" y="3909060"/>
            <a:ext cx="457200" cy="457200"/>
          </a:xfrm>
          <a:prstGeom prst="ellipse">
            <a:avLst/>
          </a:prstGeom>
          <a:solidFill>
            <a:srgbClr val="0C62F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8102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9552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80650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0" name="Picture 14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3588" y="2537460"/>
            <a:ext cx="164592" cy="164592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84307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547C8"/>
                </a:solidFill>
                <a:latin typeface="Calibri"/>
              </a:rPr>
              <a:t>Audit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4307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650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Audits the live config — findings deck + workbook.</a:t>
            </a:r>
          </a:p>
        </p:txBody>
      </p:sp>
      <p:sp>
        <p:nvSpPr>
          <p:cNvPr id="154" name="Oval 153"/>
          <p:cNvSpPr/>
          <p:nvPr/>
        </p:nvSpPr>
        <p:spPr>
          <a:xfrm>
            <a:off x="8595360" y="3909060"/>
            <a:ext cx="457200" cy="457200"/>
          </a:xfrm>
          <a:prstGeom prst="ellipse">
            <a:avLst/>
          </a:prstGeom>
          <a:solidFill>
            <a:srgbClr val="2547C8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06390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97840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98938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icon_refres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2388" y="4750308"/>
            <a:ext cx="164592" cy="164592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02595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Reconcile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2595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8938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Report suite vs. property — workbook + email.</a:t>
            </a:r>
          </a:p>
        </p:txBody>
      </p:sp>
      <p:sp>
        <p:nvSpPr>
          <p:cNvPr id="162" name="Oval 161"/>
          <p:cNvSpPr/>
          <p:nvPr/>
        </p:nvSpPr>
        <p:spPr>
          <a:xfrm>
            <a:off x="10424160" y="3909060"/>
            <a:ext cx="457200" cy="457200"/>
          </a:xfrm>
          <a:prstGeom prst="ellipse">
            <a:avLst/>
          </a:prstGeom>
          <a:solidFill>
            <a:srgbClr val="002FAF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48640" y="5742432"/>
            <a:ext cx="11091672" cy="457200"/>
          </a:xfrm>
          <a:prstGeom prst="roundRect">
            <a:avLst>
              <a:gd name="adj" fmla="val 14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749808" y="5934456"/>
            <a:ext cx="82296" cy="82296"/>
          </a:xfrm>
          <a:prstGeom prst="ellipse">
            <a:avLst/>
          </a:prstGeom>
          <a:solidFill>
            <a:srgbClr val="1B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One governed pipeline — </a:t>
            </a:r>
            <a:r>
              <a:rPr sz="1200" b="1">
                <a:solidFill>
                  <a:srgbClr val="8FE9F6"/>
                </a:solidFill>
                <a:latin typeface="Calibri"/>
              </a:rPr>
              <a:t>every output feeds the next.</a:t>
            </a:r>
            <a:r>
              <a:rPr sz="1200" b="0">
                <a:solidFill>
                  <a:srgbClr val="FFFFFF"/>
                </a:solidFill>
                <a:latin typeface="Calibri"/>
              </a:rPr>
              <a:t>  The client gets a documented implementation, the evidence to trust it, and the decisions to 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LANDS ON THE TABLE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Deliver to the Client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1481328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PIPELINE, TWO KINDS OF DELIVERABLE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77240" y="17556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artifacts stand up the implementation; Assure artifacts prove it works and tee up the decisions only the client can make.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11064240" cy="594360"/>
          </a:xfrm>
          <a:prstGeom prst="roundRect">
            <a:avLst>
              <a:gd name="adj" fmla="val 13846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24505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EVERY ENGAGEMENT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current-state baseline of exactly what's running today — sourced from the live site, not a stale export.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31520" y="3154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DELIVERABLES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E8F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46520" y="3154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DELIVERABLES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3809827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1005840" y="3631131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SDR and Web SDK XDM schema — the documented data-collection spec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32534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005840" y="4146648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live, published Launch property — extensions, data elements, rules, environments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263640" y="37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720840" y="3703320"/>
            <a:ext cx="4892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findings audit deck + audit workbook — every claim sourced from live config</a:t>
            </a:r>
            <a:endParaRPr lang="en-US" sz="1100" dirty="0"/>
          </a:p>
        </p:txBody>
      </p:sp>
      <p:sp>
        <p:nvSpPr>
          <p:cNvPr id="150" name="Shape BodyHiding"/>
          <p:cNvSpPr/>
          <p:nvPr/>
        </p:nvSpPr>
        <p:spPr>
          <a:xfrm>
            <a:off x="6263640" y="42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Text BodyHiding"/>
          <p:cNvSpPr/>
          <p:nvPr/>
        </p:nvSpPr>
        <p:spPr>
          <a:xfrm>
            <a:off x="6720840" y="4203320"/>
            <a:ext cx="4892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reconciliation workbook — every variable's status, orphans and no-ops surfaced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63640" y="48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720840" y="4703320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client decisions email — the handful of calls only the client can make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7</a:t>
            </a:r>
            <a:endParaRPr lang="en-US" sz="1000" dirty="0"/>
          </a:p>
        </p:txBody>
      </p:sp>
      <p:sp>
        <p:nvSpPr>
          <p:cNvPr id="152" name="Oval 151"/>
          <p:cNvSpPr/>
          <p:nvPr/>
        </p:nvSpPr>
        <p:spPr>
          <a:xfrm>
            <a:off x="548640" y="3809827"/>
            <a:ext cx="310896" cy="31089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Picture 152" descr="icon_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3878224"/>
            <a:ext cx="174101" cy="174101"/>
          </a:xfrm>
          <a:prstGeom prst="rect">
            <a:avLst/>
          </a:prstGeom>
        </p:spPr>
      </p:pic>
      <p:sp>
        <p:nvSpPr>
          <p:cNvPr id="154" name="Oval 153"/>
          <p:cNvSpPr/>
          <p:nvPr/>
        </p:nvSpPr>
        <p:spPr>
          <a:xfrm>
            <a:off x="548640" y="4325344"/>
            <a:ext cx="310896" cy="31089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con_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393741"/>
            <a:ext cx="174101" cy="174101"/>
          </a:xfrm>
          <a:prstGeom prst="rect">
            <a:avLst/>
          </a:prstGeom>
        </p:spPr>
      </p:pic>
      <p:sp>
        <p:nvSpPr>
          <p:cNvPr id="156" name="Oval 155"/>
          <p:cNvSpPr/>
          <p:nvPr/>
        </p:nvSpPr>
        <p:spPr>
          <a:xfrm>
            <a:off x="6263640" y="3782015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icon_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037" y="3850413"/>
            <a:ext cx="174101" cy="174101"/>
          </a:xfrm>
          <a:prstGeom prst="rect">
            <a:avLst/>
          </a:prstGeom>
        </p:spPr>
      </p:pic>
      <p:sp>
        <p:nvSpPr>
          <p:cNvPr id="158" name="Oval 157"/>
          <p:cNvSpPr/>
          <p:nvPr/>
        </p:nvSpPr>
        <p:spPr>
          <a:xfrm>
            <a:off x="6263640" y="4282016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con_gr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037" y="4350413"/>
            <a:ext cx="174101" cy="174101"/>
          </a:xfrm>
          <a:prstGeom prst="rect">
            <a:avLst/>
          </a:prstGeom>
        </p:spPr>
      </p:pic>
      <p:sp>
        <p:nvSpPr>
          <p:cNvPr id="160" name="Oval 159"/>
          <p:cNvSpPr/>
          <p:nvPr/>
        </p:nvSpPr>
        <p:spPr>
          <a:xfrm>
            <a:off x="6263640" y="4882016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icon_m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2037" y="4950413"/>
            <a:ext cx="174101" cy="1741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GET STARTED IN ONE LINE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to Invoke the Skills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31" name="TextBox 30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venir Next LT Pro"/>
              </a:rPr>
              <a:t>Each skill triggers from natural language — </a:t>
            </a:r>
            <a:r>
              <a:rPr sz="1400" b="1">
                <a:solidFill>
                  <a:srgbClr val="17203A"/>
                </a:solidFill>
                <a:latin typeface="Avenir Next LT Pro"/>
              </a:rPr>
              <a:t>type a prompt like these</a:t>
            </a:r>
            <a:r>
              <a:rPr sz="1400" b="0">
                <a:solidFill>
                  <a:srgbClr val="5A6478"/>
                </a:solidFill>
                <a:latin typeface="Avenir Next LT Pro"/>
              </a:rPr>
              <a:t> in Claude Code and the matching skill takes over. No commands to memorise.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68096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56231"/>
            <a:ext cx="182880" cy="1828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0160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E9E5B"/>
                </a:solidFill>
                <a:latin typeface="Avenir Next LT Pro"/>
              </a:rPr>
              <a:t>Detect  </a:t>
            </a:r>
            <a:r>
              <a:rPr sz="12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8096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E9E5B"/>
                </a:solidFill>
                <a:latin typeface="Consolas"/>
              </a:rPr>
              <a:t>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What Adobe tools does aboutamazon.com run — Web SDK or AppMeasurement?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9632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19088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856231"/>
            <a:ext cx="182880" cy="1828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931152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2A5A0"/>
                </a:solidFill>
                <a:latin typeface="Avenir Next LT Pro"/>
              </a:rPr>
              <a:t>Plan  </a:t>
            </a:r>
            <a:r>
              <a:rPr sz="12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19088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47104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2A5A0"/>
                </a:solidFill>
                <a:latin typeface="Consolas"/>
              </a:rPr>
              <a:t>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Plan our DTM-to-Launch migration with consent gating and approval gates.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8096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74720"/>
            <a:ext cx="182880" cy="18288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280160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391C4"/>
                </a:solidFill>
                <a:latin typeface="Avenir Next LT Pro"/>
              </a:rPr>
              <a:t>Build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68096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6112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391C4"/>
                </a:solidFill>
                <a:latin typeface="Consolas"/>
              </a:rPr>
              <a:t>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144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Build the SDR and Web SDK XDM schema, with universal data elements &amp; rules.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99632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19088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3474720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931152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C62FB"/>
                </a:solidFill>
                <a:latin typeface="Avenir Next LT Pro"/>
              </a:rPr>
              <a:t>Publish  </a:t>
            </a:r>
            <a:r>
              <a:rPr sz="12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19088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47104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C62FB"/>
                </a:solidFill>
                <a:latin typeface="Consolas"/>
              </a:rPr>
              <a:t>❯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Create the Launch property via the Reactor API and publish dev → prod.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68096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093208"/>
            <a:ext cx="182880" cy="1828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280160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547C8"/>
                </a:solidFill>
                <a:latin typeface="Avenir Next LT Pro"/>
              </a:rPr>
              <a:t>Audit  </a:t>
            </a:r>
            <a:r>
              <a:rPr sz="12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68096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547C8"/>
                </a:solidFill>
                <a:latin typeface="Consolas"/>
              </a:rPr>
              <a:t>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2144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Audit this site's Adobe setup and turn the findings into a deck.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99632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419088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9672" y="5093208"/>
            <a:ext cx="182880" cy="18288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931152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02FAF"/>
                </a:solidFill>
                <a:latin typeface="Avenir Next LT Pro"/>
              </a:rPr>
              <a:t>Reconcile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19088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47104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02FAF"/>
                </a:solidFill>
                <a:latin typeface="Consolas"/>
              </a:rPr>
              <a:t>❯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03136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Reconcile the report suite against the property — which eVars actually collect?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0" y="-1828800"/>
            <a:ext cx="5486400" cy="5486400"/>
          </a:xfrm>
          <a:prstGeom prst="ellipse">
            <a:avLst/>
          </a:prstGeom>
          <a:solidFill>
            <a:srgbClr val="0C62FB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14400" y="2286000"/>
            <a:ext cx="1036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to decisions, the same way every time. Let's talk.</a:t>
            </a:r>
            <a:endParaRPr lang="en-US" sz="1600" dirty="0"/>
          </a:p>
        </p:txBody>
      </p:sp>
      <p:sp>
        <p:nvSpPr>
          <p:cNvPr id="6" name="Shape Divider"/>
          <p:cNvSpPr/>
          <p:nvPr/>
        </p:nvSpPr>
        <p:spPr>
          <a:xfrm>
            <a:off x="914400" y="3840480"/>
            <a:ext cx="1828800" cy="18288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Name"/>
          <p:cNvSpPr/>
          <p:nvPr/>
        </p:nvSpPr>
        <p:spPr>
          <a:xfrm>
            <a:off x="914400" y="41148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 Tavares</a:t>
            </a:r>
            <a:endParaRPr lang="en-US" sz="2000" dirty="0"/>
          </a:p>
        </p:txBody>
      </p:sp>
      <p:sp>
        <p:nvSpPr>
          <p:cNvPr id="8" name="Text Title"/>
          <p:cNvSpPr/>
          <p:nvPr/>
        </p:nvSpPr>
        <p:spPr>
          <a:xfrm>
            <a:off x="914400" y="448056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Senior Principal, Adobe Multi-Solution Architect</a:t>
            </a:r>
            <a:endParaRPr lang="en-US" sz="1300" dirty="0"/>
          </a:p>
        </p:txBody>
      </p:sp>
      <p:sp>
        <p:nvSpPr>
          <p:cNvPr id="9" name="Text Company"/>
          <p:cNvSpPr/>
          <p:nvPr/>
        </p:nvSpPr>
        <p:spPr>
          <a:xfrm>
            <a:off x="914400" y="4791075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</a:t>
            </a:r>
            <a:endParaRPr lang="en-US" sz="1300" dirty="0"/>
          </a:p>
        </p:txBody>
      </p:sp>
      <p:sp>
        <p:nvSpPr>
          <p:cNvPr id="10" name="Text Email"/>
          <p:cNvSpPr/>
          <p:nvPr/>
        </p:nvSpPr>
        <p:spPr>
          <a:xfrm>
            <a:off x="914400" y="525780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scott.tavares@slalom.com</a:t>
            </a:r>
            <a:endParaRPr lang="en-US" sz="1300" dirty="0"/>
          </a:p>
        </p:txBody>
      </p:sp>
      <p:sp>
        <p:nvSpPr>
          <p:cNvPr id="21" name="Text Copyright"/>
          <p:cNvSpPr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93B8"/>
                </a:solidFill>
              </a:rPr>
              <a:t>© Slalom. All Rights Reserved. Proprietary and Confidential.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ca75128-a244-4596-877b-f24828e476e2}" enabled="0" method="" siteId="{9ca75128-a244-4596-877b-f24828e476e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7438</TotalTime>
  <Words>8988</Words>
  <Application>Microsoft Office PowerPoint</Application>
  <PresentationFormat>Widescreen</PresentationFormat>
  <Paragraphs>713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Avenir Next LT Pro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Adobe Tags Configuration Audit - Amazon News</dc:title>
  <dc:subject>PptxGenJS Presentation</dc:subject>
  <dc:creator>Scott Tavares</dc:creator>
  <cp:lastModifiedBy>Scott Tavares</cp:lastModifiedBy>
  <cp:revision>3</cp:revision>
  <dcterms:created xsi:type="dcterms:W3CDTF">2026-07-13T22:20:24Z</dcterms:created>
  <dcterms:modified xsi:type="dcterms:W3CDTF">2026-07-28T17:19:58Z</dcterms:modified>
</cp:coreProperties>
</file>