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9" r:id="rId7"/>
    <p:sldId id="300" r:id="rId4"/>
    <p:sldId id="301" r:id="rId5"/>
    <p:sldId id="260" r:id="rId8"/>
    <p:sldId id="287" r:id="rId27"/>
    <p:sldId id="294" r:id="rId33"/>
    <p:sldId id="296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A672280-2287-44CF-BC4A-1BC94D499960}" v="4" dt="2026-07-28T17:19:31.7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55706" autoAdjust="0"/>
  </p:normalViewPr>
  <p:slideViewPr>
    <p:cSldViewPr snapToGrid="0" snapToObjects="1">
      <p:cViewPr varScale="1">
        <p:scale>
          <a:sx n="49" d="100"/>
          <a:sy n="49" d="100"/>
        </p:scale>
        <p:origin x="96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2.xml"/><Relationship Id="rId8" Type="http://schemas.openxmlformats.org/officeDocument/2006/relationships/slide" Target="slides/slide5.xml"/><Relationship Id="rId27" Type="http://schemas.openxmlformats.org/officeDocument/2006/relationships/slide" Target="slides/slide6.xml"/><Relationship Id="rId33" Type="http://schemas.openxmlformats.org/officeDocument/2006/relationships/slide" Target="slides/slide7.xml"/><Relationship Id="rId35" Type="http://schemas.openxmlformats.org/officeDocument/2006/relationships/slide" Target="slides/slide8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Relationship Id="rId41" Type="http://schemas.microsoft.com/office/2016/11/relationships/changesInfo" Target="changesInfos/changesInfo1.xml"/><Relationship Id="rId4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ott Tavares" userId="64fa4b0e-5e10-4d25-bb9b-ad35997687ce" providerId="ADAL" clId="{3007A28F-8D06-469F-987C-A5228DD578DA}"/>
    <pc:docChg chg="undo custSel modSld">
      <pc:chgData name="Scott Tavares" userId="64fa4b0e-5e10-4d25-bb9b-ad35997687ce" providerId="ADAL" clId="{3007A28F-8D06-469F-987C-A5228DD578DA}" dt="2026-07-28T17:19:55.364" v="322" actId="20577"/>
      <pc:docMkLst>
        <pc:docMk/>
      </pc:docMkLst>
      <pc:sldChg chg="modNotesTx">
        <pc:chgData name="Scott Tavares" userId="64fa4b0e-5e10-4d25-bb9b-ad35997687ce" providerId="ADAL" clId="{3007A28F-8D06-469F-987C-A5228DD578DA}" dt="2026-07-28T17:19:55.364" v="322" actId="20577"/>
        <pc:sldMkLst>
          <pc:docMk/>
          <pc:sldMk cId="0" sldId="257"/>
        </pc:sldMkLst>
      </pc:sldChg>
      <pc:sldChg chg="modSp mod">
        <pc:chgData name="Scott Tavares" userId="64fa4b0e-5e10-4d25-bb9b-ad35997687ce" providerId="ADAL" clId="{3007A28F-8D06-469F-987C-A5228DD578DA}" dt="2026-07-20T18:56:21.484" v="71" actId="20577"/>
        <pc:sldMkLst>
          <pc:docMk/>
          <pc:sldMk cId="0" sldId="258"/>
        </pc:sldMkLst>
        <pc:spChg chg="mod">
          <ac:chgData name="Scott Tavares" userId="64fa4b0e-5e10-4d25-bb9b-ad35997687ce" providerId="ADAL" clId="{3007A28F-8D06-469F-987C-A5228DD578DA}" dt="2026-07-20T18:56:21.484" v="71" actId="20577"/>
          <ac:spMkLst>
            <pc:docMk/>
            <pc:sldMk cId="0" sldId="258"/>
            <ac:spMk id="1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30.694" v="0" actId="20577"/>
        <pc:sldMkLst>
          <pc:docMk/>
          <pc:sldMk cId="0" sldId="263"/>
        </pc:sldMkLst>
      </pc:sldChg>
      <pc:sldChg chg="modSp mod modNotesTx">
        <pc:chgData name="Scott Tavares" userId="64fa4b0e-5e10-4d25-bb9b-ad35997687ce" providerId="ADAL" clId="{3007A28F-8D06-469F-987C-A5228DD578DA}" dt="2026-07-20T18:58:11.603" v="96" actId="20577"/>
        <pc:sldMkLst>
          <pc:docMk/>
          <pc:sldMk cId="0" sldId="264"/>
        </pc:sldMkLst>
        <pc:spChg chg="mod">
          <ac:chgData name="Scott Tavares" userId="64fa4b0e-5e10-4d25-bb9b-ad35997687ce" providerId="ADAL" clId="{3007A28F-8D06-469F-987C-A5228DD578DA}" dt="2026-07-20T18:58:11.603" v="96" actId="20577"/>
          <ac:spMkLst>
            <pc:docMk/>
            <pc:sldMk cId="0" sldId="264"/>
            <ac:spMk id="14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35.353" v="2" actId="20577"/>
        <pc:sldMkLst>
          <pc:docMk/>
          <pc:sldMk cId="0" sldId="265"/>
        </pc:sldMkLst>
      </pc:sldChg>
      <pc:sldChg chg="modSp mod modNotesTx">
        <pc:chgData name="Scott Tavares" userId="64fa4b0e-5e10-4d25-bb9b-ad35997687ce" providerId="ADAL" clId="{3007A28F-8D06-469F-987C-A5228DD578DA}" dt="2026-07-20T19:03:32.216" v="109" actId="20577"/>
        <pc:sldMkLst>
          <pc:docMk/>
          <pc:sldMk cId="0" sldId="266"/>
        </pc:sldMkLst>
        <pc:spChg chg="mod">
          <ac:chgData name="Scott Tavares" userId="64fa4b0e-5e10-4d25-bb9b-ad35997687ce" providerId="ADAL" clId="{3007A28F-8D06-469F-987C-A5228DD578DA}" dt="2026-07-20T19:03:32.216" v="109" actId="20577"/>
          <ac:spMkLst>
            <pc:docMk/>
            <pc:sldMk cId="0" sldId="266"/>
            <ac:spMk id="3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2:58.892" v="106" actId="20577"/>
          <ac:spMkLst>
            <pc:docMk/>
            <pc:sldMk cId="0" sldId="266"/>
            <ac:spMk id="38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41.572" v="4" actId="20577"/>
        <pc:sldMkLst>
          <pc:docMk/>
          <pc:sldMk cId="0" sldId="267"/>
        </pc:sldMkLst>
      </pc:sldChg>
      <pc:sldChg chg="modSp mod modNotesTx">
        <pc:chgData name="Scott Tavares" userId="64fa4b0e-5e10-4d25-bb9b-ad35997687ce" providerId="ADAL" clId="{3007A28F-8D06-469F-987C-A5228DD578DA}" dt="2026-07-20T19:04:31.670" v="111" actId="14100"/>
        <pc:sldMkLst>
          <pc:docMk/>
          <pc:sldMk cId="0" sldId="268"/>
        </pc:sldMkLst>
        <pc:spChg chg="mod">
          <ac:chgData name="Scott Tavares" userId="64fa4b0e-5e10-4d25-bb9b-ad35997687ce" providerId="ADAL" clId="{3007A28F-8D06-469F-987C-A5228DD578DA}" dt="2026-07-20T19:04:31.670" v="111" actId="14100"/>
          <ac:spMkLst>
            <pc:docMk/>
            <pc:sldMk cId="0" sldId="268"/>
            <ac:spMk id="29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5:02.972" v="114" actId="20577"/>
        <pc:sldMkLst>
          <pc:docMk/>
          <pc:sldMk cId="0" sldId="269"/>
        </pc:sldMkLst>
        <pc:spChg chg="mod">
          <ac:chgData name="Scott Tavares" userId="64fa4b0e-5e10-4d25-bb9b-ad35997687ce" providerId="ADAL" clId="{3007A28F-8D06-469F-987C-A5228DD578DA}" dt="2026-07-20T19:05:02.972" v="114" actId="20577"/>
          <ac:spMkLst>
            <pc:docMk/>
            <pc:sldMk cId="0" sldId="269"/>
            <ac:spMk id="10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5:40.342" v="131" actId="20577"/>
        <pc:sldMkLst>
          <pc:docMk/>
          <pc:sldMk cId="0" sldId="270"/>
        </pc:sldMkLst>
        <pc:spChg chg="mod">
          <ac:chgData name="Scott Tavares" userId="64fa4b0e-5e10-4d25-bb9b-ad35997687ce" providerId="ADAL" clId="{3007A28F-8D06-469F-987C-A5228DD578DA}" dt="2026-07-20T19:05:40.342" v="131" actId="20577"/>
          <ac:spMkLst>
            <pc:docMk/>
            <pc:sldMk cId="0" sldId="270"/>
            <ac:spMk id="21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6:30.400" v="157" actId="20577"/>
        <pc:sldMkLst>
          <pc:docMk/>
          <pc:sldMk cId="0" sldId="271"/>
        </pc:sldMkLst>
        <pc:spChg chg="mod">
          <ac:chgData name="Scott Tavares" userId="64fa4b0e-5e10-4d25-bb9b-ad35997687ce" providerId="ADAL" clId="{3007A28F-8D06-469F-987C-A5228DD578DA}" dt="2026-07-20T19:06:30.400" v="157" actId="20577"/>
          <ac:spMkLst>
            <pc:docMk/>
            <pc:sldMk cId="0" sldId="271"/>
            <ac:spMk id="26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40:58.869" v="10" actId="20577"/>
        <pc:sldMkLst>
          <pc:docMk/>
          <pc:sldMk cId="0" sldId="272"/>
        </pc:sldMkLst>
      </pc:sldChg>
      <pc:sldChg chg="modNotesTx">
        <pc:chgData name="Scott Tavares" userId="64fa4b0e-5e10-4d25-bb9b-ad35997687ce" providerId="ADAL" clId="{3007A28F-8D06-469F-987C-A5228DD578DA}" dt="2026-07-20T18:42:14.634" v="17" actId="20577"/>
        <pc:sldMkLst>
          <pc:docMk/>
          <pc:sldMk cId="0" sldId="274"/>
        </pc:sldMkLst>
      </pc:sldChg>
      <pc:sldChg chg="modSp mod modNotesTx">
        <pc:chgData name="Scott Tavares" userId="64fa4b0e-5e10-4d25-bb9b-ad35997687ce" providerId="ADAL" clId="{3007A28F-8D06-469F-987C-A5228DD578DA}" dt="2026-07-20T19:08:06.641" v="207" actId="1035"/>
        <pc:sldMkLst>
          <pc:docMk/>
          <pc:sldMk cId="0" sldId="275"/>
        </pc:sldMkLst>
        <pc:spChg chg="mod">
          <ac:chgData name="Scott Tavares" userId="64fa4b0e-5e10-4d25-bb9b-ad35997687ce" providerId="ADAL" clId="{3007A28F-8D06-469F-987C-A5228DD578DA}" dt="2026-07-20T19:07:12.566" v="159" actId="14100"/>
          <ac:spMkLst>
            <pc:docMk/>
            <pc:sldMk cId="0" sldId="275"/>
            <ac:spMk id="17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7:56.689" v="187" actId="20577"/>
          <ac:spMkLst>
            <pc:docMk/>
            <pc:sldMk cId="0" sldId="275"/>
            <ac:spMk id="19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8:06.641" v="207" actId="1035"/>
          <ac:spMkLst>
            <pc:docMk/>
            <pc:sldMk cId="0" sldId="275"/>
            <ac:spMk id="2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45:14.874" v="50" actId="20577"/>
        <pc:sldMkLst>
          <pc:docMk/>
          <pc:sldMk cId="0" sldId="277"/>
        </pc:sldMkLst>
      </pc:sldChg>
      <pc:sldChg chg="modNotesTx">
        <pc:chgData name="Scott Tavares" userId="64fa4b0e-5e10-4d25-bb9b-ad35997687ce" providerId="ADAL" clId="{3007A28F-8D06-469F-987C-A5228DD578DA}" dt="2026-07-20T18:45:22.367" v="51" actId="20577"/>
        <pc:sldMkLst>
          <pc:docMk/>
          <pc:sldMk cId="0" sldId="280"/>
        </pc:sldMkLst>
      </pc:sldChg>
      <pc:sldChg chg="modNotesTx">
        <pc:chgData name="Scott Tavares" userId="64fa4b0e-5e10-4d25-bb9b-ad35997687ce" providerId="ADAL" clId="{3007A28F-8D06-469F-987C-A5228DD578DA}" dt="2026-07-20T18:45:51.767" v="52" actId="20577"/>
        <pc:sldMkLst>
          <pc:docMk/>
          <pc:sldMk cId="0" sldId="281"/>
        </pc:sldMkLst>
      </pc:sldChg>
      <pc:sldChg chg="modNotesTx">
        <pc:chgData name="Scott Tavares" userId="64fa4b0e-5e10-4d25-bb9b-ad35997687ce" providerId="ADAL" clId="{3007A28F-8D06-469F-987C-A5228DD578DA}" dt="2026-07-20T18:48:54.229" v="62" actId="20577"/>
        <pc:sldMkLst>
          <pc:docMk/>
          <pc:sldMk cId="0" sldId="287"/>
        </pc:sldMkLst>
      </pc:sldChg>
      <pc:sldChg chg="addSp modSp mod modNotesTx">
        <pc:chgData name="Scott Tavares" userId="64fa4b0e-5e10-4d25-bb9b-ad35997687ce" providerId="ADAL" clId="{3007A28F-8D06-469F-987C-A5228DD578DA}" dt="2026-07-20T19:09:56.185" v="248" actId="164"/>
        <pc:sldMkLst>
          <pc:docMk/>
          <pc:sldMk cId="0" sldId="288"/>
        </pc:sldMkLst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6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8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9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0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1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2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4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6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10:44.453" v="255" actId="20577"/>
        <pc:sldMkLst>
          <pc:docMk/>
          <pc:sldMk cId="0" sldId="290"/>
        </pc:sldMkLst>
        <pc:spChg chg="mod">
          <ac:chgData name="Scott Tavares" userId="64fa4b0e-5e10-4d25-bb9b-ad35997687ce" providerId="ADAL" clId="{3007A28F-8D06-469F-987C-A5228DD578DA}" dt="2026-07-20T19:10:44.453" v="255" actId="20577"/>
          <ac:spMkLst>
            <pc:docMk/>
            <pc:sldMk cId="0" sldId="290"/>
            <ac:spMk id="402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11:19.142" v="265" actId="1035"/>
        <pc:sldMkLst>
          <pc:docMk/>
          <pc:sldMk cId="0" sldId="292"/>
        </pc:sldMkLst>
        <pc:spChg chg="mod">
          <ac:chgData name="Scott Tavares" userId="64fa4b0e-5e10-4d25-bb9b-ad35997687ce" providerId="ADAL" clId="{3007A28F-8D06-469F-987C-A5228DD578DA}" dt="2026-07-20T19:11:19.142" v="265" actId="1035"/>
          <ac:spMkLst>
            <pc:docMk/>
            <pc:sldMk cId="0" sldId="292"/>
            <ac:spMk id="1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51:25.583" v="69" actId="20577"/>
        <pc:sldMkLst>
          <pc:docMk/>
          <pc:sldMk cId="0" sldId="293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9487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Cover. The Adobe Data Collection Delivery Suite — six Claude Code skills that take a site from detection to a governed, measured Adobe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they are. Six skills in one pipeline: Tech-Detector, Setup-Plan, Data-Collection-Builder, Property-Creator, Audit-Builder, Data-Reconciliation.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 savings. Illustrative estimates: a multi-week manual engagement compressed to days. Labeled as estimates, not measured precision.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diagram. One pipeline in two phases — Build (detect/plan/build/publish) and Assure (audit/reconcile). Every output feeds the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they deliver. Build artifacts (SDR, XDM, live property) plus Assure artifacts (audit deck + workbook, reconciliation workbook + decisions email).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F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02920"/>
            <a:ext cx="1417320" cy="3657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9326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SLALOM  ·  ADOBE DELIVERY ACCELERATORS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640080" y="2834640"/>
            <a:ext cx="10789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Adobe Data Collection Delivery Suite</a:t>
            </a:r>
            <a:endParaRPr lang="en-US" sz="3600" dirty="0"/>
          </a:p>
        </p:txBody>
      </p:sp>
      <p:sp>
        <p:nvSpPr>
          <p:cNvPr id="6" name="Text 2"/>
          <p:cNvSpPr/>
          <p:nvPr/>
        </p:nvSpPr>
        <p:spPr>
          <a:xfrm>
            <a:off x="64008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BFE0F5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Six Claude Code skills — from detecting a site's tags to a governed, measured Adobe implementation</a:t>
            </a:r>
            <a:endParaRPr lang="en-US" sz="1900" dirty="0"/>
          </a:p>
        </p:txBody>
      </p:sp>
      <p:sp>
        <p:nvSpPr>
          <p:cNvPr id="7" name="Text 3"/>
          <p:cNvSpPr/>
          <p:nvPr/>
        </p:nvSpPr>
        <p:spPr>
          <a:xfrm>
            <a:off x="640080" y="429768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 → Plan → Build → Publish → Audit → Reconcile — one governed pipeline, every output client-ready.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64008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93B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Prepared by Scott Tavares  •  Slalom Client Delivery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0" y="0"/>
            <a:ext cx="137160" cy="1371600"/>
          </a:xfrm>
          <a:prstGeom prst="rect">
            <a:avLst/>
          </a:prstGeom>
          <a:solidFill>
            <a:srgbClr val="DEFF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0" y="1371600"/>
            <a:ext cx="137160" cy="137160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0" y="2743200"/>
            <a:ext cx="137160" cy="137160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0" y="4114800"/>
            <a:ext cx="137160" cy="137160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0" y="5486400"/>
            <a:ext cx="137160" cy="137160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SIX SKILLS, ONE DELIVERY PIPELINE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Are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548640" y="1234440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58368" y="1298448"/>
            <a:ext cx="384048" cy="384048"/>
          </a:xfrm>
          <a:prstGeom prst="ellipse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58368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225296" y="1243584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Tech-Detector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225296" y="149047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Inspects the live site and reports the current martech — tag manager, AppMeasurement vs. Web SDK, Target, ECID, data layer, consent, and the IDs already present.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698480" y="123444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48640" y="1796796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58368" y="1860804"/>
            <a:ext cx="384048" cy="384048"/>
          </a:xfrm>
          <a:prstGeom prst="ellipse">
            <a:avLst/>
          </a:prstGeom>
          <a:solidFill>
            <a:srgbClr val="6B5C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58368" y="18608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225296" y="1805940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Setup-Plan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1225296" y="205282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Turns a short interview into a governed implementation plan — property strategy, naming, environments, consent, approval gates, phased rollout, and compliance.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0698480" y="1796796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PLAN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48640" y="2359152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658368" y="2423160"/>
            <a:ext cx="384048" cy="384048"/>
          </a:xfrm>
          <a:prstGeom prst="ellipse">
            <a:avLst/>
          </a:prstGeom>
          <a:solidFill>
            <a:srgbClr val="6B5C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58368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225296" y="2368296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Data-Collection-Builder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225296" y="2615184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Scrapes the site and builds the data-collection spec — the SDR and Web SDK XDM schema, plus a universal set of data elements and rules (page, forms, video, campaigns, links, IDs).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0698480" y="2359152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48640" y="2921508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58368" y="2985516"/>
            <a:ext cx="384048" cy="384048"/>
          </a:xfrm>
          <a:prstGeom prst="ellipse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58368" y="2985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225296" y="293065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Property-Creator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1225296" y="3177540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Provisions the Adobe Launch property end-to-end via the Reactor API — extensions, data elements, rules, libraries, and the dev → staging → prod publish pipeline with approval gates and rollback.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10698480" y="2921508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PUBLISH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48640" y="3483864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658368" y="3547872"/>
            <a:ext cx="384048" cy="384048"/>
          </a:xfrm>
          <a:prstGeom prst="ellipse">
            <a:avLst/>
          </a:prstGeom>
          <a:solidFill>
            <a:srgbClr val="6B5C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58368" y="3547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1225296" y="34930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Audit-Builder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1225296" y="3739896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Audits the live configuration for the issues that matter — double-counting, environment separation, identity, consent, PII — and produces a findings deck and an audit workbook, every claim sourced.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0698480" y="3483864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AUDIT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548640" y="4046220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658368" y="4110228"/>
            <a:ext cx="384048" cy="384048"/>
          </a:xfrm>
          <a:prstGeom prst="ellipse">
            <a:avLst/>
          </a:prstGeom>
          <a:solidFill>
            <a:srgbClr val="6B5C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658368" y="41102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1225296" y="4055364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Data-Reconciliation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1225296" y="430225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Reconciles the report suite's variables against what the property actually collects, classifies each into one honest status, and produces the reconciliation workbook and a client decisions email.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10698480" y="404622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RECONCILE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Shape 57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8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Shape 59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Shape 60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Text 61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WHY WE USE THEM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48640" y="594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Why the Skills Exist</a:t>
            </a:r>
            <a:endParaRPr lang="en-US" sz="2500" dirty="0"/>
          </a:p>
        </p:txBody>
      </p:sp>
      <p:sp>
        <p:nvSpPr>
          <p:cNvPr id="100" name="Card"/>
          <p:cNvSpPr/>
          <p:nvPr/>
        </p:nvSpPr>
        <p:spPr>
          <a:xfrm>
            <a:off x="548640" y="1200000"/>
            <a:ext cx="11064240" cy="15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Caption"/>
          <p:cNvSpPr/>
          <p:nvPr/>
        </p:nvSpPr>
        <p:spPr>
          <a:xfrm>
            <a:off x="777240" y="13828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PROBLEM WITH MANUAL DELIVERY</a:t>
            </a:r>
            <a:endParaRPr lang="en-US" sz="1200" dirty="0"/>
          </a:p>
        </p:txBody>
      </p:sp>
      <p:sp>
        <p:nvSpPr>
          <p:cNvPr id="102" name="Body"/>
          <p:cNvSpPr/>
          <p:nvPr/>
        </p:nvSpPr>
        <p:spPr>
          <a:xfrm>
            <a:off x="777240" y="1702920"/>
            <a:ext cx="10607040" cy="9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Adobe implementations are built by hand — clicking through Launch, hand-writing SDRs, eyeballing configs. It's slow, inconsistent between consultants, hard to QA, and rarely documented well enough to defend or repeat.</a:t>
            </a:r>
            <a:endParaRPr lang="en-US" sz="1150" dirty="0"/>
          </a:p>
        </p:txBody>
      </p:sp>
      <p:sp>
        <p:nvSpPr>
          <p:cNvPr id="110" name="Card"/>
          <p:cNvSpPr/>
          <p:nvPr/>
        </p:nvSpPr>
        <p:spPr>
          <a:xfrm>
            <a:off x="548640" y="2850000"/>
            <a:ext cx="11064240" cy="15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" name="Caption"/>
          <p:cNvSpPr/>
          <p:nvPr/>
        </p:nvSpPr>
        <p:spPr>
          <a:xfrm>
            <a:off x="777240" y="30328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0C62FB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THAT COSTS</a:t>
            </a:r>
            <a:endParaRPr lang="en-US" sz="1200" dirty="0"/>
          </a:p>
        </p:txBody>
      </p:sp>
      <p:sp>
        <p:nvSpPr>
          <p:cNvPr id="112" name="Body"/>
          <p:cNvSpPr/>
          <p:nvPr/>
        </p:nvSpPr>
        <p:spPr>
          <a:xfrm>
            <a:off x="777240" y="3352920"/>
            <a:ext cx="10607040" cy="9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Weeks of senior time on repetitive setup; errors that surface late — double-counting, broken identity, missed variables; and deliverables whose quality depends on who happened to build them.</a:t>
            </a:r>
            <a:endParaRPr lang="en-US" sz="1150" dirty="0"/>
          </a:p>
        </p:txBody>
      </p:sp>
      <p:sp>
        <p:nvSpPr>
          <p:cNvPr id="120" name="Card"/>
          <p:cNvSpPr/>
          <p:nvPr/>
        </p:nvSpPr>
        <p:spPr>
          <a:xfrm>
            <a:off x="548640" y="4500000"/>
            <a:ext cx="11064240" cy="18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" name="Caption"/>
          <p:cNvSpPr/>
          <p:nvPr/>
        </p:nvSpPr>
        <p:spPr>
          <a:xfrm>
            <a:off x="777240" y="46828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CHANGE</a:t>
            </a:r>
            <a:endParaRPr lang="en-US" sz="1200" dirty="0"/>
          </a:p>
        </p:txBody>
      </p:sp>
      <p:sp>
        <p:nvSpPr>
          <p:cNvPr id="122" name="Body"/>
          <p:cNvSpPr/>
          <p:nvPr/>
        </p:nvSpPr>
        <p:spPr>
          <a:xfrm>
            <a:off x="777240" y="5002920"/>
            <a:ext cx="10607040" cy="12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repetitive, error-prone work is automated and standardized. Every stage produces a client-ready artifact from live data, the same way every time — so consultants spend their hours on judgment and client decisions.</a:t>
            </a:r>
            <a:endParaRPr lang="en-US" sz="1150" dirty="0"/>
          </a:p>
        </p:txBody>
      </p:sp>
      <p:sp>
        <p:nvSpPr>
          <p:cNvPr id="200" name="Shape Bar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Bar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Bar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Bar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Bar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Text Copyrigh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© Slalom. All Rights Reserved. Proprietary and Confidential.</a:t>
            </a:r>
          </a:p>
        </p:txBody>
      </p:sp>
      <p:sp>
        <p:nvSpPr>
          <p:cNvPr id="206" name="Text PageNum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YOU GET FROM THEM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48640" y="594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Value Add</a:t>
            </a:r>
            <a:endParaRPr lang="en-US" sz="2500" dirty="0"/>
          </a:p>
        </p:txBody>
      </p:sp>
      <p:sp>
        <p:nvSpPr>
          <p:cNvPr id="100" name="Card"/>
          <p:cNvSpPr/>
          <p:nvPr/>
        </p:nvSpPr>
        <p:spPr>
          <a:xfrm>
            <a:off x="548640" y="1200000"/>
            <a:ext cx="11064240" cy="17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Caption"/>
          <p:cNvSpPr/>
          <p:nvPr/>
        </p:nvSpPr>
        <p:spPr>
          <a:xfrm>
            <a:off x="1783080" y="1382880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0C62FB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REUSABLE IP &amp; SPEED</a:t>
            </a:r>
            <a:endParaRPr lang="en-US" sz="1200" dirty="0"/>
          </a:p>
        </p:txBody>
      </p:sp>
      <p:sp>
        <p:nvSpPr>
          <p:cNvPr id="102" name="Body"/>
          <p:cNvSpPr/>
          <p:nvPr/>
        </p:nvSpPr>
        <p:spPr>
          <a:xfrm>
            <a:off x="1783080" y="1702920"/>
            <a:ext cx="6537960" cy="10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0">
              <a:lnSpc>
                <a:spcPct val="112000"/>
              </a:lnSpc>
              <a:spcBef>
                <a:spcPts val="550"/>
              </a:spcBef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one-off engagement becomes a repeatable asset. What took weeks of manual setup runs in hours; the next client reuses the same accelerators instead of starting over.</a:t>
            </a:r>
          </a:p>
        </p:txBody>
      </p:sp>
      <p:sp>
        <p:nvSpPr>
          <p:cNvPr id="110" name="Card"/>
          <p:cNvSpPr/>
          <p:nvPr/>
        </p:nvSpPr>
        <p:spPr>
          <a:xfrm>
            <a:off x="548640" y="3050000"/>
            <a:ext cx="11064240" cy="16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" name="Caption"/>
          <p:cNvSpPr/>
          <p:nvPr/>
        </p:nvSpPr>
        <p:spPr>
          <a:xfrm>
            <a:off x="1783080" y="3232880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CONSISTENCY &amp; GOVERNANCE</a:t>
            </a:r>
            <a:endParaRPr lang="en-US" sz="1200" dirty="0"/>
          </a:p>
        </p:txBody>
      </p:sp>
      <p:sp>
        <p:nvSpPr>
          <p:cNvPr id="112" name="Body"/>
          <p:cNvSpPr/>
          <p:nvPr/>
        </p:nvSpPr>
        <p:spPr>
          <a:xfrm>
            <a:off x="1783080" y="3552920"/>
            <a:ext cx="6537960" cy="10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0">
              <a:lnSpc>
                <a:spcPct val="112000"/>
              </a:lnSpc>
              <a:spcBef>
                <a:spcPts val="550"/>
              </a:spcBef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same standards, naming, and quality bar on every engagement — with approval gates, rollback, and human sign-off built into the build and publish stages, not bolted on after.</a:t>
            </a:r>
          </a:p>
        </p:txBody>
      </p:sp>
      <p:sp>
        <p:nvSpPr>
          <p:cNvPr id="120" name="Card"/>
          <p:cNvSpPr/>
          <p:nvPr/>
        </p:nvSpPr>
        <p:spPr>
          <a:xfrm>
            <a:off x="548640" y="4800000"/>
            <a:ext cx="11064240" cy="15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" name="Caption"/>
          <p:cNvSpPr/>
          <p:nvPr/>
        </p:nvSpPr>
        <p:spPr>
          <a:xfrm>
            <a:off x="1783080" y="4982880"/>
            <a:ext cx="6537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QUALITY FLOOR &amp; EVIDENCE</a:t>
            </a:r>
            <a:endParaRPr lang="en-US" sz="1200" dirty="0"/>
          </a:p>
        </p:txBody>
      </p:sp>
      <p:sp>
        <p:nvSpPr>
          <p:cNvPr id="122" name="Body"/>
          <p:cNvSpPr/>
          <p:nvPr/>
        </p:nvSpPr>
        <p:spPr>
          <a:xfrm>
            <a:off x="1783080" y="5302920"/>
            <a:ext cx="6537960" cy="9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0">
              <a:lnSpc>
                <a:spcPct val="112000"/>
              </a:lnSpc>
              <a:spcBef>
                <a:spcPts val="550"/>
              </a:spcBef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Junior consultants ship senior-quality output. Every finding and recommendation is sourced from live configuration — capturable, repeatable, and defensible to a skeptical client.</a:t>
            </a:r>
          </a:p>
        </p:txBody>
      </p:sp>
      <p:sp>
        <p:nvSpPr>
          <p:cNvPr id="200" name="Shape Bar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Bar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Bar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Bar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Bar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Text Copyrigh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© Slalom. All Rights Reserved. Proprietary and Confidential.</a:t>
            </a:r>
          </a:p>
        </p:txBody>
      </p:sp>
      <p:sp>
        <p:nvSpPr>
          <p:cNvPr id="206" name="Text PageNum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4</a:t>
            </a:r>
          </a:p>
        </p:txBody>
      </p:sp>
      <p:sp>
        <p:nvSpPr>
          <p:cNvPr id="207" name="Oval 206"/>
          <p:cNvSpPr/>
          <p:nvPr/>
        </p:nvSpPr>
        <p:spPr>
          <a:xfrm>
            <a:off x="777240" y="1682496"/>
            <a:ext cx="777240" cy="777240"/>
          </a:xfrm>
          <a:prstGeom prst="ellipse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8" name="Picture 207" descr="icon_z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119" y="1857375"/>
            <a:ext cx="427482" cy="427482"/>
          </a:xfrm>
          <a:prstGeom prst="rect">
            <a:avLst/>
          </a:prstGeom>
        </p:spPr>
      </p:pic>
      <p:sp>
        <p:nvSpPr>
          <p:cNvPr id="209" name="Rounded Rectangle 208"/>
          <p:cNvSpPr/>
          <p:nvPr/>
        </p:nvSpPr>
        <p:spPr>
          <a:xfrm>
            <a:off x="8686800" y="1659636"/>
            <a:ext cx="2788920" cy="822960"/>
          </a:xfrm>
          <a:prstGeom prst="roundRect">
            <a:avLst>
              <a:gd name="adj" fmla="val 22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b="1" sz="1200">
                <a:solidFill>
                  <a:srgbClr val="FFFFFF"/>
                </a:solidFill>
                <a:latin typeface="Calibri"/>
              </a:rPr>
              <a:t>Faster delivery</a:t>
            </a:r>
          </a:p>
        </p:txBody>
      </p:sp>
      <p:sp>
        <p:nvSpPr>
          <p:cNvPr id="210" name="Oval 209"/>
          <p:cNvSpPr/>
          <p:nvPr/>
        </p:nvSpPr>
        <p:spPr>
          <a:xfrm>
            <a:off x="777240" y="3488436"/>
            <a:ext cx="777240" cy="777240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1" name="Picture 210" descr="icon_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119" y="3663314"/>
            <a:ext cx="427482" cy="427482"/>
          </a:xfrm>
          <a:prstGeom prst="rect">
            <a:avLst/>
          </a:prstGeom>
        </p:spPr>
      </p:pic>
      <p:sp>
        <p:nvSpPr>
          <p:cNvPr id="212" name="Rounded Rectangle 211"/>
          <p:cNvSpPr/>
          <p:nvPr/>
        </p:nvSpPr>
        <p:spPr>
          <a:xfrm>
            <a:off x="8686800" y="3465576"/>
            <a:ext cx="2788920" cy="822960"/>
          </a:xfrm>
          <a:prstGeom prst="roundRect">
            <a:avLst>
              <a:gd name="adj" fmla="val 22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b="1" sz="1200">
                <a:solidFill>
                  <a:srgbClr val="FFFFFF"/>
                </a:solidFill>
                <a:latin typeface="Calibri"/>
              </a:rPr>
              <a:t>Consistent &amp; governed</a:t>
            </a:r>
          </a:p>
        </p:txBody>
      </p:sp>
      <p:sp>
        <p:nvSpPr>
          <p:cNvPr id="213" name="Oval 212"/>
          <p:cNvSpPr/>
          <p:nvPr/>
        </p:nvSpPr>
        <p:spPr>
          <a:xfrm>
            <a:off x="777240" y="5189220"/>
            <a:ext cx="777240" cy="777240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4" name="Picture 213" descr="icon_aw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119" y="5364099"/>
            <a:ext cx="427482" cy="427482"/>
          </a:xfrm>
          <a:prstGeom prst="rect">
            <a:avLst/>
          </a:prstGeom>
        </p:spPr>
      </p:pic>
      <p:sp>
        <p:nvSpPr>
          <p:cNvPr id="215" name="Rounded Rectangle 214"/>
          <p:cNvSpPr/>
          <p:nvPr/>
        </p:nvSpPr>
        <p:spPr>
          <a:xfrm>
            <a:off x="8686800" y="5166360"/>
            <a:ext cx="2788920" cy="822960"/>
          </a:xfrm>
          <a:prstGeom prst="roundRect">
            <a:avLst>
              <a:gd name="adj" fmla="val 22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b="1" sz="1200">
                <a:solidFill>
                  <a:srgbClr val="FFFFFF"/>
                </a:solidFill>
                <a:latin typeface="Calibri"/>
              </a:rPr>
              <a:t>Defensible &amp; repeatable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48640" y="36576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530352"/>
            <a:ext cx="365760" cy="36576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4173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BOTTOM LINE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1417320" y="64008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Time Savings — Weeks to Days</a:t>
            </a:r>
            <a:endParaRPr lang="en-US" sz="2100" dirty="0"/>
          </a:p>
        </p:txBody>
      </p:sp>
      <p:sp>
        <p:nvSpPr>
          <p:cNvPr id="7" name="Shape 3"/>
          <p:cNvSpPr/>
          <p:nvPr/>
        </p:nvSpPr>
        <p:spPr>
          <a:xfrm>
            <a:off x="548640" y="118872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E6E6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777240" y="1188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Illustrative effort for a typical mid-size Adobe migration — manual delivery vs. the skills. The point isn't the exact hours; it's where senior time goes.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548640" y="1783080"/>
            <a:ext cx="2468880" cy="329184"/>
          </a:xfrm>
          <a:prstGeom prst="roundRect">
            <a:avLst>
              <a:gd name="adj" fmla="val 50000"/>
            </a:avLst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548640" y="178308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≈ 3–5× FASTER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548640" y="2286000"/>
            <a:ext cx="5349240" cy="2651760"/>
          </a:xfrm>
          <a:prstGeom prst="roundRect">
            <a:avLst>
              <a:gd name="adj" fmla="val 3103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548640" y="2286000"/>
            <a:ext cx="5349240" cy="457200"/>
          </a:xfrm>
          <a:prstGeom prst="roundRect">
            <a:avLst>
              <a:gd name="adj" fmla="val 18000"/>
            </a:avLst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731520" y="228600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MANUAL WAY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31520" y="296722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C62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1097280" y="283464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Current-state audit — 2–3 days clicking through Launch + captures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731520" y="347014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C62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1097280" y="333756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SDR + XDM authored by hand — 1–2 weeks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731520" y="397306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C62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/>
          <p:nvPr/>
        </p:nvSpPr>
        <p:spPr>
          <a:xfrm>
            <a:off x="1097280" y="38404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Property provisioning in the UI — 3–5 days, error-prone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731520" y="447598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C62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1097280" y="434340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Reconciliation by hand — a full day of cross-referencing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6263640" y="2286000"/>
            <a:ext cx="5349240" cy="2651760"/>
          </a:xfrm>
          <a:prstGeom prst="roundRect">
            <a:avLst>
              <a:gd name="adj" fmla="val 3103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9"/>
          <p:cNvSpPr/>
          <p:nvPr/>
        </p:nvSpPr>
        <p:spPr>
          <a:xfrm>
            <a:off x="6263640" y="2286000"/>
            <a:ext cx="5349240" cy="457200"/>
          </a:xfrm>
          <a:prstGeom prst="roundRect">
            <a:avLst>
              <a:gd name="adj" fmla="val 18000"/>
            </a:avLst>
          </a:prstGeom>
          <a:solidFill>
            <a:srgbClr val="0E8F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446520" y="228600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WITH THE SKILLS</a:t>
            </a:r>
            <a:endParaRPr lang="en-US" sz="1250" dirty="0"/>
          </a:p>
        </p:txBody>
      </p:sp>
      <p:sp>
        <p:nvSpPr>
          <p:cNvPr id="25" name="Shape 21"/>
          <p:cNvSpPr/>
          <p:nvPr/>
        </p:nvSpPr>
        <p:spPr>
          <a:xfrm>
            <a:off x="6446520" y="296722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6812280" y="283464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 + audit — under half a day, sourced from live config</a:t>
            </a:r>
            <a:endParaRPr lang="en-US" sz="1050" dirty="0"/>
          </a:p>
        </p:txBody>
      </p:sp>
      <p:sp>
        <p:nvSpPr>
          <p:cNvPr id="27" name="Shape 23"/>
          <p:cNvSpPr/>
          <p:nvPr/>
        </p:nvSpPr>
        <p:spPr>
          <a:xfrm>
            <a:off x="6446520" y="347014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6812280" y="333756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SDR + XDM generated — about a day, universal patterns built in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6446520" y="397306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6812280" y="38404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Provisioning via Reactor API — minutes, idempotent, with rollback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6446520" y="447598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/>
          <p:nvPr/>
        </p:nvSpPr>
        <p:spPr>
          <a:xfrm>
            <a:off x="6812280" y="434340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Reconciliation — 1–2 hours, a reviewed draft, not a hand-build</a:t>
            </a:r>
            <a:endParaRPr lang="en-US" sz="1050" dirty="0"/>
          </a:p>
        </p:txBody>
      </p:sp>
      <p:sp>
        <p:nvSpPr>
          <p:cNvPr id="33" name="Shape 29"/>
          <p:cNvSpPr/>
          <p:nvPr/>
        </p:nvSpPr>
        <p:spPr>
          <a:xfrm>
            <a:off x="548640" y="512064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E6E6E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582412"/>
            <a:ext cx="320040" cy="320040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1188720" y="5285232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2FA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Net effect: </a:t>
            </a: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multi-week manual engagement compressed to a handful of days — and the time that's left goes to judgment and client decisions, not repetitive setup.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42" name="Text 3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5</a:t>
            </a:r>
            <a:endParaRPr lang="en-US" sz="1000" dirty="0"/>
          </a:p>
        </p:txBody>
      </p:sp>
      <p:pic>
        <p:nvPicPr>
          <p:cNvPr id="100" name="Checkmark 10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392" y="2996100"/>
            <a:ext cx="180000" cy="180000"/>
          </a:xfrm>
          <a:prstGeom prst="rect">
            <a:avLst/>
          </a:prstGeom>
        </p:spPr>
      </p:pic>
      <p:pic>
        <p:nvPicPr>
          <p:cNvPr id="101" name="Checkmark 10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392" y="3499020"/>
            <a:ext cx="180000" cy="180000"/>
          </a:xfrm>
          <a:prstGeom prst="rect">
            <a:avLst/>
          </a:prstGeom>
        </p:spPr>
      </p:pic>
      <p:pic>
        <p:nvPicPr>
          <p:cNvPr id="102" name="Checkmark 10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392" y="4001940"/>
            <a:ext cx="180000" cy="180000"/>
          </a:xfrm>
          <a:prstGeom prst="rect">
            <a:avLst/>
          </a:prstGeom>
        </p:spPr>
      </p:pic>
      <p:pic>
        <p:nvPicPr>
          <p:cNvPr id="103" name="Checkmark 10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392" y="4504860"/>
            <a:ext cx="180000" cy="180000"/>
          </a:xfrm>
          <a:prstGeom prst="rect">
            <a:avLst/>
          </a:prstGeom>
        </p:spPr>
      </p:pic>
      <p:pic>
        <p:nvPicPr>
          <p:cNvPr id="104" name="Checkmark 10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5392" y="2996100"/>
            <a:ext cx="180000" cy="180000"/>
          </a:xfrm>
          <a:prstGeom prst="rect">
            <a:avLst/>
          </a:prstGeom>
        </p:spPr>
      </p:pic>
      <p:pic>
        <p:nvPicPr>
          <p:cNvPr id="105" name="Checkmark 10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5392" y="3499020"/>
            <a:ext cx="180000" cy="180000"/>
          </a:xfrm>
          <a:prstGeom prst="rect">
            <a:avLst/>
          </a:prstGeom>
        </p:spPr>
      </p:pic>
      <p:pic>
        <p:nvPicPr>
          <p:cNvPr id="106" name="Checkmark 10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5392" y="4001940"/>
            <a:ext cx="180000" cy="180000"/>
          </a:xfrm>
          <a:prstGeom prst="rect">
            <a:avLst/>
          </a:prstGeom>
        </p:spPr>
      </p:pic>
      <p:pic>
        <p:nvPicPr>
          <p:cNvPr id="107" name="Checkmark 10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5392" y="4504860"/>
            <a:ext cx="180000" cy="180000"/>
          </a:xfrm>
          <a:prstGeom prst="rect">
            <a:avLst/>
          </a:prstGeom>
        </p:spPr>
      </p:pic>
      <p:sp>
        <p:nvSpPr>
          <p:cNvPr id="700" name="Badge Shape"/>
          <p:cNvSpPr/>
          <p:nvPr/>
        </p:nvSpPr>
        <p:spPr>
          <a:xfrm>
            <a:off x="3200400" y="1783080"/>
            <a:ext cx="1500000" cy="329184"/>
          </a:xfrm>
          <a:prstGeom prst="roundRect">
            <a:avLst>
              <a:gd name="adj" fmla="val 50000"/>
            </a:avLst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1" name="Badge Text"/>
          <p:cNvSpPr/>
          <p:nvPr/>
        </p:nvSpPr>
        <p:spPr>
          <a:xfrm>
            <a:off x="3200400" y="1783080"/>
            <a:ext cx="1500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ESTIMATE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HOW THEY WORK TOGETHER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Pipeline: Detection to Decisions</a:t>
            </a:r>
            <a:endParaRPr lang="en-US" sz="2500" dirty="0"/>
          </a:p>
        </p:txBody>
      </p:sp>
      <p:sp>
        <p:nvSpPr>
          <p:cNvPr id="101" name="BoxText"/>
          <p:cNvSpPr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Starts from the client's live site — inspected directly. Then each stage feeds the next, and every output is a client-ready artifact.</a:t>
            </a:r>
          </a:p>
        </p:txBody>
      </p:sp>
      <p:sp>
        <p:nvSpPr>
          <p:cNvPr id="120" name="Label"/>
          <p:cNvSpPr/>
          <p:nvPr/>
        </p:nvSpPr>
        <p:spPr>
          <a:xfrm>
            <a:off x="548640" y="2331720"/>
            <a:ext cx="7278624" cy="320040"/>
          </a:xfrm>
          <a:prstGeom prst="roundRect">
            <a:avLst>
              <a:gd name="adj" fmla="val 30000"/>
            </a:avLst>
          </a:prstGeom>
          <a:solidFill>
            <a:srgbClr val="6B5C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" name="LabelText"/>
          <p:cNvSpPr/>
          <p:nvPr/>
        </p:nvSpPr>
        <p:spPr>
          <a:xfrm>
            <a:off x="548640" y="2331720"/>
            <a:ext cx="7278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 —  DETECT · PLAN · BUILD · PUBLISH</a:t>
            </a:r>
          </a:p>
        </p:txBody>
      </p:sp>
      <p:sp>
        <p:nvSpPr>
          <p:cNvPr id="130" name="Box"/>
          <p:cNvSpPr/>
          <p:nvPr/>
        </p:nvSpPr>
        <p:spPr>
          <a:xfrm>
            <a:off x="548640" y="2834640"/>
            <a:ext cx="1600200" cy="960120"/>
          </a:xfrm>
          <a:prstGeom prst="roundRect">
            <a:avLst>
              <a:gd name="adj" fmla="val 9412"/>
            </a:avLst>
          </a:prstGeom>
          <a:solidFill>
            <a:srgbClr val="F2F2F2"/>
          </a:solidFill>
          <a:ln w="19050">
            <a:solidFill>
              <a:srgbClr val="6B5C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BoxText"/>
          <p:cNvSpPr/>
          <p:nvPr/>
        </p:nvSpPr>
        <p:spPr>
          <a:xfrm>
            <a:off x="621792" y="2889504"/>
            <a:ext cx="145389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</a:t>
            </a:r>
          </a:p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tech-detector</a:t>
            </a:r>
          </a:p>
        </p:txBody>
      </p:sp>
      <p:sp>
        <p:nvSpPr>
          <p:cNvPr id="140" name="Arrow"/>
          <p:cNvSpPr/>
          <p:nvPr/>
        </p:nvSpPr>
        <p:spPr>
          <a:xfrm>
            <a:off x="2148840" y="2852928"/>
            <a:ext cx="2926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5CA5"/>
                </a:solidFill>
              </a:rPr>
              <a:t>→</a:t>
            </a:r>
          </a:p>
        </p:txBody>
      </p:sp>
      <p:sp>
        <p:nvSpPr>
          <p:cNvPr id="170" name="Label"/>
          <p:cNvSpPr/>
          <p:nvPr/>
        </p:nvSpPr>
        <p:spPr>
          <a:xfrm>
            <a:off x="8119872" y="2331720"/>
            <a:ext cx="3493008" cy="320040"/>
          </a:xfrm>
          <a:prstGeom prst="roundRect">
            <a:avLst>
              <a:gd name="adj" fmla="val 30000"/>
            </a:avLst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1" name="LabelText"/>
          <p:cNvSpPr/>
          <p:nvPr/>
        </p:nvSpPr>
        <p:spPr>
          <a:xfrm>
            <a:off x="8119872" y="2331720"/>
            <a:ext cx="3493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ASSURE  —  AUDIT · RECONCILE</a:t>
            </a:r>
          </a:p>
        </p:txBody>
      </p:sp>
      <p:sp>
        <p:nvSpPr>
          <p:cNvPr id="222" name="Banner"/>
          <p:cNvSpPr/>
          <p:nvPr/>
        </p:nvSpPr>
        <p:spPr>
          <a:xfrm>
            <a:off x="4322320" y="4150000"/>
            <a:ext cx="6408120" cy="550000"/>
          </a:xfrm>
          <a:prstGeom prst="roundRect">
            <a:avLst>
              <a:gd name="adj" fmla="val 12000"/>
            </a:avLst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4" name="BannerText"/>
          <p:cNvSpPr/>
          <p:nvPr/>
        </p:nvSpPr>
        <p:spPr>
          <a:xfrm>
            <a:off x="4822320" y="4150000"/>
            <a:ext cx="5858120" cy="5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GOVERNED PIPELINE — EVERY OUTPUT FEEDS THE NEXT</a:t>
            </a:r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Detection informs the plan; the plan drives the build; the build is audited; the audit is reconciled into decisions.</a:t>
            </a:r>
          </a:p>
        </p:txBody>
      </p:sp>
      <p:sp>
        <p:nvSpPr>
          <p:cNvPr id="230" name="Callout"/>
          <p:cNvSpPr/>
          <p:nvPr/>
        </p:nvSpPr>
        <p:spPr>
          <a:xfrm>
            <a:off x="548640" y="4950000"/>
            <a:ext cx="11064240" cy="1000000"/>
          </a:xfrm>
          <a:prstGeom prst="roundRect">
            <a:avLst>
              <a:gd name="adj" fmla="val 7273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2" name="CalloutText"/>
          <p:cNvSpPr/>
          <p:nvPr/>
        </p:nvSpPr>
        <p:spPr>
          <a:xfrm>
            <a:off x="777240" y="4950000"/>
            <a:ext cx="1060704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02FA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client gets: </a:t>
            </a: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documented, governed Adobe implementation — plus the evidence (audit deck + workbook) and the decisions (reconciliation workbook + email) to trust it and act.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0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1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2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3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49" name="Text 45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6</a:t>
            </a:r>
            <a:endParaRPr lang="en-US" sz="1000" dirty="0"/>
          </a:p>
        </p:txBody>
      </p:sp>
      <p:sp>
        <p:nvSpPr>
          <p:cNvPr id="233" name="Box_233"/>
          <p:cNvSpPr/>
          <p:nvPr/>
        </p:nvSpPr>
        <p:spPr>
          <a:xfrm>
            <a:off x="2441448" y="2834640"/>
            <a:ext cx="1600200" cy="960120"/>
          </a:xfrm>
          <a:prstGeom prst="roundRect">
            <a:avLst>
              <a:gd name="adj" fmla="val 9412"/>
            </a:avLst>
          </a:prstGeom>
          <a:solidFill>
            <a:srgbClr val="F2F2F2"/>
          </a:solidFill>
          <a:ln w="19050">
            <a:solidFill>
              <a:srgbClr val="6B5C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4" name="BoxText_234"/>
          <p:cNvSpPr/>
          <p:nvPr/>
        </p:nvSpPr>
        <p:spPr>
          <a:xfrm>
            <a:off x="2514600" y="2889504"/>
            <a:ext cx="145389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Plan</a:t>
            </a:r>
          </a:p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setup-plan</a:t>
            </a:r>
          </a:p>
        </p:txBody>
      </p:sp>
      <p:sp>
        <p:nvSpPr>
          <p:cNvPr id="235" name="Box_235"/>
          <p:cNvSpPr/>
          <p:nvPr/>
        </p:nvSpPr>
        <p:spPr>
          <a:xfrm>
            <a:off x="4334256" y="2834640"/>
            <a:ext cx="1600200" cy="960120"/>
          </a:xfrm>
          <a:prstGeom prst="roundRect">
            <a:avLst>
              <a:gd name="adj" fmla="val 9412"/>
            </a:avLst>
          </a:prstGeom>
          <a:solidFill>
            <a:srgbClr val="F2F2F2"/>
          </a:solidFill>
          <a:ln w="19050">
            <a:solidFill>
              <a:srgbClr val="6B5C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6" name="BoxText_236"/>
          <p:cNvSpPr/>
          <p:nvPr/>
        </p:nvSpPr>
        <p:spPr>
          <a:xfrm>
            <a:off x="4407408" y="2889504"/>
            <a:ext cx="145389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</a:t>
            </a:r>
          </a:p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data-builder</a:t>
            </a:r>
          </a:p>
        </p:txBody>
      </p:sp>
      <p:sp>
        <p:nvSpPr>
          <p:cNvPr id="237" name="Box_237"/>
          <p:cNvSpPr/>
          <p:nvPr/>
        </p:nvSpPr>
        <p:spPr>
          <a:xfrm>
            <a:off x="6227064" y="2834640"/>
            <a:ext cx="1600200" cy="960120"/>
          </a:xfrm>
          <a:prstGeom prst="roundRect">
            <a:avLst>
              <a:gd name="adj" fmla="val 9412"/>
            </a:avLst>
          </a:prstGeom>
          <a:solidFill>
            <a:srgbClr val="F2F2F2"/>
          </a:solidFill>
          <a:ln w="19050">
            <a:solidFill>
              <a:srgbClr val="6B5C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8" name="BoxText_238"/>
          <p:cNvSpPr/>
          <p:nvPr/>
        </p:nvSpPr>
        <p:spPr>
          <a:xfrm>
            <a:off x="6300216" y="2889504"/>
            <a:ext cx="145389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Publish</a:t>
            </a:r>
          </a:p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property-creator</a:t>
            </a:r>
          </a:p>
        </p:txBody>
      </p:sp>
      <p:sp>
        <p:nvSpPr>
          <p:cNvPr id="239" name="Box_239"/>
          <p:cNvSpPr/>
          <p:nvPr/>
        </p:nvSpPr>
        <p:spPr>
          <a:xfrm>
            <a:off x="8119872" y="2834640"/>
            <a:ext cx="1600200" cy="960120"/>
          </a:xfrm>
          <a:prstGeom prst="roundRect">
            <a:avLst>
              <a:gd name="adj" fmla="val 9412"/>
            </a:avLst>
          </a:prstGeom>
          <a:solidFill>
            <a:srgbClr val="F2F2F2"/>
          </a:solidFill>
          <a:ln w="19050">
            <a:solidFill>
              <a:srgbClr val="6B5C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0" name="BoxText_240"/>
          <p:cNvSpPr/>
          <p:nvPr/>
        </p:nvSpPr>
        <p:spPr>
          <a:xfrm>
            <a:off x="8193024" y="2889504"/>
            <a:ext cx="145389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Audit</a:t>
            </a:r>
          </a:p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audit-builder</a:t>
            </a:r>
          </a:p>
        </p:txBody>
      </p:sp>
      <p:sp>
        <p:nvSpPr>
          <p:cNvPr id="241" name="Box_241"/>
          <p:cNvSpPr/>
          <p:nvPr/>
        </p:nvSpPr>
        <p:spPr>
          <a:xfrm>
            <a:off x="10012680" y="2834640"/>
            <a:ext cx="1600200" cy="960120"/>
          </a:xfrm>
          <a:prstGeom prst="roundRect">
            <a:avLst>
              <a:gd name="adj" fmla="val 9412"/>
            </a:avLst>
          </a:prstGeom>
          <a:solidFill>
            <a:srgbClr val="F2F2F2"/>
          </a:solidFill>
          <a:ln w="19050">
            <a:solidFill>
              <a:srgbClr val="6B5C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2" name="BoxText_242"/>
          <p:cNvSpPr/>
          <p:nvPr/>
        </p:nvSpPr>
        <p:spPr>
          <a:xfrm>
            <a:off x="10085832" y="2889504"/>
            <a:ext cx="145389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Reconcile</a:t>
            </a:r>
          </a:p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reconciliation</a:t>
            </a:r>
          </a:p>
        </p:txBody>
      </p:sp>
      <p:sp>
        <p:nvSpPr>
          <p:cNvPr id="243" name="Arrow_243"/>
          <p:cNvSpPr/>
          <p:nvPr/>
        </p:nvSpPr>
        <p:spPr>
          <a:xfrm>
            <a:off x="4041648" y="2852928"/>
            <a:ext cx="2926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5CA5"/>
                </a:solidFill>
              </a:rPr>
              <a:t>→</a:t>
            </a:r>
          </a:p>
        </p:txBody>
      </p:sp>
      <p:sp>
        <p:nvSpPr>
          <p:cNvPr id="244" name="Arrow_244"/>
          <p:cNvSpPr/>
          <p:nvPr/>
        </p:nvSpPr>
        <p:spPr>
          <a:xfrm>
            <a:off x="5934456" y="2852928"/>
            <a:ext cx="2926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5CA5"/>
                </a:solidFill>
              </a:rPr>
              <a:t>→</a:t>
            </a:r>
          </a:p>
        </p:txBody>
      </p:sp>
      <p:sp>
        <p:nvSpPr>
          <p:cNvPr id="245" name="Arrow_245"/>
          <p:cNvSpPr/>
          <p:nvPr/>
        </p:nvSpPr>
        <p:spPr>
          <a:xfrm>
            <a:off x="7827264" y="2852928"/>
            <a:ext cx="2926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5CA5"/>
                </a:solidFill>
              </a:rPr>
              <a:t>→</a:t>
            </a:r>
          </a:p>
        </p:txBody>
      </p:sp>
      <p:sp>
        <p:nvSpPr>
          <p:cNvPr id="246" name="Arrow_246"/>
          <p:cNvSpPr/>
          <p:nvPr/>
        </p:nvSpPr>
        <p:spPr>
          <a:xfrm>
            <a:off x="9720072" y="2852928"/>
            <a:ext cx="2926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5CA5"/>
                </a:solidFill>
              </a:rPr>
              <a:t>→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LANDS ON THE TABLE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66751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Deliver to the Client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77240" y="1481328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PIPELINE, TWO KINDS OF DELIVERABLE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77240" y="175564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artifacts stand up the implementation; Assure artifacts prove it works and tee up the decisions only the client can make.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377440"/>
            <a:ext cx="11064240" cy="594360"/>
          </a:xfrm>
          <a:prstGeom prst="roundRect">
            <a:avLst>
              <a:gd name="adj" fmla="val 13846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77240" y="24505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EVERY ENGAGEMENT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77240" y="26517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current-state baseline of exactly what's running today — sourced from the live site, not a stale export.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3154680"/>
            <a:ext cx="5349240" cy="365760"/>
          </a:xfrm>
          <a:prstGeom prst="roundRect">
            <a:avLst>
              <a:gd name="adj" fmla="val 17500"/>
            </a:avLst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31520" y="31546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DELIVERABLES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63640" y="3154680"/>
            <a:ext cx="5349240" cy="365760"/>
          </a:xfrm>
          <a:prstGeom prst="roundRect">
            <a:avLst>
              <a:gd name="adj" fmla="val 17500"/>
            </a:avLst>
          </a:prstGeom>
          <a:solidFill>
            <a:srgbClr val="0E8F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446520" y="31546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ASSURE DELIVERABLES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3809827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1005840" y="3631131"/>
            <a:ext cx="489204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SDR and Web SDK XDM schema — the documented data-collection spec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325344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1005840" y="4146648"/>
            <a:ext cx="489204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live, published Launch property — extensions, data elements, rules, environments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263640" y="378201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720840" y="3703320"/>
            <a:ext cx="489204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findings audit deck + audit workbook — every claim sourced from live config</a:t>
            </a:r>
            <a:endParaRPr lang="en-US" sz="1100" dirty="0"/>
          </a:p>
        </p:txBody>
      </p:sp>
      <p:sp>
        <p:nvSpPr>
          <p:cNvPr id="150" name="Shape BodyHiding"/>
          <p:cNvSpPr/>
          <p:nvPr/>
        </p:nvSpPr>
        <p:spPr>
          <a:xfrm>
            <a:off x="6263640" y="428201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1" name="Text BodyHiding"/>
          <p:cNvSpPr/>
          <p:nvPr/>
        </p:nvSpPr>
        <p:spPr>
          <a:xfrm>
            <a:off x="6720840" y="4203320"/>
            <a:ext cx="489204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reconciliation workbook — every variable's status, orphans and no-ops surfaced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63640" y="488201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720840" y="4703320"/>
            <a:ext cx="489204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client decisions email — the handful of calls only the client can make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7</a:t>
            </a:r>
            <a:endParaRPr lang="en-US" sz="1000" dirty="0"/>
          </a:p>
        </p:txBody>
      </p:sp>
      <p:sp>
        <p:nvSpPr>
          <p:cNvPr id="152" name="Oval 151"/>
          <p:cNvSpPr/>
          <p:nvPr/>
        </p:nvSpPr>
        <p:spPr>
          <a:xfrm>
            <a:off x="548640" y="3809827"/>
            <a:ext cx="310896" cy="310896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" name="Picture 152" descr="icon_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037" y="3878224"/>
            <a:ext cx="174101" cy="174101"/>
          </a:xfrm>
          <a:prstGeom prst="rect">
            <a:avLst/>
          </a:prstGeom>
        </p:spPr>
      </p:pic>
      <p:sp>
        <p:nvSpPr>
          <p:cNvPr id="154" name="Oval 153"/>
          <p:cNvSpPr/>
          <p:nvPr/>
        </p:nvSpPr>
        <p:spPr>
          <a:xfrm>
            <a:off x="548640" y="4325344"/>
            <a:ext cx="310896" cy="310896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5" name="Picture 154" descr="icon_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037" y="4393741"/>
            <a:ext cx="174101" cy="174101"/>
          </a:xfrm>
          <a:prstGeom prst="rect">
            <a:avLst/>
          </a:prstGeom>
        </p:spPr>
      </p:pic>
      <p:sp>
        <p:nvSpPr>
          <p:cNvPr id="156" name="Oval 155"/>
          <p:cNvSpPr/>
          <p:nvPr/>
        </p:nvSpPr>
        <p:spPr>
          <a:xfrm>
            <a:off x="6263640" y="3782015"/>
            <a:ext cx="310896" cy="310896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icon_se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037" y="3850413"/>
            <a:ext cx="174101" cy="174101"/>
          </a:xfrm>
          <a:prstGeom prst="rect">
            <a:avLst/>
          </a:prstGeom>
        </p:spPr>
      </p:pic>
      <p:sp>
        <p:nvSpPr>
          <p:cNvPr id="158" name="Oval 157"/>
          <p:cNvSpPr/>
          <p:nvPr/>
        </p:nvSpPr>
        <p:spPr>
          <a:xfrm>
            <a:off x="6263640" y="4282016"/>
            <a:ext cx="310896" cy="310896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icon_gr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2037" y="4350413"/>
            <a:ext cx="174101" cy="174101"/>
          </a:xfrm>
          <a:prstGeom prst="rect">
            <a:avLst/>
          </a:prstGeom>
        </p:spPr>
      </p:pic>
      <p:sp>
        <p:nvSpPr>
          <p:cNvPr id="160" name="Oval 159"/>
          <p:cNvSpPr/>
          <p:nvPr/>
        </p:nvSpPr>
        <p:spPr>
          <a:xfrm>
            <a:off x="6263640" y="4882016"/>
            <a:ext cx="310896" cy="310896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icon_mai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2037" y="4950413"/>
            <a:ext cx="174101" cy="17410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02F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7315200" y="-1828800"/>
            <a:ext cx="5486400" cy="5486400"/>
          </a:xfrm>
          <a:prstGeom prst="ellipse">
            <a:avLst/>
          </a:prstGeom>
          <a:solidFill>
            <a:srgbClr val="0C62FB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914400" y="2286000"/>
            <a:ext cx="1036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914400" y="3200400"/>
            <a:ext cx="1036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FE0F5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Detection to decisions, the same way every time. Let's talk.</a:t>
            </a:r>
            <a:endParaRPr lang="en-US" sz="1600" dirty="0"/>
          </a:p>
        </p:txBody>
      </p:sp>
      <p:sp>
        <p:nvSpPr>
          <p:cNvPr id="6" name="Shape Divider"/>
          <p:cNvSpPr/>
          <p:nvPr/>
        </p:nvSpPr>
        <p:spPr>
          <a:xfrm>
            <a:off x="914400" y="3840480"/>
            <a:ext cx="1828800" cy="18288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Name"/>
          <p:cNvSpPr/>
          <p:nvPr/>
        </p:nvSpPr>
        <p:spPr>
          <a:xfrm>
            <a:off x="914400" y="4114800"/>
            <a:ext cx="1036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Scott Tavares</a:t>
            </a:r>
            <a:endParaRPr lang="en-US" sz="2000" dirty="0"/>
          </a:p>
        </p:txBody>
      </p:sp>
      <p:sp>
        <p:nvSpPr>
          <p:cNvPr id="8" name="Text Title"/>
          <p:cNvSpPr/>
          <p:nvPr/>
        </p:nvSpPr>
        <p:spPr>
          <a:xfrm>
            <a:off x="914400" y="448056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Senior Principal, Adobe Multi-Solution Architect</a:t>
            </a:r>
            <a:endParaRPr lang="en-US" sz="1300" dirty="0"/>
          </a:p>
        </p:txBody>
      </p:sp>
      <p:sp>
        <p:nvSpPr>
          <p:cNvPr id="9" name="Text Company"/>
          <p:cNvSpPr/>
          <p:nvPr/>
        </p:nvSpPr>
        <p:spPr>
          <a:xfrm>
            <a:off x="914400" y="4791075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Slalom</a:t>
            </a:r>
            <a:endParaRPr lang="en-US" sz="1300" dirty="0"/>
          </a:p>
        </p:txBody>
      </p:sp>
      <p:sp>
        <p:nvSpPr>
          <p:cNvPr id="10" name="Text Email"/>
          <p:cNvSpPr/>
          <p:nvPr/>
        </p:nvSpPr>
        <p:spPr>
          <a:xfrm>
            <a:off x="914400" y="525780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scott.tavares@slalom.com</a:t>
            </a:r>
            <a:endParaRPr lang="en-US" sz="1300" dirty="0"/>
          </a:p>
        </p:txBody>
      </p:sp>
      <p:sp>
        <p:nvSpPr>
          <p:cNvPr id="21" name="Text Copyright"/>
          <p:cNvSpPr/>
          <p:nvPr/>
        </p:nvSpPr>
        <p:spPr>
          <a:xfrm>
            <a:off x="9144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93B8"/>
                </a:solidFill>
              </a:rPr>
              <a:t>© Slalom. All Rights Reserved. Proprietary and Confidential.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ca75128-a244-4596-877b-f24828e476e2}" enabled="0" method="" siteId="{9ca75128-a244-4596-877b-f24828e476e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7438</TotalTime>
  <Words>8988</Words>
  <Application>Microsoft Office PowerPoint</Application>
  <PresentationFormat>Widescreen</PresentationFormat>
  <Paragraphs>713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Avenir Next LT Pro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Adobe Tags Configuration Audit - Amazon News</dc:title>
  <dc:subject>PptxGenJS Presentation</dc:subject>
  <dc:creator>Scott Tavares</dc:creator>
  <cp:lastModifiedBy>Scott Tavares</cp:lastModifiedBy>
  <cp:revision>3</cp:revision>
  <dcterms:created xsi:type="dcterms:W3CDTF">2026-07-13T22:20:24Z</dcterms:created>
  <dcterms:modified xsi:type="dcterms:W3CDTF">2026-07-28T17:19:58Z</dcterms:modified>
</cp:coreProperties>
</file>