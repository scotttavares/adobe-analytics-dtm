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303" r:id="rId17"/>
    <p:sldId id="304" r:id="rId18"/>
    <p:sldId id="305" r:id="rId19"/>
    <p:sldId id="306" r:id="rId20"/>
    <p:sldId id="307" r:id="rId21"/>
    <p:sldId id="308" r:id="rId22"/>
    <p:sldId id="309" r:id="rId23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10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6.png"/><Relationship Id="rId4" Type="http://schemas.openxmlformats.org/officeDocument/2006/relationships/image" Target="../media/image25.png"/><Relationship Id="rId5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Relationship Id="rId5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28.png"/><Relationship Id="rId4" Type="http://schemas.openxmlformats.org/officeDocument/2006/relationships/image" Target="../media/image25.png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29.png"/><Relationship Id="rId4" Type="http://schemas.openxmlformats.org/officeDocument/2006/relationships/image" Target="../media/image25.png"/><Relationship Id="rId5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30.png"/><Relationship Id="rId4" Type="http://schemas.openxmlformats.org/officeDocument/2006/relationships/image" Target="../media/image25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 — and What They Deliver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3774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09344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468880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28416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187952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47488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07024"/>
            <a:ext cx="54864" cy="310895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1197864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1472184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Inspects the live site's martech.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737360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E9E5B"/>
                </a:solidFill>
                <a:latin typeface="Avenir Next LT Pro"/>
              </a:rPr>
              <a:t>Current-state report</a:t>
            </a:r>
          </a:p>
        </p:txBody>
      </p:sp>
      <p:sp>
        <p:nvSpPr>
          <p:cNvPr id="75" name="Oval 74"/>
          <p:cNvSpPr/>
          <p:nvPr/>
        </p:nvSpPr>
        <p:spPr>
          <a:xfrm>
            <a:off x="5760720" y="1280160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53896"/>
            <a:ext cx="310896" cy="310896"/>
          </a:xfrm>
          <a:prstGeom prst="rect">
            <a:avLst/>
          </a:prstGeom>
        </p:spPr>
      </p:pic>
      <p:sp>
        <p:nvSpPr>
          <p:cNvPr id="77" name="Oval 76"/>
          <p:cNvSpPr/>
          <p:nvPr/>
        </p:nvSpPr>
        <p:spPr>
          <a:xfrm>
            <a:off x="6181344" y="170078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66560" y="2057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2331720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Turns a scoping Q&amp;A into a build plan.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2596896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2A5A0"/>
                </a:solidFill>
                <a:latin typeface="Avenir Next LT Pro"/>
              </a:rPr>
              <a:t>Governed plan + property blueprint</a:t>
            </a:r>
          </a:p>
        </p:txBody>
      </p:sp>
      <p:sp>
        <p:nvSpPr>
          <p:cNvPr id="81" name="Oval 80"/>
          <p:cNvSpPr/>
          <p:nvPr/>
        </p:nvSpPr>
        <p:spPr>
          <a:xfrm>
            <a:off x="5760720" y="2139696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13432"/>
            <a:ext cx="310896" cy="310896"/>
          </a:xfrm>
          <a:prstGeom prst="rect">
            <a:avLst/>
          </a:prstGeom>
        </p:spPr>
      </p:pic>
      <p:sp>
        <p:nvSpPr>
          <p:cNvPr id="83" name="Oval 82"/>
          <p:cNvSpPr/>
          <p:nvPr/>
        </p:nvSpPr>
        <p:spPr>
          <a:xfrm>
            <a:off x="6181344" y="2560320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2916936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3191256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Generates the data-collection spec.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" y="3456432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391C4"/>
                </a:solidFill>
                <a:latin typeface="Avenir Next LT Pro"/>
              </a:rPr>
              <a:t>SDR (CSV) + XDM schema + data elements &amp; rules</a:t>
            </a:r>
          </a:p>
        </p:txBody>
      </p:sp>
      <p:sp>
        <p:nvSpPr>
          <p:cNvPr id="87" name="Oval 86"/>
          <p:cNvSpPr/>
          <p:nvPr/>
        </p:nvSpPr>
        <p:spPr>
          <a:xfrm>
            <a:off x="5760720" y="2999232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172968"/>
            <a:ext cx="310896" cy="310896"/>
          </a:xfrm>
          <a:prstGeom prst="rect">
            <a:avLst/>
          </a:prstGeom>
        </p:spPr>
      </p:pic>
      <p:sp>
        <p:nvSpPr>
          <p:cNvPr id="89" name="Oval 88"/>
          <p:cNvSpPr/>
          <p:nvPr/>
        </p:nvSpPr>
        <p:spPr>
          <a:xfrm>
            <a:off x="6181344" y="3419856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3776472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4050791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Provisions the property via the API.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4315968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C62FB"/>
                </a:solidFill>
                <a:latin typeface="Avenir Next LT Pro"/>
              </a:rPr>
              <a:t>A live Adobe Launch property</a:t>
            </a:r>
          </a:p>
        </p:txBody>
      </p:sp>
      <p:sp>
        <p:nvSpPr>
          <p:cNvPr id="93" name="Oval 92"/>
          <p:cNvSpPr/>
          <p:nvPr/>
        </p:nvSpPr>
        <p:spPr>
          <a:xfrm>
            <a:off x="5760720" y="3858768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32504"/>
            <a:ext cx="310896" cy="310896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6181344" y="4279392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4636007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4910327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Audits the live configuration.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" y="5175503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547C8"/>
                </a:solidFill>
                <a:latin typeface="Avenir Next LT Pro"/>
              </a:rPr>
              <a:t>Findings deck (PPTX) + audit workbook (XLSX)</a:t>
            </a:r>
          </a:p>
        </p:txBody>
      </p:sp>
      <p:sp>
        <p:nvSpPr>
          <p:cNvPr id="99" name="Oval 98"/>
          <p:cNvSpPr/>
          <p:nvPr/>
        </p:nvSpPr>
        <p:spPr>
          <a:xfrm>
            <a:off x="5760720" y="4718303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892040"/>
            <a:ext cx="310896" cy="310896"/>
          </a:xfrm>
          <a:prstGeom prst="rect">
            <a:avLst/>
          </a:prstGeom>
        </p:spPr>
      </p:pic>
      <p:sp>
        <p:nvSpPr>
          <p:cNvPr id="101" name="Oval 100"/>
          <p:cNvSpPr/>
          <p:nvPr/>
        </p:nvSpPr>
        <p:spPr>
          <a:xfrm>
            <a:off x="6181344" y="5138927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66560" y="5495544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766560" y="5769864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Report suite vs. the live property.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0" y="6035040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02FAF"/>
                </a:solidFill>
                <a:latin typeface="Avenir Next LT Pro"/>
              </a:rPr>
              <a:t>Reconciliation workbook (XLSX) + decisions email</a:t>
            </a:r>
          </a:p>
        </p:txBody>
      </p:sp>
      <p:sp>
        <p:nvSpPr>
          <p:cNvPr id="105" name="Oval 104"/>
          <p:cNvSpPr/>
          <p:nvPr/>
        </p:nvSpPr>
        <p:spPr>
          <a:xfrm>
            <a:off x="5760720" y="5577840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51576"/>
            <a:ext cx="310896" cy="310896"/>
          </a:xfrm>
          <a:prstGeom prst="rect">
            <a:avLst/>
          </a:prstGeom>
        </p:spPr>
      </p:pic>
      <p:sp>
        <p:nvSpPr>
          <p:cNvPr id="107" name="Oval 106"/>
          <p:cNvSpPr/>
          <p:nvPr/>
        </p:nvSpPr>
        <p:spPr>
          <a:xfrm>
            <a:off x="6181344" y="599846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31520" y="1700784"/>
            <a:ext cx="4206240" cy="4206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261872" y="2231136"/>
            <a:ext cx="3145536" cy="314553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792224" y="2761488"/>
            <a:ext cx="2084831" cy="2084831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63040" y="1810512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EVIDENCE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GOVERNANCE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463040" y="2871216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SPEED</a:t>
            </a:r>
          </a:p>
        </p:txBody>
      </p:sp>
      <p:sp>
        <p:nvSpPr>
          <p:cNvPr id="213" name="Oval 212"/>
          <p:cNvSpPr/>
          <p:nvPr/>
        </p:nvSpPr>
        <p:spPr>
          <a:xfrm>
            <a:off x="2286000" y="3255264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304288" y="3584448"/>
            <a:ext cx="1060704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100" b="1">
                <a:solidFill>
                  <a:srgbClr val="002FAF"/>
                </a:solidFill>
                <a:latin typeface="Avenir Next LT Pro"/>
              </a:rPr>
              <a:t>CLIENT VALUE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304288" y="3822191"/>
            <a:ext cx="1060704" cy="31089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venir Next LT Pro"/>
              </a:rPr>
              <a:t>compounds every engagement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5577840" y="16916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5577840" y="16916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5797296" y="18745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956816"/>
            <a:ext cx="182880" cy="182880"/>
          </a:xfrm>
          <a:prstGeom prst="rect">
            <a:avLst/>
          </a:prstGeom>
        </p:spPr>
      </p:pic>
      <p:sp>
        <p:nvSpPr>
          <p:cNvPr id="220" name="TextBox 219"/>
          <p:cNvSpPr txBox="1"/>
          <p:nvPr/>
        </p:nvSpPr>
        <p:spPr>
          <a:xfrm>
            <a:off x="6272783" y="18928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Reusable IP &amp; Speed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91472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Faster delivery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15583" y="23500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A one-off engagement becomes a repeatable asset — weeks of manual setup run in hours; the next client reuses the same accelerators.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5577840" y="30632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5577840" y="30632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5797296" y="32461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328416"/>
            <a:ext cx="182880" cy="18288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272783" y="32644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Consistency &amp; Governance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491472" y="32644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Consistent &amp; governed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815583" y="37216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The same standards, naming and quality bar every time — approval gates, rollback and human sign-off built into build and publish.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577840" y="44348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577840" y="44348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5797296" y="46177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4700016"/>
            <a:ext cx="182880" cy="182880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6272783" y="4636007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E8FA0"/>
                </a:solidFill>
                <a:latin typeface="Avenir Next LT Pro"/>
              </a:rPr>
              <a:t>A Quality Floor &amp; Evidence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91472" y="4636007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Defensible &amp; repeatable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815583" y="5093207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Junior consultants ship senior-quality output — every finding sourced from live config, capturable and defensible to a skeptical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safe to re-run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scoping Q&amp;A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What's running on slalom.com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the Adobe Launch migration for slalom.com.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+ Web SDK XDM schema for slalom.com.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slalom.com's Launch property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slalom.com's report suite against the property.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SEE IT IN ACTION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Prompt, and the Skill Takes Over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Name your site in plain English — the skill confirms scope, works from live data, and hands back a client-ready deck.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4" y="1755648"/>
            <a:ext cx="3017520" cy="256032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JUST HAPPENED</a:t>
            </a:r>
          </a:p>
        </p:txBody>
      </p:sp>
      <p:sp>
        <p:nvSpPr>
          <p:cNvPr id="34" name="Oval 33"/>
          <p:cNvSpPr/>
          <p:nvPr/>
        </p:nvSpPr>
        <p:spPr>
          <a:xfrm>
            <a:off x="8650224" y="2084831"/>
            <a:ext cx="292608" cy="292608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2066543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You named the site.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2359151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That’s the entire prompt — </a:t>
            </a:r>
            <a:r>
              <a:rPr sz="1200" b="1">
                <a:solidFill>
                  <a:srgbClr val="17203A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37" name="Oval 36"/>
          <p:cNvSpPr/>
          <p:nvPr/>
        </p:nvSpPr>
        <p:spPr>
          <a:xfrm>
            <a:off x="8650224" y="3044952"/>
            <a:ext cx="292608" cy="292608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302666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It routed &amp; confirmed.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70848" y="331927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Picked the Adobe Tags audit and confirmed scope — no re-asking what you already said.</a:t>
            </a:r>
          </a:p>
        </p:txBody>
      </p:sp>
      <p:sp>
        <p:nvSpPr>
          <p:cNvPr id="40" name="Oval 39"/>
          <p:cNvSpPr/>
          <p:nvPr/>
        </p:nvSpPr>
        <p:spPr>
          <a:xfrm>
            <a:off x="8650224" y="4005072"/>
            <a:ext cx="292608" cy="292608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70848" y="398678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E8FA0"/>
                </a:solidFill>
                <a:latin typeface="Avenir Next LT Pro"/>
              </a:rPr>
              <a:t>It works from live data.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0848" y="427939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real headless browser detects the stack and pulls the published Launch library directly.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50224" y="50292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AF7EE"/>
          </a:solidFill>
          <a:ln w="12700">
            <a:solidFill>
              <a:srgbClr val="CDE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250" b="1">
                <a:solidFill>
                  <a:srgbClr val="17203A"/>
                </a:solidFill>
                <a:latin typeface="Avenir Next LT Pro"/>
              </a:rPr>
              <a:t>Produces </a:t>
            </a:r>
            <a:r>
              <a:rPr sz="1250" b="1">
                <a:solidFill>
                  <a:srgbClr val="2E9E5B"/>
                </a:solidFill>
                <a:latin typeface="Avenir Next LT Pro"/>
              </a:rPr>
              <a:t>a findings deck (PPTX)</a:t>
            </a:r>
            <a:r>
              <a:rPr sz="1250" b="1">
                <a:solidFill>
                  <a:srgbClr val="17203A"/>
                </a:solidFill>
                <a:latin typeface="Avenir Next LT Pro"/>
              </a:rPr>
              <a:t> in the Slalom style.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" y="5486400"/>
            <a:ext cx="7845552" cy="566928"/>
          </a:xfrm>
          <a:prstGeom prst="roundRect">
            <a:avLst>
              <a:gd name="adj" fmla="val 12000"/>
            </a:avLst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2064" y="5486400"/>
            <a:ext cx="73152" cy="56692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" y="5486400"/>
            <a:ext cx="740664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Avenir Next LT Pro"/>
              </a:rPr>
              <a:t>Same pattern for every skill: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name the target in one line — Detect, Build, Audit, Reconcile — and the matching skill routes, confirms, and runs.</a:t>
            </a:r>
          </a:p>
        </p:txBody>
      </p:sp>
      <p:pic>
        <p:nvPicPr>
          <p:cNvPr id="47" name="Picture 46" descr="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691640"/>
            <a:ext cx="7845552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7790" cy="137160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37790" y="0"/>
            <a:ext cx="2437790" cy="137160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5580" y="0"/>
            <a:ext cx="2437790" cy="137160"/>
          </a:xfrm>
          <a:prstGeom prst="rect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3371" y="0"/>
            <a:ext cx="2437790" cy="137160"/>
          </a:xfrm>
          <a:prstGeom prst="rect">
            <a:avLst/>
          </a:prstGeom>
          <a:solidFill>
            <a:srgbClr val="FF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51161" y="0"/>
            <a:ext cx="2437790" cy="137160"/>
          </a:xfrm>
          <a:prstGeom prst="rect">
            <a:avLst/>
          </a:prstGeom>
          <a:solidFill>
            <a:srgbClr val="C7B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"/>
            <a:ext cx="512064" cy="512064"/>
          </a:xfrm>
          <a:prstGeom prst="roundRect">
            <a:avLst>
              <a:gd name="adj" fmla="val 25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7607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200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2E9E5B"/>
                </a:solidFill>
                <a:latin typeface="Avenir Next LT Pro"/>
              </a:rPr>
              <a:t>SKILL 1 OF 6   ·   TECH-DETECTOR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713232"/>
            <a:ext cx="104241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7203A"/>
                </a:solidFill>
                <a:latin typeface="Avenir Next LT Pro"/>
              </a:rPr>
              <a:t>Detect — Know what's really running</a:t>
            </a:r>
          </a:p>
        </p:txBody>
      </p:sp>
      <p:pic>
        <p:nvPicPr>
          <p:cNvPr id="11" name="Picture 10" descr="st_det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11091672" cy="27020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315968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53712"/>
            <a:ext cx="349300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Inspects the live site with a real browser and reports exactly what's running — tag manager, Analytics (at.js vs Web SDK), Target, ECID, data layer, consent, and the IDs already present.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97296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DELIVERABLE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300" b="1">
                <a:solidFill>
                  <a:srgbClr val="FFFFFF"/>
                </a:solidFill>
                <a:latin typeface="Avenir Next LT Pro"/>
              </a:rPr>
              <a:t>  Current-state report   </a:t>
            </a:r>
            <a:r>
              <a:rPr sz="1100" b="1">
                <a:solidFill>
                  <a:srgbClr val="CFE0FF"/>
                </a:solidFill>
                <a:latin typeface="Avenir Next LT Pro"/>
              </a:rPr>
              <a:t>MD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6135624"/>
            <a:ext cx="182880" cy="1828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61104" y="4315968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261104" y="4315968"/>
            <a:ext cx="3566160" cy="420624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434840"/>
            <a:ext cx="182880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18304" y="4315968"/>
            <a:ext cx="3017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THE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4828032"/>
            <a:ext cx="3456432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truthful, evidence-based baseline — no guessing, no stale docs. The engagement is scoped from what's actually live.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4315968"/>
            <a:ext cx="3575304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8065008" y="4315968"/>
            <a:ext cx="3575304" cy="420624"/>
          </a:xfrm>
          <a:prstGeom prst="round2Same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434840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22208" y="4315968"/>
            <a:ext cx="302666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SLALOM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9872" y="4828032"/>
            <a:ext cx="3465576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Kills days of manual discovery; every consultant starts from the same rigorous baseline; credibility in the first meeting.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9AA3B2"/>
                </a:solidFill>
                <a:latin typeface="Calibri"/>
              </a:rPr>
              <a:t>© Slalom. All Rights Reserved. Proprietary and confidential.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>
                <a:solidFill>
                  <a:srgbClr val="9AA3B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7790" cy="137160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37790" y="0"/>
            <a:ext cx="2437790" cy="137160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5580" y="0"/>
            <a:ext cx="2437790" cy="137160"/>
          </a:xfrm>
          <a:prstGeom prst="rect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3371" y="0"/>
            <a:ext cx="2437790" cy="137160"/>
          </a:xfrm>
          <a:prstGeom prst="rect">
            <a:avLst/>
          </a:prstGeom>
          <a:solidFill>
            <a:srgbClr val="FF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51161" y="0"/>
            <a:ext cx="2437790" cy="137160"/>
          </a:xfrm>
          <a:prstGeom prst="rect">
            <a:avLst/>
          </a:prstGeom>
          <a:solidFill>
            <a:srgbClr val="C7B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"/>
            <a:ext cx="512064" cy="512064"/>
          </a:xfrm>
          <a:prstGeom prst="roundRect">
            <a:avLst>
              <a:gd name="adj" fmla="val 25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7607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200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12A5A0"/>
                </a:solidFill>
                <a:latin typeface="Avenir Next LT Pro"/>
              </a:rPr>
              <a:t>SKILL 2 OF 6   ·   SETUP-PLAN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713232"/>
            <a:ext cx="104241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7203A"/>
                </a:solidFill>
                <a:latin typeface="Avenir Next LT Pro"/>
              </a:rPr>
              <a:t>Plan — Govern it before you build it</a:t>
            </a:r>
          </a:p>
        </p:txBody>
      </p:sp>
      <p:pic>
        <p:nvPicPr>
          <p:cNvPr id="11" name="Picture 10" descr="st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11091672" cy="27020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315968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53712"/>
            <a:ext cx="349300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Turns a short scoping Q&amp;A into a governed implementation plan — environments, naming, consent/compliance, approval gates, rollback, runbooks — plus a machine-readable property blueprint.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97296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DELIVERABLE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300" b="1">
                <a:solidFill>
                  <a:srgbClr val="FFFFFF"/>
                </a:solidFill>
                <a:latin typeface="Avenir Next LT Pro"/>
              </a:rPr>
              <a:t>  Governed plan + blueprint   </a:t>
            </a:r>
            <a:r>
              <a:rPr sz="1100" b="1">
                <a:solidFill>
                  <a:srgbClr val="CFE0FF"/>
                </a:solidFill>
                <a:latin typeface="Avenir Next LT Pro"/>
              </a:rPr>
              <a:t>MD · JSON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6135624"/>
            <a:ext cx="182880" cy="1828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61104" y="4315968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261104" y="4315968"/>
            <a:ext cx="3566160" cy="420624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434840"/>
            <a:ext cx="182880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18304" y="4315968"/>
            <a:ext cx="3017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THE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4828032"/>
            <a:ext cx="3456432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defensible, compliance-aware plan before anyone touches production. Governance is decided up front, not bolted 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4315968"/>
            <a:ext cx="3575304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8065008" y="4315968"/>
            <a:ext cx="3575304" cy="420624"/>
          </a:xfrm>
          <a:prstGeom prst="round2Same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434840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22208" y="4315968"/>
            <a:ext cx="302666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SLALOM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9872" y="4828032"/>
            <a:ext cx="3465576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Senior-quality planning in an hour; the blueprint feeds the build automatically; consistent governance on every engagement.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9AA3B2"/>
                </a:solidFill>
                <a:latin typeface="Calibri"/>
              </a:rPr>
              <a:t>© Slalom. All Rights Reserved. Proprietary and confidential.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>
                <a:solidFill>
                  <a:srgbClr val="9AA3B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7790" cy="137160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37790" y="0"/>
            <a:ext cx="2437790" cy="137160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5580" y="0"/>
            <a:ext cx="2437790" cy="137160"/>
          </a:xfrm>
          <a:prstGeom prst="rect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3371" y="0"/>
            <a:ext cx="2437790" cy="137160"/>
          </a:xfrm>
          <a:prstGeom prst="rect">
            <a:avLst/>
          </a:prstGeom>
          <a:solidFill>
            <a:srgbClr val="FF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51161" y="0"/>
            <a:ext cx="2437790" cy="137160"/>
          </a:xfrm>
          <a:prstGeom prst="rect">
            <a:avLst/>
          </a:prstGeom>
          <a:solidFill>
            <a:srgbClr val="C7B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"/>
            <a:ext cx="512064" cy="512064"/>
          </a:xfrm>
          <a:prstGeom prst="roundRect">
            <a:avLst>
              <a:gd name="adj" fmla="val 25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7607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200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1391C4"/>
                </a:solidFill>
                <a:latin typeface="Avenir Next LT Pro"/>
              </a:rPr>
              <a:t>SKILL 3 OF 6   ·   DATA-COLLECTION-BUILDER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713232"/>
            <a:ext cx="104241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7203A"/>
                </a:solidFill>
                <a:latin typeface="Avenir Next LT Pro"/>
              </a:rPr>
              <a:t>Build — The spec, from the real site</a:t>
            </a:r>
          </a:p>
        </p:txBody>
      </p:sp>
      <p:pic>
        <p:nvPicPr>
          <p:cNvPr id="11" name="Picture 10" descr="st_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11091672" cy="27020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315968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53712"/>
            <a:ext cx="349300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Scrapes the site and builds the data-collection spec — the SDR and Web SDK XDM schema, plus a universal set of data elements and rules (page name, forms, videos, campaign, links, IDs).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97296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DELIVERABLE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300" b="1">
                <a:solidFill>
                  <a:srgbClr val="FFFFFF"/>
                </a:solidFill>
                <a:latin typeface="Avenir Next LT Pro"/>
              </a:rPr>
              <a:t>  SDR + XDM + rules   </a:t>
            </a:r>
            <a:r>
              <a:rPr sz="1100" b="1">
                <a:solidFill>
                  <a:srgbClr val="CFE0FF"/>
                </a:solidFill>
                <a:latin typeface="Avenir Next LT Pro"/>
              </a:rPr>
              <a:t>CSV · JSON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6135624"/>
            <a:ext cx="182880" cy="1828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61104" y="4315968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261104" y="4315968"/>
            <a:ext cx="3566160" cy="420624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434840"/>
            <a:ext cx="182880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18304" y="4315968"/>
            <a:ext cx="3017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THE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4828032"/>
            <a:ext cx="3456432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complete, documented spec sourced from the real site — nothing missed, everything traceable to a live signal.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4315968"/>
            <a:ext cx="3575304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8065008" y="4315968"/>
            <a:ext cx="3575304" cy="420624"/>
          </a:xfrm>
          <a:prstGeom prst="round2Same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434840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22208" y="4315968"/>
            <a:ext cx="302666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SLALOM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9872" y="4828032"/>
            <a:ext cx="3465576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Weeks of hand-authoring compressed to a day; one universal pattern reused across clients; the spec is executable, not just a doc.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9AA3B2"/>
                </a:solidFill>
                <a:latin typeface="Calibri"/>
              </a:rPr>
              <a:t>© Slalom. All Rights Reserved. Proprietary and confidential.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>
                <a:solidFill>
                  <a:srgbClr val="9AA3B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7790" cy="137160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37790" y="0"/>
            <a:ext cx="2437790" cy="137160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5580" y="0"/>
            <a:ext cx="2437790" cy="137160"/>
          </a:xfrm>
          <a:prstGeom prst="rect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3371" y="0"/>
            <a:ext cx="2437790" cy="137160"/>
          </a:xfrm>
          <a:prstGeom prst="rect">
            <a:avLst/>
          </a:prstGeom>
          <a:solidFill>
            <a:srgbClr val="FF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51161" y="0"/>
            <a:ext cx="2437790" cy="137160"/>
          </a:xfrm>
          <a:prstGeom prst="rect">
            <a:avLst/>
          </a:prstGeom>
          <a:solidFill>
            <a:srgbClr val="C7B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"/>
            <a:ext cx="512064" cy="512064"/>
          </a:xfrm>
          <a:prstGeom prst="roundRect">
            <a:avLst>
              <a:gd name="adj" fmla="val 25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7607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200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C62FB"/>
                </a:solidFill>
                <a:latin typeface="Avenir Next LT Pro"/>
              </a:rPr>
              <a:t>SKILL 4 OF 6   ·   PROPERTY-CREATOR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713232"/>
            <a:ext cx="104241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7203A"/>
                </a:solidFill>
                <a:latin typeface="Avenir Next LT Pro"/>
              </a:rPr>
              <a:t>Publish — Stand up the property, safely</a:t>
            </a:r>
          </a:p>
        </p:txBody>
      </p:sp>
      <p:pic>
        <p:nvPicPr>
          <p:cNvPr id="11" name="Picture 10" descr="st_publ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11091672" cy="27020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315968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53712"/>
            <a:ext cx="349300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Provisions the Adobe Launch property end-to-end via the Reactor API — extensions, data elements, rules, libraries — and runs dev → staging → prod with approval gates, idempotency, and rollback.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97296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DELIVERABLE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300" b="1">
                <a:solidFill>
                  <a:srgbClr val="FFFFFF"/>
                </a:solidFill>
                <a:latin typeface="Avenir Next LT Pro"/>
              </a:rPr>
              <a:t>  Live Launch property   </a:t>
            </a:r>
            <a:r>
              <a:rPr sz="1100" b="1">
                <a:solidFill>
                  <a:srgbClr val="CFE0FF"/>
                </a:solidFill>
                <a:latin typeface="Avenir Next LT Pro"/>
              </a:rPr>
              <a:t>via API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6135624"/>
            <a:ext cx="182880" cy="1828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61104" y="4315968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261104" y="4315968"/>
            <a:ext cx="3566160" cy="420624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434840"/>
            <a:ext cx="182880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18304" y="4315968"/>
            <a:ext cx="3017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THE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4828032"/>
            <a:ext cx="3456432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working, governed property in minutes — safe to re-run, with rollback if needed. No error-prone UI clicking.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4315968"/>
            <a:ext cx="3575304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8065008" y="4315968"/>
            <a:ext cx="3575304" cy="420624"/>
          </a:xfrm>
          <a:prstGeom prst="round2Same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434840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22208" y="4315968"/>
            <a:ext cx="302666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SLALOM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9872" y="4828032"/>
            <a:ext cx="3465576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Repeatable, auditable provisioning; junior consultants ship senior-quality builds; no drift between environments.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9AA3B2"/>
                </a:solidFill>
                <a:latin typeface="Calibri"/>
              </a:rPr>
              <a:t>© Slalom. All Rights Reserved. Proprietary and confidential.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>
                <a:solidFill>
                  <a:srgbClr val="9AA3B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7790" cy="137160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37790" y="0"/>
            <a:ext cx="2437790" cy="137160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5580" y="0"/>
            <a:ext cx="2437790" cy="137160"/>
          </a:xfrm>
          <a:prstGeom prst="rect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3371" y="0"/>
            <a:ext cx="2437790" cy="137160"/>
          </a:xfrm>
          <a:prstGeom prst="rect">
            <a:avLst/>
          </a:prstGeom>
          <a:solidFill>
            <a:srgbClr val="FF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51161" y="0"/>
            <a:ext cx="2437790" cy="137160"/>
          </a:xfrm>
          <a:prstGeom prst="rect">
            <a:avLst/>
          </a:prstGeom>
          <a:solidFill>
            <a:srgbClr val="C7B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"/>
            <a:ext cx="512064" cy="512064"/>
          </a:xfrm>
          <a:prstGeom prst="roundRect">
            <a:avLst>
              <a:gd name="adj" fmla="val 25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7607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200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2547C8"/>
                </a:solidFill>
                <a:latin typeface="Avenir Next LT Pro"/>
              </a:rPr>
              <a:t>SKILL 5 OF 6   ·   AUDIT-BUILDER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713232"/>
            <a:ext cx="104241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7203A"/>
                </a:solidFill>
                <a:latin typeface="Avenir Next LT Pro"/>
              </a:rPr>
              <a:t>Audit — Prove it, with evidence</a:t>
            </a:r>
          </a:p>
        </p:txBody>
      </p:sp>
      <p:pic>
        <p:nvPicPr>
          <p:cNvPr id="11" name="Picture 10" descr="st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11091672" cy="27020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315968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53712"/>
            <a:ext cx="349300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Audits the live configuration for the issues that matter — double-counting, environment separation, identity bridge, A4T, consent-gating — every claim sourced from live config.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97296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DELIVERABLE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300" b="1">
                <a:solidFill>
                  <a:srgbClr val="FFFFFF"/>
                </a:solidFill>
                <a:latin typeface="Avenir Next LT Pro"/>
              </a:rPr>
              <a:t>  Findings deck + workbook   </a:t>
            </a:r>
            <a:r>
              <a:rPr sz="1100" b="1">
                <a:solidFill>
                  <a:srgbClr val="CFE0FF"/>
                </a:solidFill>
                <a:latin typeface="Avenir Next LT Pro"/>
              </a:rPr>
              <a:t>PPTX · XLSX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6135624"/>
            <a:ext cx="182880" cy="1828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61104" y="4315968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261104" y="4315968"/>
            <a:ext cx="3566160" cy="420624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434840"/>
            <a:ext cx="182880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18304" y="4315968"/>
            <a:ext cx="3017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THE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4828032"/>
            <a:ext cx="3456432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client-ready, evidence-backed audit that names the real risks and the fixes — defensible to a skeptical stakeholder.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4315968"/>
            <a:ext cx="3575304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8065008" y="4315968"/>
            <a:ext cx="3575304" cy="420624"/>
          </a:xfrm>
          <a:prstGeom prst="round2Same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434840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22208" y="4315968"/>
            <a:ext cx="302666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SLALOM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9872" y="4828032"/>
            <a:ext cx="3465576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repeatable methodology that produces a polished deck automatically; turns discovery into a delivery and sales asset.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9AA3B2"/>
                </a:solidFill>
                <a:latin typeface="Calibri"/>
              </a:rPr>
              <a:t>© Slalom. All Rights Reserved. Proprietary and confidential.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>
                <a:solidFill>
                  <a:srgbClr val="9AA3B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7790" cy="137160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437790" y="0"/>
            <a:ext cx="2437790" cy="137160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5580" y="0"/>
            <a:ext cx="2437790" cy="137160"/>
          </a:xfrm>
          <a:prstGeom prst="rect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3371" y="0"/>
            <a:ext cx="2437790" cy="137160"/>
          </a:xfrm>
          <a:prstGeom prst="rect">
            <a:avLst/>
          </a:prstGeom>
          <a:solidFill>
            <a:srgbClr val="FF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51161" y="0"/>
            <a:ext cx="2437790" cy="137160"/>
          </a:xfrm>
          <a:prstGeom prst="rect">
            <a:avLst/>
          </a:prstGeom>
          <a:solidFill>
            <a:srgbClr val="C7B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"/>
            <a:ext cx="512064" cy="512064"/>
          </a:xfrm>
          <a:prstGeom prst="roundRect">
            <a:avLst>
              <a:gd name="adj" fmla="val 25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7607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457200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002FAF"/>
                </a:solidFill>
                <a:latin typeface="Avenir Next LT Pro"/>
              </a:rPr>
              <a:t>SKILL 6 OF 6   ·   DATA-RECONCILIATION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713232"/>
            <a:ext cx="104241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17203A"/>
                </a:solidFill>
                <a:latin typeface="Avenir Next LT Pro"/>
              </a:rPr>
              <a:t>Reconcile — Close the loop, decide</a:t>
            </a:r>
          </a:p>
        </p:txBody>
      </p:sp>
      <p:pic>
        <p:nvPicPr>
          <p:cNvPr id="11" name="Picture 10" descr="st_reconc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11091672" cy="27020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315968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53712"/>
            <a:ext cx="349300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Reconciles the report suite's variables against what the property actually populates — which eVars/props/events collect, and which are no-ops, orphaned, or never built.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97296"/>
            <a:ext cx="34564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DELIVERABLE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35040"/>
            <a:ext cx="3429000" cy="384048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1300" b="1">
                <a:solidFill>
                  <a:srgbClr val="FFFFFF"/>
                </a:solidFill>
                <a:latin typeface="Avenir Next LT Pro"/>
              </a:rPr>
              <a:t>  Recon. workbook + email   </a:t>
            </a:r>
            <a:r>
              <a:rPr sz="1100" b="1">
                <a:solidFill>
                  <a:srgbClr val="CFE0FF"/>
                </a:solidFill>
                <a:latin typeface="Avenir Next LT Pro"/>
              </a:rPr>
              <a:t>XLSX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6135624"/>
            <a:ext cx="182880" cy="1828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261104" y="4315968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261104" y="4315968"/>
            <a:ext cx="3566160" cy="420624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4434840"/>
            <a:ext cx="182880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18304" y="4315968"/>
            <a:ext cx="3017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THE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4828032"/>
            <a:ext cx="3456432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clear map of what's working vs. wasted, plus the handful of decisions only the client can make — no ambiguity.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4315968"/>
            <a:ext cx="3575304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8065008" y="4315968"/>
            <a:ext cx="3575304" cy="420624"/>
          </a:xfrm>
          <a:prstGeom prst="round2Same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4434840"/>
            <a:ext cx="182880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22208" y="4315968"/>
            <a:ext cx="3026664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venir Next LT Pro"/>
              </a:rPr>
              <a:t>FOR SLALOM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9872" y="4828032"/>
            <a:ext cx="3465576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Surfaces gaps that would otherwise ship silently; produces the decision artifact automatically; closes the loop with proof.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9AA3B2"/>
                </a:solidFill>
                <a:latin typeface="Calibri"/>
              </a:rPr>
              <a:t>© Slalom. All Rights Reserved. Proprietary and confidential.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1000" b="1">
                <a:solidFill>
                  <a:srgbClr val="9AA3B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